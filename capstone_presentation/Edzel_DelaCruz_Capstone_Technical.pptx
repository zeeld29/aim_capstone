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3160ff83b9e4bf1" /><Relationship Type="http://schemas.openxmlformats.org/officeDocument/2006/relationships/extended-properties" Target="/docProps/app.xml" Id="R57ddaa9c63884ce6" /><Relationship Type="http://schemas.openxmlformats.org/officeDocument/2006/relationships/officeDocument" Target="/ppt/presentation.xml" Id="R13bb1dfdb5eb4c62" /></Relationships>
</file>

<file path=ppt/presentation.xml><?xml version="1.0" encoding="utf-8"?>
<p:presentation xmlns:p="http://schemas.openxmlformats.org/presentationml/2006/main">
  <p:sldMasterIdLst>
    <p:sldMasterId xmlns:r="http://schemas.openxmlformats.org/officeDocument/2006/relationships" id="2147483648" r:id="Rb35881b983284390"/>
  </p:sldMasterIdLst>
  <p:notesMasterIdLst>
    <p:notesMasterId xmlns:r="http://schemas.openxmlformats.org/officeDocument/2006/relationships" r:id="R23baabffc2494085"/>
  </p:notesMasterIdLst>
  <p:sldIdLst>
    <p:sldId xmlns:r="http://schemas.openxmlformats.org/officeDocument/2006/relationships" id="256" r:id="Ra77f2032acc54cf8"/>
    <p:sldId xmlns:r="http://schemas.openxmlformats.org/officeDocument/2006/relationships" id="257" r:id="Re3cc4ae8fcfb4c57"/>
    <p:sldId xmlns:r="http://schemas.openxmlformats.org/officeDocument/2006/relationships" id="258" r:id="R7f01c3d3ce844f11"/>
    <p:sldId xmlns:r="http://schemas.openxmlformats.org/officeDocument/2006/relationships" id="259" r:id="R23ada4a08b2341ca"/>
    <p:sldId xmlns:r="http://schemas.openxmlformats.org/officeDocument/2006/relationships" id="260" r:id="R2dfe4b6a663542b9"/>
    <p:sldId xmlns:r="http://schemas.openxmlformats.org/officeDocument/2006/relationships" id="261" r:id="Rc0743d1952c94238"/>
    <p:sldId xmlns:r="http://schemas.openxmlformats.org/officeDocument/2006/relationships" id="262" r:id="R7fa16a32c4094ab8"/>
    <p:sldId xmlns:r="http://schemas.openxmlformats.org/officeDocument/2006/relationships" id="263" r:id="R3f516eb17ba642b8"/>
    <p:sldId xmlns:r="http://schemas.openxmlformats.org/officeDocument/2006/relationships" id="264" r:id="R23e38eba24ef4418"/>
    <p:sldId xmlns:r="http://schemas.openxmlformats.org/officeDocument/2006/relationships" id="265" r:id="Rc22557b2361b4421"/>
    <p:sldId xmlns:r="http://schemas.openxmlformats.org/officeDocument/2006/relationships" id="266" r:id="R74e0c91a7eba40a2"/>
    <p:sldId xmlns:r="http://schemas.openxmlformats.org/officeDocument/2006/relationships" id="267" r:id="Ra1aaead6efe347ce"/>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ad241ac4fd477f" /><Relationship Type="http://schemas.openxmlformats.org/officeDocument/2006/relationships/slideMaster" Target="/ppt/slideMasters/slideMaster1.xml" Id="Rb35881b983284390" /><Relationship Type="http://schemas.openxmlformats.org/officeDocument/2006/relationships/notesMaster" Target="/ppt/notesMasters/notesMaster1.xml" Id="R23baabffc2494085" /><Relationship Type="http://schemas.openxmlformats.org/officeDocument/2006/relationships/presProps" Target="/ppt/presProps.xml" Id="R05f74aa304d7454f" /><Relationship Type="http://schemas.openxmlformats.org/officeDocument/2006/relationships/tableStyles" Target="/ppt/tableStyles.xml" Id="R311a5219279a4e2c" /><Relationship Type="http://schemas.openxmlformats.org/officeDocument/2006/relationships/slide" Target="/ppt/slides/slide1.xml" Id="Ra77f2032acc54cf8" /><Relationship Type="http://schemas.openxmlformats.org/officeDocument/2006/relationships/slide" Target="/ppt/slides/slide2.xml" Id="Re3cc4ae8fcfb4c57" /><Relationship Type="http://schemas.openxmlformats.org/officeDocument/2006/relationships/slide" Target="/ppt/slides/slide3.xml" Id="R7f01c3d3ce844f11" /><Relationship Type="http://schemas.openxmlformats.org/officeDocument/2006/relationships/slide" Target="/ppt/slides/slide4.xml" Id="R23ada4a08b2341ca" /><Relationship Type="http://schemas.openxmlformats.org/officeDocument/2006/relationships/slide" Target="/ppt/slides/slide5.xml" Id="R2dfe4b6a663542b9" /><Relationship Type="http://schemas.openxmlformats.org/officeDocument/2006/relationships/slide" Target="/ppt/slides/slide6.xml" Id="Rc0743d1952c94238" /><Relationship Type="http://schemas.openxmlformats.org/officeDocument/2006/relationships/slide" Target="/ppt/slides/slide7.xml" Id="R7fa16a32c4094ab8" /><Relationship Type="http://schemas.openxmlformats.org/officeDocument/2006/relationships/slide" Target="/ppt/slides/slide8.xml" Id="R3f516eb17ba642b8" /><Relationship Type="http://schemas.openxmlformats.org/officeDocument/2006/relationships/slide" Target="/ppt/slides/slide9.xml" Id="R23e38eba24ef4418" /><Relationship Type="http://schemas.openxmlformats.org/officeDocument/2006/relationships/slide" Target="/ppt/slides/slide10.xml" Id="Rc22557b2361b4421" /><Relationship Type="http://schemas.openxmlformats.org/officeDocument/2006/relationships/slide" Target="/ppt/slides/slide11.xml" Id="R74e0c91a7eba40a2" /><Relationship Type="http://schemas.openxmlformats.org/officeDocument/2006/relationships/slide" Target="/ppt/slides/slide12.xml" Id="Ra1aaead6efe347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a91fb27f9a46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207329bf5b4b56" /><Relationship Type="http://schemas.openxmlformats.org/officeDocument/2006/relationships/notesMaster" Target="/ppt/notesMasters/notesMaster1.xml" Id="R33ee6b7fc4f744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16d759ac154453" /><Relationship Type="http://schemas.openxmlformats.org/officeDocument/2006/relationships/notesMaster" Target="/ppt/notesMasters/notesMaster1.xml" Id="R9b36a3d441144d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4157b524a74e52" /><Relationship Type="http://schemas.openxmlformats.org/officeDocument/2006/relationships/notesMaster" Target="/ppt/notesMasters/notesMaster1.xml" Id="Re856d1764b474d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ee886134474c1c" /><Relationship Type="http://schemas.openxmlformats.org/officeDocument/2006/relationships/notesMaster" Target="/ppt/notesMasters/notesMaster1.xml" Id="R9e3194dc1f8d48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1a0b93385e4a81" /><Relationship Type="http://schemas.openxmlformats.org/officeDocument/2006/relationships/notesMaster" Target="/ppt/notesMasters/notesMaster1.xml" Id="Rd21c7e2a94444e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b504df5fef466b" /><Relationship Type="http://schemas.openxmlformats.org/officeDocument/2006/relationships/notesMaster" Target="/ppt/notesMasters/notesMaster1.xml" Id="R7d806570b62148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dc6b50075c41f8" /><Relationship Type="http://schemas.openxmlformats.org/officeDocument/2006/relationships/notesMaster" Target="/ppt/notesMasters/notesMaster1.xml" Id="Rfa03db0552134f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92939e4fba488f" /><Relationship Type="http://schemas.openxmlformats.org/officeDocument/2006/relationships/notesMaster" Target="/ppt/notesMasters/notesMaster1.xml" Id="R8332c289027446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e3148785734cb7" /><Relationship Type="http://schemas.openxmlformats.org/officeDocument/2006/relationships/notesMaster" Target="/ppt/notesMasters/notesMaster1.xml" Id="Rf5dd74d64f914e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e8c85f5e4740b7" /><Relationship Type="http://schemas.openxmlformats.org/officeDocument/2006/relationships/notesMaster" Target="/ppt/notesMasters/notesMaster1.xml" Id="R9c83476529f344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466abe93c64068" /><Relationship Type="http://schemas.openxmlformats.org/officeDocument/2006/relationships/notesMaster" Target="/ppt/notesMasters/notesMaster1.xml" Id="R6a36bb5f981f48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864b398afb457f" /><Relationship Type="http://schemas.openxmlformats.org/officeDocument/2006/relationships/notesMaster" Target="/ppt/notesMasters/notesMaster1.xml" Id="R2a68fc4f832c4e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Frame as a retrospective prediction exercise, not a clinical deployment. Source: UCI Diabetes 130-US Hospitals, years 1999–2008; notebooks 01 and 06.</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Explain why accuracy alone is unhelpful with an 8.97% positive rate. AP is primary; ROC-AUC, recall, precision and workload are supporting metrics.</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One encounter per person avoids repeated-patient leakage from random splitting, but also limits representativeness of recurrent encounters. Data: 130 US hospitals, 1999–2008.</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Medication columns with fewer than three non-No training observations are excluded; the same list applies to validation/test. Counts: reports/final_audit/training_medication_selection.csv. Exact manifest: data/processed/split_patient_manifest.csv. All 69,970 identities match with zero overlap, ambiguous or unmatched rows. Fixed mappings apply unchanged across splits.</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N by discharge group in notebook 03: rehab 986; other inpatient 650; skilled nursing 6175; home health 5743; home 31101. Readmission baseline 8.97%.</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Validation/test transformations use training-fitted preprocessing and the same deterministic feature formulas. Feature arithmetic was checked to preserve target values and avoid new NaNs.</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Source: current notebook 05 outputs and reports/significance_analysis/validation_metrics.csv. Full encoding: 282 features, AP 0.1603. L1: 83 features, AP 0.1570. TruncatedSVD: 40 components, AP 0.1435. SVD suits the one-hot representation without centering. Its lower validation performance supports rejecting this configuration.</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Current metrics: reports/significance_analysis/validation_metrics.csv. Original boosting train/validation AP rounds to 0.2691/0.1724; gap 0.0967. Tuned AP rounds to 0.2375/0.1696; gap 0.0679. HistGradientBoosting: max_leaf_nodes=7, l2_regularization=1.0, learning_rate=0.1, max_iter=200, min_samples_leaf=25, early_stopping=True, random_state=42. GridSearchCV uses 3 stratified folds and AP. Paired validation AP test versus full logistic has Holm p=0.8206, so superiority is not established. See pairwise_tests.csv. The validation set already informed selection; tests are exploratory.</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Top 20% captures 369/942 readmissions; 573 outside. Threshold .10 captures 450/942 while flagging 27.93%. Threshold precision 15.35% and recall 47.77%.</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Sources: reports/final_audit/validation_permutation_importance.csv; fairness_explainability/numeric_dependence.csv and representative_ice.csv. Left: five validation shuffles per feature. Right: original validation profiles chosen from TP, FP, FN and TN groups (true positive, false positive, false negative, true negative at the fixed threshold), plus mean PDP over 1,004 background patients. Compare prior inpatient counts 0 and 1, updating prior_inpatient and prior_utilization consistently. Lines describe score sensitivity rather than intervention effects. Full PDP/ICE plots are in notebook 05. Validation Brier score remains 0.07918 versus prevalence baseline 0.08169. Aggregate calibration does not establish reliable individual risk.</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Source: reports/final_audit/fairness_explainability/reference_contrasts.csv and group_confusion_rates.csv. Race TPR difference means AfricanAmerican minus Caucasian recall, using one global top-20% policy. Its 2,000-bootstrap 95% interval is descriptive and unadjusted. Other groups and supported-group equal opportunity/equalized odds summaries are in notebook 05. Proposed mitigation: compare a training-reweighted candidate against the fixed model using validation AP, capture, TPR/FPR gaps and group calibration. Use independent data for final evaluation. No mitigation has been implemented or proven effective, and parity metrics do not establish discrimination or fairness.</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Clr>
                <a:srgbClr val="000000"/>
              </a:buClr>
              <a:buSzPts val="2000"/>
              <a:buFont typeface="Arial"/>
              <a:buNone/>
            </a:pPr>
            <a:r>
              <a:rPr sz="2000" b="0" u="none" strike="noStrike">
                <a:solidFill>
                  <a:srgbClr val="000000"/>
                </a:solidFill>
                <a:latin typeface="Arial"/>
                <a:ea typeface="Arial"/>
                <a:cs typeface="Arial"/>
              </a:rPr>
              <a:t>Source: notebooks 01–06 and saved final reports. Capture is 369/942=39.17%; precision among selected is 369/2100=17.57%. Repository URL: https://github.com/zeeld29/AIM_Capstone. Visibility, public access and final submission completeness require separate verification. Data span 1999–2008 and do not establish deployment readiness.</a:t>
            </a:r>
            <a:endParaRPr sz="20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cb2c2c034d4e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1f3c059c8947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b332c4c18744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ec91c919bc4c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4cded0f47b46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1798be04a54ae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ba0f128d0a047d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11e46129b83422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37d5b4cd1f4493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e72661a7d00433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dd3f085f6c14080" /></Relationships>
</file>

<file path=ppt/slideLayouts/slideLayout1.xml><?xml version="1.0" encoding="utf-8"?>
<p:sldLayout xmlns:p="http://schemas.openxmlformats.org/presentationml/2006/main" matchingName="Blank" type="blank">
  <p:cSld name="BLANK">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oogle Shape;11;p14">
            <a:extLst xmlns:a="http://schemas.openxmlformats.org/drawingml/2006/main">
              <a:ext uri="{FF2B5EF4-FFF2-40B4-BE49-F238E27FC236}">
                <a16:creationId xmlns:a16="http://schemas.microsoft.com/office/drawing/2014/main" id="{A85BBD25-59A2-430B-9EAB-DA52D8FC54F7}"/>
              </a:ext>
            </a:extLst>
          </p:cNvPr>
          <p:cNvSpPr>
            <a:spLocks xmlns:a="http://schemas.openxmlformats.org/drawingml/2006/main" noGrp="1"/>
          </p:cNvSpPr>
          <p:nvPr>
            <p:ph type="dt" idx="10"/>
          </p:nvPr>
        </p:nvSpPr>
        <p:spPr>
          <a:xfrm xmlns:a="http://schemas.openxmlformats.org/drawingml/2006/main">
            <a:off x="45720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2" name="Google Shape;12;p14">
            <a:extLst xmlns:a="http://schemas.openxmlformats.org/drawingml/2006/main">
              <a:ext uri="{FF2B5EF4-FFF2-40B4-BE49-F238E27FC236}">
                <a16:creationId xmlns:a16="http://schemas.microsoft.com/office/drawing/2014/main" id="{64C6F076-DD10-4E34-BDFC-F4A2AD7AAD2B}"/>
              </a:ext>
            </a:extLst>
          </p:cNvPr>
          <p:cNvSpPr>
            <a:spLocks xmlns:a="http://schemas.openxmlformats.org/drawingml/2006/main" noGrp="1"/>
          </p:cNvSpPr>
          <p:nvPr>
            <p:ph type="ftr" idx="11"/>
          </p:nvPr>
        </p:nvSpPr>
        <p:spPr>
          <a:xfrm xmlns:a="http://schemas.openxmlformats.org/drawingml/2006/main">
            <a:off x="3124080" y="6356520"/>
            <a:ext cx="289512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3" name="Google Shape;13;p14">
            <a:extLst xmlns:a="http://schemas.openxmlformats.org/drawingml/2006/main">
              <a:ext uri="{FF2B5EF4-FFF2-40B4-BE49-F238E27FC236}">
                <a16:creationId xmlns:a16="http://schemas.microsoft.com/office/drawing/2014/main" id="{EDC8C056-1D17-4032-9A84-829686197D9E}"/>
              </a:ext>
            </a:extLst>
          </p:cNvPr>
          <p:cNvSpPr>
            <a:spLocks xmlns:a="http://schemas.openxmlformats.org/drawingml/2006/main" noGrp="1"/>
          </p:cNvSpPr>
          <p:nvPr>
            <p:ph type="sldNum" idx="12"/>
          </p:nvPr>
        </p:nvSpPr>
        <p:spPr>
          <a:xfrm xmlns:a="http://schemas.openxmlformats.org/drawingml/2006/main">
            <a:off x="655308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1pPr>
            <a:lvl2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2pPr>
            <a:lvl3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3pPr>
            <a:lvl4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4pPr>
            <a:lvl5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5pPr>
            <a:lvl6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6pPr>
            <a:lvl7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7pPr>
            <a:lvl8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8pPr>
            <a:lvl9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solidFill>
                <a:srgbClr val="000000"/>
              </a:solidFill>
              <a:latin typeface="Times New Roman"/>
              <a:ea typeface="Times New Roman"/>
              <a:cs typeface="Times New Roman"/>
            </a:endParaRPr>
          </a:p>
        </p:txBody>
      </p:sp>
      <p:sp>
        <p:nvSpPr>
          <p:cNvPr id="14" name="Google Shape;14;p14">
            <a:extLst xmlns:a="http://schemas.openxmlformats.org/drawingml/2006/main">
              <a:ext uri="{FF2B5EF4-FFF2-40B4-BE49-F238E27FC236}">
                <a16:creationId xmlns:a16="http://schemas.microsoft.com/office/drawing/2014/main" id="{60DF297F-6A6B-4B8B-AD15-BB78832D1CD5}"/>
              </a:ext>
            </a:extLst>
          </p:cNvPr>
          <p:cNvSpPr>
            <a:spLocks xmlns:a="http://schemas.openxmlformats.org/drawingml/2006/main" noGrp="1"/>
          </p:cNvSpPr>
          <p:nvPr>
            <p:ph type="title" idx="0"/>
          </p:nvPr>
        </p:nvSpPr>
        <p:spPr>
          <a:xfrm xmlns:a="http://schemas.openxmlformats.org/drawingml/2006/main">
            <a:off x="609480" y="273600"/>
            <a:ext cx="10972080" cy="114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5" name="Google Shape;15;p14">
            <a:extLst xmlns:a="http://schemas.openxmlformats.org/drawingml/2006/main">
              <a:ext uri="{FF2B5EF4-FFF2-40B4-BE49-F238E27FC236}">
                <a16:creationId xmlns:a16="http://schemas.microsoft.com/office/drawing/2014/main" id="{56380440-682E-453F-B34A-2E49B0908C56}"/>
              </a:ext>
            </a:extLst>
          </p:cNvPr>
          <p:cNvSpPr>
            <a:spLocks xmlns:a="http://schemas.openxmlformats.org/drawingml/2006/main" noGrp="1"/>
          </p:cNvSpPr>
          <p:nvPr>
            <p:ph type="body" idx="1"/>
          </p:nvPr>
        </p:nvSpPr>
        <p:spPr>
          <a:xfrm xmlns:a="http://schemas.openxmlformats.org/drawingml/2006/main">
            <a:off x="609480" y="1604520"/>
            <a:ext cx="10972080" cy="397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xml><?xml version="1.0" encoding="utf-8"?>
<p:sldLayout xmlns:p="http://schemas.openxmlformats.org/presentationml/2006/main" matchingName="Title Slide" type="title">
  <p:cSld name="TITLE">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Google Shape;17;p15">
            <a:extLst xmlns:a="http://schemas.openxmlformats.org/drawingml/2006/main">
              <a:ext uri="{FF2B5EF4-FFF2-40B4-BE49-F238E27FC236}">
                <a16:creationId xmlns:a16="http://schemas.microsoft.com/office/drawing/2014/main" id="{46971066-2F14-4CC7-AB88-ED790F1B78BB}"/>
              </a:ext>
            </a:extLst>
          </p:cNvPr>
          <p:cNvSpPr>
            <a:spLocks xmlns:a="http://schemas.openxmlformats.org/drawingml/2006/main" noGrp="1"/>
          </p:cNvSpPr>
          <p:nvPr>
            <p:ph type="title" idx="0"/>
          </p:nvPr>
        </p:nvSpPr>
        <p:spPr>
          <a:xfrm xmlns:a="http://schemas.openxmlformats.org/drawingml/2006/main">
            <a:off x="685800" y="2130480"/>
            <a:ext cx="7772040" cy="1469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8" name="Google Shape;18;p15">
            <a:extLst xmlns:a="http://schemas.openxmlformats.org/drawingml/2006/main">
              <a:ext uri="{FF2B5EF4-FFF2-40B4-BE49-F238E27FC236}">
                <a16:creationId xmlns:a16="http://schemas.microsoft.com/office/drawing/2014/main" id="{495ECC7F-8C1B-4B03-B1D5-91E3D0EC2110}"/>
              </a:ext>
            </a:extLst>
          </p:cNvPr>
          <p:cNvSpPr>
            <a:spLocks xmlns:a="http://schemas.openxmlformats.org/drawingml/2006/main" noGrp="1"/>
          </p:cNvSpPr>
          <p:nvPr>
            <p:ph type="dt" idx="10"/>
          </p:nvPr>
        </p:nvSpPr>
        <p:spPr>
          <a:xfrm xmlns:a="http://schemas.openxmlformats.org/drawingml/2006/main">
            <a:off x="45720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9" name="Google Shape;19;p15">
            <a:extLst xmlns:a="http://schemas.openxmlformats.org/drawingml/2006/main">
              <a:ext uri="{FF2B5EF4-FFF2-40B4-BE49-F238E27FC236}">
                <a16:creationId xmlns:a16="http://schemas.microsoft.com/office/drawing/2014/main" id="{393F6C52-C70E-4D29-84C2-48E60D84FC7F}"/>
              </a:ext>
            </a:extLst>
          </p:cNvPr>
          <p:cNvSpPr>
            <a:spLocks xmlns:a="http://schemas.openxmlformats.org/drawingml/2006/main" noGrp="1"/>
          </p:cNvSpPr>
          <p:nvPr>
            <p:ph type="ftr" idx="11"/>
          </p:nvPr>
        </p:nvSpPr>
        <p:spPr>
          <a:xfrm xmlns:a="http://schemas.openxmlformats.org/drawingml/2006/main">
            <a:off x="3124080" y="6356520"/>
            <a:ext cx="289512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0" name="Google Shape;20;p15">
            <a:extLst xmlns:a="http://schemas.openxmlformats.org/drawingml/2006/main">
              <a:ext uri="{FF2B5EF4-FFF2-40B4-BE49-F238E27FC236}">
                <a16:creationId xmlns:a16="http://schemas.microsoft.com/office/drawing/2014/main" id="{03C7DBAC-E01D-4772-8F80-DED729C6EDD5}"/>
              </a:ext>
            </a:extLst>
          </p:cNvPr>
          <p:cNvSpPr>
            <a:spLocks xmlns:a="http://schemas.openxmlformats.org/drawingml/2006/main" noGrp="1"/>
          </p:cNvSpPr>
          <p:nvPr>
            <p:ph type="sldNum" idx="12"/>
          </p:nvPr>
        </p:nvSpPr>
        <p:spPr>
          <a:xfrm xmlns:a="http://schemas.openxmlformats.org/drawingml/2006/main">
            <a:off x="655308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1pPr>
            <a:lvl2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2pPr>
            <a:lvl3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3pPr>
            <a:lvl4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4pPr>
            <a:lvl5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5pPr>
            <a:lvl6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6pPr>
            <a:lvl7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7pPr>
            <a:lvl8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8pPr>
            <a:lvl9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solidFill>
                <a:srgbClr val="000000"/>
              </a:solidFill>
              <a:latin typeface="Times New Roman"/>
              <a:ea typeface="Times New Roman"/>
              <a:cs typeface="Times New Roman"/>
            </a:endParaRPr>
          </a:p>
        </p:txBody>
      </p:sp>
    </p:spTree>
  </p:cSld>
</p:sldLayout>
</file>

<file path=ppt/slideLayouts/slideLayout3.xml><?xml version="1.0" encoding="utf-8"?>
<p:sldLayout xmlns:p="http://schemas.openxmlformats.org/presentationml/2006/main" matchingName="Title and Vertical Text" type="vertTx">
  <p:cSld name="VERTICAL_TEXT">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Google Shape;22;p16">
            <a:extLst xmlns:a="http://schemas.openxmlformats.org/drawingml/2006/main">
              <a:ext uri="{FF2B5EF4-FFF2-40B4-BE49-F238E27FC236}">
                <a16:creationId xmlns:a16="http://schemas.microsoft.com/office/drawing/2014/main" id="{355A849F-E641-48AE-BB6F-92CAB38D0A9E}"/>
              </a:ext>
            </a:extLst>
          </p:cNvPr>
          <p:cNvSpPr>
            <a:spLocks xmlns:a="http://schemas.openxmlformats.org/drawingml/2006/main" noGrp="1"/>
          </p:cNvSpPr>
          <p:nvPr>
            <p:ph type="title" idx="0"/>
          </p:nvPr>
        </p:nvSpPr>
        <p:spPr>
          <a:xfrm xmlns:a="http://schemas.openxmlformats.org/drawingml/2006/main">
            <a:off x="457200" y="274680"/>
            <a:ext cx="8229240" cy="1142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3" name="Google Shape;23;p16">
            <a:extLst xmlns:a="http://schemas.openxmlformats.org/drawingml/2006/main">
              <a:ext uri="{FF2B5EF4-FFF2-40B4-BE49-F238E27FC236}">
                <a16:creationId xmlns:a16="http://schemas.microsoft.com/office/drawing/2014/main" id="{1001AF55-7EF2-47F7-A707-2B422A86948A}"/>
              </a:ext>
            </a:extLst>
          </p:cNvPr>
          <p:cNvSpPr>
            <a:spLocks xmlns:a="http://schemas.openxmlformats.org/drawingml/2006/main" noGrp="1"/>
          </p:cNvSpPr>
          <p:nvPr>
            <p:ph type="body" idx="1"/>
          </p:nvPr>
        </p:nvSpPr>
        <p:spPr>
          <a:xfrm xmlns:a="http://schemas.openxmlformats.org/drawingml/2006/main" rot="5400000">
            <a:off x="2309040" y="-251640"/>
            <a:ext cx="4525560" cy="8229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24" name="Google Shape;24;p16">
            <a:extLst xmlns:a="http://schemas.openxmlformats.org/drawingml/2006/main">
              <a:ext uri="{FF2B5EF4-FFF2-40B4-BE49-F238E27FC236}">
                <a16:creationId xmlns:a16="http://schemas.microsoft.com/office/drawing/2014/main" id="{421A10C4-8537-4870-AD3D-55676C98208B}"/>
              </a:ext>
            </a:extLst>
          </p:cNvPr>
          <p:cNvSpPr>
            <a:spLocks xmlns:a="http://schemas.openxmlformats.org/drawingml/2006/main" noGrp="1"/>
          </p:cNvSpPr>
          <p:nvPr>
            <p:ph type="dt" idx="10"/>
          </p:nvPr>
        </p:nvSpPr>
        <p:spPr>
          <a:xfrm xmlns:a="http://schemas.openxmlformats.org/drawingml/2006/main">
            <a:off x="45720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5" name="Google Shape;25;p16">
            <a:extLst xmlns:a="http://schemas.openxmlformats.org/drawingml/2006/main">
              <a:ext uri="{FF2B5EF4-FFF2-40B4-BE49-F238E27FC236}">
                <a16:creationId xmlns:a16="http://schemas.microsoft.com/office/drawing/2014/main" id="{7DCACCC0-F902-4F0D-BE0B-19A12D1B0B95}"/>
              </a:ext>
            </a:extLst>
          </p:cNvPr>
          <p:cNvSpPr>
            <a:spLocks xmlns:a="http://schemas.openxmlformats.org/drawingml/2006/main" noGrp="1"/>
          </p:cNvSpPr>
          <p:nvPr>
            <p:ph type="ftr" idx="11"/>
          </p:nvPr>
        </p:nvSpPr>
        <p:spPr>
          <a:xfrm xmlns:a="http://schemas.openxmlformats.org/drawingml/2006/main">
            <a:off x="3124080" y="6356520"/>
            <a:ext cx="289512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6" name="Google Shape;26;p16">
            <a:extLst xmlns:a="http://schemas.openxmlformats.org/drawingml/2006/main">
              <a:ext uri="{FF2B5EF4-FFF2-40B4-BE49-F238E27FC236}">
                <a16:creationId xmlns:a16="http://schemas.microsoft.com/office/drawing/2014/main" id="{8DCAEFAD-5A58-4F0F-AB1A-4338B35C06F9}"/>
              </a:ext>
            </a:extLst>
          </p:cNvPr>
          <p:cNvSpPr>
            <a:spLocks xmlns:a="http://schemas.openxmlformats.org/drawingml/2006/main" noGrp="1"/>
          </p:cNvSpPr>
          <p:nvPr>
            <p:ph type="sldNum" idx="12"/>
          </p:nvPr>
        </p:nvSpPr>
        <p:spPr>
          <a:xfrm xmlns:a="http://schemas.openxmlformats.org/drawingml/2006/main">
            <a:off x="655308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1pPr>
            <a:lvl2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2pPr>
            <a:lvl3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3pPr>
            <a:lvl4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4pPr>
            <a:lvl5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5pPr>
            <a:lvl6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6pPr>
            <a:lvl7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7pPr>
            <a:lvl8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8pPr>
            <a:lvl9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solidFill>
                <a:srgbClr val="000000"/>
              </a:solidFill>
              <a:latin typeface="Times New Roman"/>
              <a:ea typeface="Times New Roman"/>
              <a:cs typeface="Times New Roman"/>
            </a:endParaRPr>
          </a:p>
        </p:txBody>
      </p:sp>
    </p:spTree>
  </p:cSld>
</p:sldLayout>
</file>

<file path=ppt/slideLayouts/slideLayout4.xml><?xml version="1.0" encoding="utf-8"?>
<p:sldLayout xmlns:p="http://schemas.openxmlformats.org/presentationml/2006/main" matchingName="Vertical Title and Text" type="vertTitleAndTx">
  <p:cSld name="VERTICAL_TITLE_AND_VERTICAL_TEXT">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Google Shape;28;p17">
            <a:extLst xmlns:a="http://schemas.openxmlformats.org/drawingml/2006/main">
              <a:ext uri="{FF2B5EF4-FFF2-40B4-BE49-F238E27FC236}">
                <a16:creationId xmlns:a16="http://schemas.microsoft.com/office/drawing/2014/main" id="{72927DDF-7590-4B67-AA0E-32530479EBAC}"/>
              </a:ext>
            </a:extLst>
          </p:cNvPr>
          <p:cNvSpPr>
            <a:spLocks xmlns:a="http://schemas.openxmlformats.org/drawingml/2006/main" noGrp="1"/>
          </p:cNvSpPr>
          <p:nvPr>
            <p:ph type="title" idx="0"/>
          </p:nvPr>
        </p:nvSpPr>
        <p:spPr>
          <a:xfrm xmlns:a="http://schemas.openxmlformats.org/drawingml/2006/main" rot="5400000">
            <a:off x="4732380" y="2171700"/>
            <a:ext cx="5851080" cy="2057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9" name="Google Shape;29;p17">
            <a:extLst xmlns:a="http://schemas.openxmlformats.org/drawingml/2006/main">
              <a:ext uri="{FF2B5EF4-FFF2-40B4-BE49-F238E27FC236}">
                <a16:creationId xmlns:a16="http://schemas.microsoft.com/office/drawing/2014/main" id="{1EBE32E1-DBCE-4076-A57E-747410C777D5}"/>
              </a:ext>
            </a:extLst>
          </p:cNvPr>
          <p:cNvSpPr>
            <a:spLocks xmlns:a="http://schemas.openxmlformats.org/drawingml/2006/main" noGrp="1"/>
          </p:cNvSpPr>
          <p:nvPr>
            <p:ph type="body" idx="1"/>
          </p:nvPr>
        </p:nvSpPr>
        <p:spPr>
          <a:xfrm xmlns:a="http://schemas.openxmlformats.org/drawingml/2006/main" rot="5400000">
            <a:off x="541440" y="190440"/>
            <a:ext cx="5851080" cy="6019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0" name="Google Shape;30;p17">
            <a:extLst xmlns:a="http://schemas.openxmlformats.org/drawingml/2006/main">
              <a:ext uri="{FF2B5EF4-FFF2-40B4-BE49-F238E27FC236}">
                <a16:creationId xmlns:a16="http://schemas.microsoft.com/office/drawing/2014/main" id="{F3702BD3-02F3-4884-88F6-09FDF7FCA348}"/>
              </a:ext>
            </a:extLst>
          </p:cNvPr>
          <p:cNvSpPr>
            <a:spLocks xmlns:a="http://schemas.openxmlformats.org/drawingml/2006/main" noGrp="1"/>
          </p:cNvSpPr>
          <p:nvPr>
            <p:ph type="dt" idx="10"/>
          </p:nvPr>
        </p:nvSpPr>
        <p:spPr>
          <a:xfrm xmlns:a="http://schemas.openxmlformats.org/drawingml/2006/main">
            <a:off x="45720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31" name="Google Shape;31;p17">
            <a:extLst xmlns:a="http://schemas.openxmlformats.org/drawingml/2006/main">
              <a:ext uri="{FF2B5EF4-FFF2-40B4-BE49-F238E27FC236}">
                <a16:creationId xmlns:a16="http://schemas.microsoft.com/office/drawing/2014/main" id="{EC78CAD8-A3AC-4C44-9AC6-A8880CE01D8B}"/>
              </a:ext>
            </a:extLst>
          </p:cNvPr>
          <p:cNvSpPr>
            <a:spLocks xmlns:a="http://schemas.openxmlformats.org/drawingml/2006/main" noGrp="1"/>
          </p:cNvSpPr>
          <p:nvPr>
            <p:ph type="ftr" idx="11"/>
          </p:nvPr>
        </p:nvSpPr>
        <p:spPr>
          <a:xfrm xmlns:a="http://schemas.openxmlformats.org/drawingml/2006/main">
            <a:off x="3124080" y="6356520"/>
            <a:ext cx="289512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32" name="Google Shape;32;p17">
            <a:extLst xmlns:a="http://schemas.openxmlformats.org/drawingml/2006/main">
              <a:ext uri="{FF2B5EF4-FFF2-40B4-BE49-F238E27FC236}">
                <a16:creationId xmlns:a16="http://schemas.microsoft.com/office/drawing/2014/main" id="{FB2B9EA2-8C9B-497E-97BF-1C8E81118B32}"/>
              </a:ext>
            </a:extLst>
          </p:cNvPr>
          <p:cNvSpPr>
            <a:spLocks xmlns:a="http://schemas.openxmlformats.org/drawingml/2006/main" noGrp="1"/>
          </p:cNvSpPr>
          <p:nvPr>
            <p:ph type="sldNum" idx="12"/>
          </p:nvPr>
        </p:nvSpPr>
        <p:spPr>
          <a:xfrm xmlns:a="http://schemas.openxmlformats.org/drawingml/2006/main">
            <a:off x="655308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1pPr>
            <a:lvl2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2pPr>
            <a:lvl3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3pPr>
            <a:lvl4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4pPr>
            <a:lvl5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5pPr>
            <a:lvl6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6pPr>
            <a:lvl7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7pPr>
            <a:lvl8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8pPr>
            <a:lvl9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solidFill>
                <a:srgbClr val="000000"/>
              </a:solidFill>
              <a:latin typeface="Times New Roman"/>
              <a:ea typeface="Times New Roman"/>
              <a:cs typeface="Times New Roman"/>
            </a:endParaRPr>
          </a:p>
        </p:txBody>
      </p:sp>
    </p:spTree>
  </p:cSld>
</p:sldLayout>
</file>

<file path=ppt/slideLayouts/slideLayout5.xml><?xml version="1.0" encoding="utf-8"?>
<p:sldLayout xmlns:p="http://schemas.openxmlformats.org/presentationml/2006/main" matchingName="Title and Content" type="obj">
  <p:cSld name="OBJECT">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Google Shape;34;p18">
            <a:extLst xmlns:a="http://schemas.openxmlformats.org/drawingml/2006/main">
              <a:ext uri="{FF2B5EF4-FFF2-40B4-BE49-F238E27FC236}">
                <a16:creationId xmlns:a16="http://schemas.microsoft.com/office/drawing/2014/main" id="{68E420EB-9617-4C6E-AD35-3821D3949EBE}"/>
              </a:ext>
            </a:extLst>
          </p:cNvPr>
          <p:cNvSpPr>
            <a:spLocks xmlns:a="http://schemas.openxmlformats.org/drawingml/2006/main" noGrp="1"/>
          </p:cNvSpPr>
          <p:nvPr>
            <p:ph type="title" idx="0"/>
          </p:nvPr>
        </p:nvSpPr>
        <p:spPr>
          <a:xfrm xmlns:a="http://schemas.openxmlformats.org/drawingml/2006/main">
            <a:off x="457200" y="274680"/>
            <a:ext cx="8229240" cy="1142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35" name="Google Shape;35;p18">
            <a:extLst xmlns:a="http://schemas.openxmlformats.org/drawingml/2006/main">
              <a:ext uri="{FF2B5EF4-FFF2-40B4-BE49-F238E27FC236}">
                <a16:creationId xmlns:a16="http://schemas.microsoft.com/office/drawing/2014/main" id="{06BCB07A-864E-4726-A5D4-4D9BF9B71FD6}"/>
              </a:ext>
            </a:extLst>
          </p:cNvPr>
          <p:cNvSpPr>
            <a:spLocks xmlns:a="http://schemas.openxmlformats.org/drawingml/2006/main" noGrp="1"/>
          </p:cNvSpPr>
          <p:nvPr>
            <p:ph type="body" idx="1"/>
          </p:nvPr>
        </p:nvSpPr>
        <p:spPr>
          <a:xfrm xmlns:a="http://schemas.openxmlformats.org/drawingml/2006/main">
            <a:off x="457200" y="1600200"/>
            <a:ext cx="8229240" cy="4525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6" name="Google Shape;36;p18">
            <a:extLst xmlns:a="http://schemas.openxmlformats.org/drawingml/2006/main">
              <a:ext uri="{FF2B5EF4-FFF2-40B4-BE49-F238E27FC236}">
                <a16:creationId xmlns:a16="http://schemas.microsoft.com/office/drawing/2014/main" id="{C14A9DF2-B644-4AB6-8D41-BDE9EA5245CE}"/>
              </a:ext>
            </a:extLst>
          </p:cNvPr>
          <p:cNvSpPr>
            <a:spLocks xmlns:a="http://schemas.openxmlformats.org/drawingml/2006/main" noGrp="1"/>
          </p:cNvSpPr>
          <p:nvPr>
            <p:ph type="dt" idx="10"/>
          </p:nvPr>
        </p:nvSpPr>
        <p:spPr>
          <a:xfrm xmlns:a="http://schemas.openxmlformats.org/drawingml/2006/main">
            <a:off x="45720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37" name="Google Shape;37;p18">
            <a:extLst xmlns:a="http://schemas.openxmlformats.org/drawingml/2006/main">
              <a:ext uri="{FF2B5EF4-FFF2-40B4-BE49-F238E27FC236}">
                <a16:creationId xmlns:a16="http://schemas.microsoft.com/office/drawing/2014/main" id="{0D06DDA3-8E26-4AD4-9B54-6BAB8FE28FE2}"/>
              </a:ext>
            </a:extLst>
          </p:cNvPr>
          <p:cNvSpPr>
            <a:spLocks xmlns:a="http://schemas.openxmlformats.org/drawingml/2006/main" noGrp="1"/>
          </p:cNvSpPr>
          <p:nvPr>
            <p:ph type="ftr" idx="11"/>
          </p:nvPr>
        </p:nvSpPr>
        <p:spPr>
          <a:xfrm xmlns:a="http://schemas.openxmlformats.org/drawingml/2006/main">
            <a:off x="3124080" y="6356520"/>
            <a:ext cx="289512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38" name="Google Shape;38;p18">
            <a:extLst xmlns:a="http://schemas.openxmlformats.org/drawingml/2006/main">
              <a:ext uri="{FF2B5EF4-FFF2-40B4-BE49-F238E27FC236}">
                <a16:creationId xmlns:a16="http://schemas.microsoft.com/office/drawing/2014/main" id="{36AC5BC0-F3CE-48E8-8DBD-85D163D0E215}"/>
              </a:ext>
            </a:extLst>
          </p:cNvPr>
          <p:cNvSpPr>
            <a:spLocks xmlns:a="http://schemas.openxmlformats.org/drawingml/2006/main" noGrp="1"/>
          </p:cNvSpPr>
          <p:nvPr>
            <p:ph type="sldNum" idx="12"/>
          </p:nvPr>
        </p:nvSpPr>
        <p:spPr>
          <a:xfrm xmlns:a="http://schemas.openxmlformats.org/drawingml/2006/main">
            <a:off x="655308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1pPr>
            <a:lvl2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2pPr>
            <a:lvl3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3pPr>
            <a:lvl4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4pPr>
            <a:lvl5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5pPr>
            <a:lvl6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6pPr>
            <a:lvl7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7pPr>
            <a:lvl8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8pPr>
            <a:lvl9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solidFill>
                <a:srgbClr val="000000"/>
              </a:solidFill>
              <a:latin typeface="Times New Roman"/>
              <a:ea typeface="Times New Roman"/>
              <a:cs typeface="Times New Roman"/>
            </a:endParaRPr>
          </a:p>
        </p:txBody>
      </p:sp>
    </p:spTree>
  </p:cSld>
</p:sldLayout>
</file>

<file path=ppt/slideLayouts/slideLayout6.xml><?xml version="1.0" encoding="utf-8"?>
<p:sldLayout xmlns:p="http://schemas.openxmlformats.org/presentationml/2006/main" matchingName="Section Header">
  <p:cSld name="Section Header">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Google Shape;40;p19">
            <a:extLst xmlns:a="http://schemas.openxmlformats.org/drawingml/2006/main">
              <a:ext uri="{FF2B5EF4-FFF2-40B4-BE49-F238E27FC236}">
                <a16:creationId xmlns:a16="http://schemas.microsoft.com/office/drawing/2014/main" id="{590DA521-1863-47E9-90D8-739FB9CBF031}"/>
              </a:ext>
            </a:extLst>
          </p:cNvPr>
          <p:cNvSpPr>
            <a:spLocks xmlns:a="http://schemas.openxmlformats.org/drawingml/2006/main" noGrp="1"/>
          </p:cNvSpPr>
          <p:nvPr>
            <p:ph type="title" idx="0"/>
          </p:nvPr>
        </p:nvSpPr>
        <p:spPr>
          <a:xfrm xmlns:a="http://schemas.openxmlformats.org/drawingml/2006/main">
            <a:off x="722160" y="4406760"/>
            <a:ext cx="7772040" cy="13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41" name="Google Shape;41;p19">
            <a:extLst xmlns:a="http://schemas.openxmlformats.org/drawingml/2006/main">
              <a:ext uri="{FF2B5EF4-FFF2-40B4-BE49-F238E27FC236}">
                <a16:creationId xmlns:a16="http://schemas.microsoft.com/office/drawing/2014/main" id="{4AD31937-D07E-4F09-B1A2-25FC85CDE532}"/>
              </a:ext>
            </a:extLst>
          </p:cNvPr>
          <p:cNvSpPr>
            <a:spLocks xmlns:a="http://schemas.openxmlformats.org/drawingml/2006/main" noGrp="1"/>
          </p:cNvSpPr>
          <p:nvPr>
            <p:ph type="body" idx="1"/>
          </p:nvPr>
        </p:nvSpPr>
        <p:spPr>
          <a:xfrm xmlns:a="http://schemas.openxmlformats.org/drawingml/2006/main">
            <a:off x="722160" y="2906640"/>
            <a:ext cx="7772040" cy="1499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42" name="Google Shape;42;p19">
            <a:extLst xmlns:a="http://schemas.openxmlformats.org/drawingml/2006/main">
              <a:ext uri="{FF2B5EF4-FFF2-40B4-BE49-F238E27FC236}">
                <a16:creationId xmlns:a16="http://schemas.microsoft.com/office/drawing/2014/main" id="{CDDB6EB8-3047-4047-91C3-C300F389D75B}"/>
              </a:ext>
            </a:extLst>
          </p:cNvPr>
          <p:cNvSpPr>
            <a:spLocks xmlns:a="http://schemas.openxmlformats.org/drawingml/2006/main" noGrp="1"/>
          </p:cNvSpPr>
          <p:nvPr>
            <p:ph type="dt" idx="10"/>
          </p:nvPr>
        </p:nvSpPr>
        <p:spPr>
          <a:xfrm xmlns:a="http://schemas.openxmlformats.org/drawingml/2006/main">
            <a:off x="45720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43" name="Google Shape;43;p19">
            <a:extLst xmlns:a="http://schemas.openxmlformats.org/drawingml/2006/main">
              <a:ext uri="{FF2B5EF4-FFF2-40B4-BE49-F238E27FC236}">
                <a16:creationId xmlns:a16="http://schemas.microsoft.com/office/drawing/2014/main" id="{4E45DBFC-0853-4433-B53E-37A12DFAFD6D}"/>
              </a:ext>
            </a:extLst>
          </p:cNvPr>
          <p:cNvSpPr>
            <a:spLocks xmlns:a="http://schemas.openxmlformats.org/drawingml/2006/main" noGrp="1"/>
          </p:cNvSpPr>
          <p:nvPr>
            <p:ph type="ftr" idx="11"/>
          </p:nvPr>
        </p:nvSpPr>
        <p:spPr>
          <a:xfrm xmlns:a="http://schemas.openxmlformats.org/drawingml/2006/main">
            <a:off x="3124080" y="6356520"/>
            <a:ext cx="289512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44" name="Google Shape;44;p19">
            <a:extLst xmlns:a="http://schemas.openxmlformats.org/drawingml/2006/main">
              <a:ext uri="{FF2B5EF4-FFF2-40B4-BE49-F238E27FC236}">
                <a16:creationId xmlns:a16="http://schemas.microsoft.com/office/drawing/2014/main" id="{AA90253E-4F4B-4979-89C2-7C97518B5CDC}"/>
              </a:ext>
            </a:extLst>
          </p:cNvPr>
          <p:cNvSpPr>
            <a:spLocks xmlns:a="http://schemas.openxmlformats.org/drawingml/2006/main" noGrp="1"/>
          </p:cNvSpPr>
          <p:nvPr>
            <p:ph type="sldNum" idx="12"/>
          </p:nvPr>
        </p:nvSpPr>
        <p:spPr>
          <a:xfrm xmlns:a="http://schemas.openxmlformats.org/drawingml/2006/main">
            <a:off x="655308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1pPr>
            <a:lvl2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2pPr>
            <a:lvl3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3pPr>
            <a:lvl4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4pPr>
            <a:lvl5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5pPr>
            <a:lvl6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6pPr>
            <a:lvl7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7pPr>
            <a:lvl8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8pPr>
            <a:lvl9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solidFill>
                <a:srgbClr val="000000"/>
              </a:solidFill>
              <a:latin typeface="Times New Roman"/>
              <a:ea typeface="Times New Roman"/>
              <a:cs typeface="Times New Roman"/>
            </a:endParaRPr>
          </a:p>
        </p:txBody>
      </p:sp>
    </p:spTree>
  </p:cSld>
</p:sldLayout>
</file>

<file path=ppt/slideLayouts/slideLayout7.xml><?xml version="1.0" encoding="utf-8"?>
<p:sldLayout xmlns:p="http://schemas.openxmlformats.org/presentationml/2006/main" matchingName="Two Content" type="twoObj">
  <p:cSld name="TWO_OBJECTS">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Google Shape;46;p20">
            <a:extLst xmlns:a="http://schemas.openxmlformats.org/drawingml/2006/main">
              <a:ext uri="{FF2B5EF4-FFF2-40B4-BE49-F238E27FC236}">
                <a16:creationId xmlns:a16="http://schemas.microsoft.com/office/drawing/2014/main" id="{CD21056A-141C-4E8F-9A3F-0CC22D6C6768}"/>
              </a:ext>
            </a:extLst>
          </p:cNvPr>
          <p:cNvSpPr>
            <a:spLocks xmlns:a="http://schemas.openxmlformats.org/drawingml/2006/main" noGrp="1"/>
          </p:cNvSpPr>
          <p:nvPr>
            <p:ph type="title" idx="0"/>
          </p:nvPr>
        </p:nvSpPr>
        <p:spPr>
          <a:xfrm xmlns:a="http://schemas.openxmlformats.org/drawingml/2006/main">
            <a:off x="457200" y="274680"/>
            <a:ext cx="8229240" cy="1142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47" name="Google Shape;47;p20">
            <a:extLst xmlns:a="http://schemas.openxmlformats.org/drawingml/2006/main">
              <a:ext uri="{FF2B5EF4-FFF2-40B4-BE49-F238E27FC236}">
                <a16:creationId xmlns:a16="http://schemas.microsoft.com/office/drawing/2014/main" id="{865BA17E-6C5B-4C2E-BFE7-43D81A00B780}"/>
              </a:ext>
            </a:extLst>
          </p:cNvPr>
          <p:cNvSpPr>
            <a:spLocks xmlns:a="http://schemas.openxmlformats.org/drawingml/2006/main" noGrp="1"/>
          </p:cNvSpPr>
          <p:nvPr>
            <p:ph type="body" idx="1"/>
          </p:nvPr>
        </p:nvSpPr>
        <p:spPr>
          <a:xfrm xmlns:a="http://schemas.openxmlformats.org/drawingml/2006/main">
            <a:off x="457200" y="1600200"/>
            <a:ext cx="4038120" cy="4525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48" name="Google Shape;48;p20">
            <a:extLst xmlns:a="http://schemas.openxmlformats.org/drawingml/2006/main">
              <a:ext uri="{FF2B5EF4-FFF2-40B4-BE49-F238E27FC236}">
                <a16:creationId xmlns:a16="http://schemas.microsoft.com/office/drawing/2014/main" id="{48190569-052E-47C4-ABA8-74869D5CCA18}"/>
              </a:ext>
            </a:extLst>
          </p:cNvPr>
          <p:cNvSpPr>
            <a:spLocks xmlns:a="http://schemas.openxmlformats.org/drawingml/2006/main" noGrp="1"/>
          </p:cNvSpPr>
          <p:nvPr>
            <p:ph type="body" idx="2"/>
          </p:nvPr>
        </p:nvSpPr>
        <p:spPr>
          <a:xfrm xmlns:a="http://schemas.openxmlformats.org/drawingml/2006/main">
            <a:off x="4648320" y="1600200"/>
            <a:ext cx="4038120" cy="4525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49" name="Google Shape;49;p20">
            <a:extLst xmlns:a="http://schemas.openxmlformats.org/drawingml/2006/main">
              <a:ext uri="{FF2B5EF4-FFF2-40B4-BE49-F238E27FC236}">
                <a16:creationId xmlns:a16="http://schemas.microsoft.com/office/drawing/2014/main" id="{4D75939B-6BF4-4EA9-85AF-A1CB2BA5A2F4}"/>
              </a:ext>
            </a:extLst>
          </p:cNvPr>
          <p:cNvSpPr>
            <a:spLocks xmlns:a="http://schemas.openxmlformats.org/drawingml/2006/main" noGrp="1"/>
          </p:cNvSpPr>
          <p:nvPr>
            <p:ph type="dt" idx="10"/>
          </p:nvPr>
        </p:nvSpPr>
        <p:spPr>
          <a:xfrm xmlns:a="http://schemas.openxmlformats.org/drawingml/2006/main">
            <a:off x="45720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50" name="Google Shape;50;p20">
            <a:extLst xmlns:a="http://schemas.openxmlformats.org/drawingml/2006/main">
              <a:ext uri="{FF2B5EF4-FFF2-40B4-BE49-F238E27FC236}">
                <a16:creationId xmlns:a16="http://schemas.microsoft.com/office/drawing/2014/main" id="{72D2FA0E-B439-4D6E-9188-EF75EAEA7D98}"/>
              </a:ext>
            </a:extLst>
          </p:cNvPr>
          <p:cNvSpPr>
            <a:spLocks xmlns:a="http://schemas.openxmlformats.org/drawingml/2006/main" noGrp="1"/>
          </p:cNvSpPr>
          <p:nvPr>
            <p:ph type="ftr" idx="11"/>
          </p:nvPr>
        </p:nvSpPr>
        <p:spPr>
          <a:xfrm xmlns:a="http://schemas.openxmlformats.org/drawingml/2006/main">
            <a:off x="3124080" y="6356520"/>
            <a:ext cx="289512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51" name="Google Shape;51;p20">
            <a:extLst xmlns:a="http://schemas.openxmlformats.org/drawingml/2006/main">
              <a:ext uri="{FF2B5EF4-FFF2-40B4-BE49-F238E27FC236}">
                <a16:creationId xmlns:a16="http://schemas.microsoft.com/office/drawing/2014/main" id="{3FB7E701-6110-49B5-9E99-14861E78D739}"/>
              </a:ext>
            </a:extLst>
          </p:cNvPr>
          <p:cNvSpPr>
            <a:spLocks xmlns:a="http://schemas.openxmlformats.org/drawingml/2006/main" noGrp="1"/>
          </p:cNvSpPr>
          <p:nvPr>
            <p:ph type="sldNum" idx="12"/>
          </p:nvPr>
        </p:nvSpPr>
        <p:spPr>
          <a:xfrm xmlns:a="http://schemas.openxmlformats.org/drawingml/2006/main">
            <a:off x="655308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1pPr>
            <a:lvl2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2pPr>
            <a:lvl3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3pPr>
            <a:lvl4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4pPr>
            <a:lvl5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5pPr>
            <a:lvl6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6pPr>
            <a:lvl7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7pPr>
            <a:lvl8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8pPr>
            <a:lvl9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solidFill>
                <a:srgbClr val="000000"/>
              </a:solidFill>
              <a:latin typeface="Times New Roman"/>
              <a:ea typeface="Times New Roman"/>
              <a:cs typeface="Times New Roman"/>
            </a:endParaRPr>
          </a:p>
        </p:txBody>
      </p:sp>
    </p:spTree>
  </p:cSld>
</p:sldLayout>
</file>

<file path=ppt/slideLayouts/slideLayout8.xml><?xml version="1.0" encoding="utf-8"?>
<p:sldLayout xmlns:p="http://schemas.openxmlformats.org/presentationml/2006/main" matchingName="Comparison">
  <p:cSld name="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Google Shape;53;p21">
            <a:extLst xmlns:a="http://schemas.openxmlformats.org/drawingml/2006/main">
              <a:ext uri="{FF2B5EF4-FFF2-40B4-BE49-F238E27FC236}">
                <a16:creationId xmlns:a16="http://schemas.microsoft.com/office/drawing/2014/main" id="{E2851317-494B-441E-87BA-F3B26FE37294}"/>
              </a:ext>
            </a:extLst>
          </p:cNvPr>
          <p:cNvSpPr>
            <a:spLocks xmlns:a="http://schemas.openxmlformats.org/drawingml/2006/main" noGrp="1"/>
          </p:cNvSpPr>
          <p:nvPr>
            <p:ph type="title" idx="0"/>
          </p:nvPr>
        </p:nvSpPr>
        <p:spPr>
          <a:xfrm xmlns:a="http://schemas.openxmlformats.org/drawingml/2006/main">
            <a:off x="457200" y="274680"/>
            <a:ext cx="8229240" cy="1142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54" name="Google Shape;54;p21">
            <a:extLst xmlns:a="http://schemas.openxmlformats.org/drawingml/2006/main">
              <a:ext uri="{FF2B5EF4-FFF2-40B4-BE49-F238E27FC236}">
                <a16:creationId xmlns:a16="http://schemas.microsoft.com/office/drawing/2014/main" id="{5D8D177F-B743-4080-AE4F-B314627E4D2D}"/>
              </a:ext>
            </a:extLst>
          </p:cNvPr>
          <p:cNvSpPr>
            <a:spLocks xmlns:a="http://schemas.openxmlformats.org/drawingml/2006/main" noGrp="1"/>
          </p:cNvSpPr>
          <p:nvPr>
            <p:ph type="body" idx="1"/>
          </p:nvPr>
        </p:nvSpPr>
        <p:spPr>
          <a:xfrm xmlns:a="http://schemas.openxmlformats.org/drawingml/2006/main">
            <a:off x="457200" y="1535040"/>
            <a:ext cx="4039920" cy="639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55" name="Google Shape;55;p21">
            <a:extLst xmlns:a="http://schemas.openxmlformats.org/drawingml/2006/main">
              <a:ext uri="{FF2B5EF4-FFF2-40B4-BE49-F238E27FC236}">
                <a16:creationId xmlns:a16="http://schemas.microsoft.com/office/drawing/2014/main" id="{23328A2B-43A7-45D2-8DD0-832A6A9C0F3E}"/>
              </a:ext>
            </a:extLst>
          </p:cNvPr>
          <p:cNvSpPr>
            <a:spLocks xmlns:a="http://schemas.openxmlformats.org/drawingml/2006/main" noGrp="1"/>
          </p:cNvSpPr>
          <p:nvPr>
            <p:ph type="body" idx="2"/>
          </p:nvPr>
        </p:nvSpPr>
        <p:spPr>
          <a:xfrm xmlns:a="http://schemas.openxmlformats.org/drawingml/2006/main">
            <a:off x="457200" y="2174760"/>
            <a:ext cx="4039920" cy="395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56" name="Google Shape;56;p21">
            <a:extLst xmlns:a="http://schemas.openxmlformats.org/drawingml/2006/main">
              <a:ext uri="{FF2B5EF4-FFF2-40B4-BE49-F238E27FC236}">
                <a16:creationId xmlns:a16="http://schemas.microsoft.com/office/drawing/2014/main" id="{6F2A7743-20C1-4C68-83D9-BF885DF8D71D}"/>
              </a:ext>
            </a:extLst>
          </p:cNvPr>
          <p:cNvSpPr>
            <a:spLocks xmlns:a="http://schemas.openxmlformats.org/drawingml/2006/main" noGrp="1"/>
          </p:cNvSpPr>
          <p:nvPr>
            <p:ph type="body" idx="3"/>
          </p:nvPr>
        </p:nvSpPr>
        <p:spPr>
          <a:xfrm xmlns:a="http://schemas.openxmlformats.org/drawingml/2006/main">
            <a:off x="4645080" y="1535040"/>
            <a:ext cx="4041360" cy="639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57" name="Google Shape;57;p21">
            <a:extLst xmlns:a="http://schemas.openxmlformats.org/drawingml/2006/main">
              <a:ext uri="{FF2B5EF4-FFF2-40B4-BE49-F238E27FC236}">
                <a16:creationId xmlns:a16="http://schemas.microsoft.com/office/drawing/2014/main" id="{5453BD51-BA16-4E74-AEEB-B2893AC83B0A}"/>
              </a:ext>
            </a:extLst>
          </p:cNvPr>
          <p:cNvSpPr>
            <a:spLocks xmlns:a="http://schemas.openxmlformats.org/drawingml/2006/main" noGrp="1"/>
          </p:cNvSpPr>
          <p:nvPr>
            <p:ph type="body" idx="4"/>
          </p:nvPr>
        </p:nvSpPr>
        <p:spPr>
          <a:xfrm xmlns:a="http://schemas.openxmlformats.org/drawingml/2006/main">
            <a:off x="4645080" y="2174760"/>
            <a:ext cx="4041360" cy="395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58" name="Google Shape;58;p21">
            <a:extLst xmlns:a="http://schemas.openxmlformats.org/drawingml/2006/main">
              <a:ext uri="{FF2B5EF4-FFF2-40B4-BE49-F238E27FC236}">
                <a16:creationId xmlns:a16="http://schemas.microsoft.com/office/drawing/2014/main" id="{87F6AE78-3BEE-47BE-923D-5C70C06F3B2C}"/>
              </a:ext>
            </a:extLst>
          </p:cNvPr>
          <p:cNvSpPr>
            <a:spLocks xmlns:a="http://schemas.openxmlformats.org/drawingml/2006/main" noGrp="1"/>
          </p:cNvSpPr>
          <p:nvPr>
            <p:ph type="dt" idx="10"/>
          </p:nvPr>
        </p:nvSpPr>
        <p:spPr>
          <a:xfrm xmlns:a="http://schemas.openxmlformats.org/drawingml/2006/main">
            <a:off x="45720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59" name="Google Shape;59;p21">
            <a:extLst xmlns:a="http://schemas.openxmlformats.org/drawingml/2006/main">
              <a:ext uri="{FF2B5EF4-FFF2-40B4-BE49-F238E27FC236}">
                <a16:creationId xmlns:a16="http://schemas.microsoft.com/office/drawing/2014/main" id="{1183F1B9-70A3-4CFD-90B9-5CF22FAAEF02}"/>
              </a:ext>
            </a:extLst>
          </p:cNvPr>
          <p:cNvSpPr>
            <a:spLocks xmlns:a="http://schemas.openxmlformats.org/drawingml/2006/main" noGrp="1"/>
          </p:cNvSpPr>
          <p:nvPr>
            <p:ph type="ftr" idx="11"/>
          </p:nvPr>
        </p:nvSpPr>
        <p:spPr>
          <a:xfrm xmlns:a="http://schemas.openxmlformats.org/drawingml/2006/main">
            <a:off x="3124080" y="6356520"/>
            <a:ext cx="289512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60" name="Google Shape;60;p21">
            <a:extLst xmlns:a="http://schemas.openxmlformats.org/drawingml/2006/main">
              <a:ext uri="{FF2B5EF4-FFF2-40B4-BE49-F238E27FC236}">
                <a16:creationId xmlns:a16="http://schemas.microsoft.com/office/drawing/2014/main" id="{12B4D2D8-C297-4628-A1C8-BB648B500BEA}"/>
              </a:ext>
            </a:extLst>
          </p:cNvPr>
          <p:cNvSpPr>
            <a:spLocks xmlns:a="http://schemas.openxmlformats.org/drawingml/2006/main" noGrp="1"/>
          </p:cNvSpPr>
          <p:nvPr>
            <p:ph type="sldNum" idx="12"/>
          </p:nvPr>
        </p:nvSpPr>
        <p:spPr>
          <a:xfrm xmlns:a="http://schemas.openxmlformats.org/drawingml/2006/main">
            <a:off x="655308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1pPr>
            <a:lvl2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2pPr>
            <a:lvl3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3pPr>
            <a:lvl4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4pPr>
            <a:lvl5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5pPr>
            <a:lvl6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6pPr>
            <a:lvl7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7pPr>
            <a:lvl8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8pPr>
            <a:lvl9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solidFill>
                <a:srgbClr val="000000"/>
              </a:solidFill>
              <a:latin typeface="Times New Roman"/>
              <a:ea typeface="Times New Roman"/>
              <a:cs typeface="Times New Roman"/>
            </a:endParaRPr>
          </a:p>
        </p:txBody>
      </p:sp>
    </p:spTree>
  </p:cSld>
</p:sldLayout>
</file>

<file path=ppt/slideLayouts/slideLayout9.xml><?xml version="1.0" encoding="utf-8"?>
<p:sldLayout xmlns:p="http://schemas.openxmlformats.org/presentationml/2006/main" matchingName="Title Only" type="titleOnly">
  <p:cSld name="TITLE_ONLY">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Google Shape;62;p22">
            <a:extLst xmlns:a="http://schemas.openxmlformats.org/drawingml/2006/main">
              <a:ext uri="{FF2B5EF4-FFF2-40B4-BE49-F238E27FC236}">
                <a16:creationId xmlns:a16="http://schemas.microsoft.com/office/drawing/2014/main" id="{B282E797-35A1-46D9-B505-B389A0974F03}"/>
              </a:ext>
            </a:extLst>
          </p:cNvPr>
          <p:cNvSpPr>
            <a:spLocks xmlns:a="http://schemas.openxmlformats.org/drawingml/2006/main" noGrp="1"/>
          </p:cNvSpPr>
          <p:nvPr>
            <p:ph type="title" idx="0"/>
          </p:nvPr>
        </p:nvSpPr>
        <p:spPr>
          <a:xfrm xmlns:a="http://schemas.openxmlformats.org/drawingml/2006/main">
            <a:off x="457200" y="274680"/>
            <a:ext cx="8229240" cy="1142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63" name="Google Shape;63;p22">
            <a:extLst xmlns:a="http://schemas.openxmlformats.org/drawingml/2006/main">
              <a:ext uri="{FF2B5EF4-FFF2-40B4-BE49-F238E27FC236}">
                <a16:creationId xmlns:a16="http://schemas.microsoft.com/office/drawing/2014/main" id="{EE09D051-E072-43F3-A46B-D9E6858BF1C7}"/>
              </a:ext>
            </a:extLst>
          </p:cNvPr>
          <p:cNvSpPr>
            <a:spLocks xmlns:a="http://schemas.openxmlformats.org/drawingml/2006/main" noGrp="1"/>
          </p:cNvSpPr>
          <p:nvPr>
            <p:ph type="dt" idx="10"/>
          </p:nvPr>
        </p:nvSpPr>
        <p:spPr>
          <a:xfrm xmlns:a="http://schemas.openxmlformats.org/drawingml/2006/main">
            <a:off x="45720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64" name="Google Shape;64;p22">
            <a:extLst xmlns:a="http://schemas.openxmlformats.org/drawingml/2006/main">
              <a:ext uri="{FF2B5EF4-FFF2-40B4-BE49-F238E27FC236}">
                <a16:creationId xmlns:a16="http://schemas.microsoft.com/office/drawing/2014/main" id="{99785B0A-5AA7-4EF4-ABE2-D476EB907E8E}"/>
              </a:ext>
            </a:extLst>
          </p:cNvPr>
          <p:cNvSpPr>
            <a:spLocks xmlns:a="http://schemas.openxmlformats.org/drawingml/2006/main" noGrp="1"/>
          </p:cNvSpPr>
          <p:nvPr>
            <p:ph type="ftr" idx="11"/>
          </p:nvPr>
        </p:nvSpPr>
        <p:spPr>
          <a:xfrm xmlns:a="http://schemas.openxmlformats.org/drawingml/2006/main">
            <a:off x="3124080" y="6356520"/>
            <a:ext cx="289512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65" name="Google Shape;65;p22">
            <a:extLst xmlns:a="http://schemas.openxmlformats.org/drawingml/2006/main">
              <a:ext uri="{FF2B5EF4-FFF2-40B4-BE49-F238E27FC236}">
                <a16:creationId xmlns:a16="http://schemas.microsoft.com/office/drawing/2014/main" id="{B1455542-2A84-4006-BBAA-9E0A28FCA4EA}"/>
              </a:ext>
            </a:extLst>
          </p:cNvPr>
          <p:cNvSpPr>
            <a:spLocks xmlns:a="http://schemas.openxmlformats.org/drawingml/2006/main" noGrp="1"/>
          </p:cNvSpPr>
          <p:nvPr>
            <p:ph type="sldNum" idx="12"/>
          </p:nvPr>
        </p:nvSpPr>
        <p:spPr>
          <a:xfrm xmlns:a="http://schemas.openxmlformats.org/drawingml/2006/main">
            <a:off x="655308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1pPr>
            <a:lvl2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2pPr>
            <a:lvl3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3pPr>
            <a:lvl4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4pPr>
            <a:lvl5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5pPr>
            <a:lvl6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6pPr>
            <a:lvl7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7pPr>
            <a:lvl8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8pPr>
            <a:lvl9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solidFill>
                <a:srgbClr val="000000"/>
              </a:solidFill>
              <a:latin typeface="Times New Roman"/>
              <a:ea typeface="Times New Roman"/>
              <a:cs typeface="Times New Roman"/>
            </a:endParaRPr>
          </a:p>
        </p:txBody>
      </p:sp>
    </p:spTree>
  </p:cSld>
</p:sldLayout>
</file>

<file path=ppt/slideLayouts/slideLayout10.xml><?xml version="1.0" encoding="utf-8"?>
<p:sldLayout xmlns:p="http://schemas.openxmlformats.org/presentationml/2006/main" matchingName="Content with Caption">
  <p:cSld name="Content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Google Shape;67;p23">
            <a:extLst xmlns:a="http://schemas.openxmlformats.org/drawingml/2006/main">
              <a:ext uri="{FF2B5EF4-FFF2-40B4-BE49-F238E27FC236}">
                <a16:creationId xmlns:a16="http://schemas.microsoft.com/office/drawing/2014/main" id="{27054FB8-DDE1-41E9-8302-441B82948BDE}"/>
              </a:ext>
            </a:extLst>
          </p:cNvPr>
          <p:cNvSpPr>
            <a:spLocks xmlns:a="http://schemas.openxmlformats.org/drawingml/2006/main" noGrp="1"/>
          </p:cNvSpPr>
          <p:nvPr>
            <p:ph type="title" idx="0"/>
          </p:nvPr>
        </p:nvSpPr>
        <p:spPr>
          <a:xfrm xmlns:a="http://schemas.openxmlformats.org/drawingml/2006/main">
            <a:off x="457200" y="272880"/>
            <a:ext cx="3007800" cy="1161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68" name="Google Shape;68;p23">
            <a:extLst xmlns:a="http://schemas.openxmlformats.org/drawingml/2006/main">
              <a:ext uri="{FF2B5EF4-FFF2-40B4-BE49-F238E27FC236}">
                <a16:creationId xmlns:a16="http://schemas.microsoft.com/office/drawing/2014/main" id="{D5787F27-CA0B-430B-AD43-E7D192D49166}"/>
              </a:ext>
            </a:extLst>
          </p:cNvPr>
          <p:cNvSpPr>
            <a:spLocks xmlns:a="http://schemas.openxmlformats.org/drawingml/2006/main" noGrp="1"/>
          </p:cNvSpPr>
          <p:nvPr>
            <p:ph type="body" idx="1"/>
          </p:nvPr>
        </p:nvSpPr>
        <p:spPr>
          <a:xfrm xmlns:a="http://schemas.openxmlformats.org/drawingml/2006/main">
            <a:off x="3575160" y="272880"/>
            <a:ext cx="5111280" cy="585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69" name="Google Shape;69;p23">
            <a:extLst xmlns:a="http://schemas.openxmlformats.org/drawingml/2006/main">
              <a:ext uri="{FF2B5EF4-FFF2-40B4-BE49-F238E27FC236}">
                <a16:creationId xmlns:a16="http://schemas.microsoft.com/office/drawing/2014/main" id="{0B2DF94B-3AC6-4C39-BA14-84A6DF46AC1B}"/>
              </a:ext>
            </a:extLst>
          </p:cNvPr>
          <p:cNvSpPr>
            <a:spLocks xmlns:a="http://schemas.openxmlformats.org/drawingml/2006/main" noGrp="1"/>
          </p:cNvSpPr>
          <p:nvPr>
            <p:ph type="body" idx="2"/>
          </p:nvPr>
        </p:nvSpPr>
        <p:spPr>
          <a:xfrm xmlns:a="http://schemas.openxmlformats.org/drawingml/2006/main">
            <a:off x="457200" y="1434960"/>
            <a:ext cx="3007800" cy="46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70" name="Google Shape;70;p23">
            <a:extLst xmlns:a="http://schemas.openxmlformats.org/drawingml/2006/main">
              <a:ext uri="{FF2B5EF4-FFF2-40B4-BE49-F238E27FC236}">
                <a16:creationId xmlns:a16="http://schemas.microsoft.com/office/drawing/2014/main" id="{60068664-CA45-4E88-A374-CAC563532FBF}"/>
              </a:ext>
            </a:extLst>
          </p:cNvPr>
          <p:cNvSpPr>
            <a:spLocks xmlns:a="http://schemas.openxmlformats.org/drawingml/2006/main" noGrp="1"/>
          </p:cNvSpPr>
          <p:nvPr>
            <p:ph type="dt" idx="10"/>
          </p:nvPr>
        </p:nvSpPr>
        <p:spPr>
          <a:xfrm xmlns:a="http://schemas.openxmlformats.org/drawingml/2006/main">
            <a:off x="45720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71" name="Google Shape;71;p23">
            <a:extLst xmlns:a="http://schemas.openxmlformats.org/drawingml/2006/main">
              <a:ext uri="{FF2B5EF4-FFF2-40B4-BE49-F238E27FC236}">
                <a16:creationId xmlns:a16="http://schemas.microsoft.com/office/drawing/2014/main" id="{71D14D9F-03D5-4581-B410-527D17E28A59}"/>
              </a:ext>
            </a:extLst>
          </p:cNvPr>
          <p:cNvSpPr>
            <a:spLocks xmlns:a="http://schemas.openxmlformats.org/drawingml/2006/main" noGrp="1"/>
          </p:cNvSpPr>
          <p:nvPr>
            <p:ph type="ftr" idx="11"/>
          </p:nvPr>
        </p:nvSpPr>
        <p:spPr>
          <a:xfrm xmlns:a="http://schemas.openxmlformats.org/drawingml/2006/main">
            <a:off x="3124080" y="6356520"/>
            <a:ext cx="289512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72" name="Google Shape;72;p23">
            <a:extLst xmlns:a="http://schemas.openxmlformats.org/drawingml/2006/main">
              <a:ext uri="{FF2B5EF4-FFF2-40B4-BE49-F238E27FC236}">
                <a16:creationId xmlns:a16="http://schemas.microsoft.com/office/drawing/2014/main" id="{D113827D-C002-4C75-829E-30C3214ACA0C}"/>
              </a:ext>
            </a:extLst>
          </p:cNvPr>
          <p:cNvSpPr>
            <a:spLocks xmlns:a="http://schemas.openxmlformats.org/drawingml/2006/main" noGrp="1"/>
          </p:cNvSpPr>
          <p:nvPr>
            <p:ph type="sldNum" idx="12"/>
          </p:nvPr>
        </p:nvSpPr>
        <p:spPr>
          <a:xfrm xmlns:a="http://schemas.openxmlformats.org/drawingml/2006/main">
            <a:off x="655308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1pPr>
            <a:lvl2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2pPr>
            <a:lvl3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3pPr>
            <a:lvl4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4pPr>
            <a:lvl5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5pPr>
            <a:lvl6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6pPr>
            <a:lvl7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7pPr>
            <a:lvl8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8pPr>
            <a:lvl9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solidFill>
                <a:srgbClr val="000000"/>
              </a:solidFill>
              <a:latin typeface="Times New Roman"/>
              <a:ea typeface="Times New Roman"/>
              <a:cs typeface="Times New Roman"/>
            </a:endParaRPr>
          </a:p>
        </p:txBody>
      </p:sp>
    </p:spTree>
  </p:cSld>
</p:sldLayout>
</file>

<file path=ppt/slideLayouts/slideLayout11.xml><?xml version="1.0" encoding="utf-8"?>
<p:sldLayout xmlns:p="http://schemas.openxmlformats.org/presentationml/2006/main" matchingName="Picture with Caption">
  <p:cSld name="Picture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74" name="Google Shape;74;p24">
            <a:extLst xmlns:a="http://schemas.openxmlformats.org/drawingml/2006/main">
              <a:ext uri="{FF2B5EF4-FFF2-40B4-BE49-F238E27FC236}">
                <a16:creationId xmlns:a16="http://schemas.microsoft.com/office/drawing/2014/main" id="{2DCAF0C5-2735-4601-A32B-48A1515C2788}"/>
              </a:ext>
            </a:extLst>
          </p:cNvPr>
          <p:cNvSpPr>
            <a:spLocks xmlns:a="http://schemas.openxmlformats.org/drawingml/2006/main" noGrp="1"/>
          </p:cNvSpPr>
          <p:nvPr>
            <p:ph type="title" idx="0"/>
          </p:nvPr>
        </p:nvSpPr>
        <p:spPr>
          <a:xfrm xmlns:a="http://schemas.openxmlformats.org/drawingml/2006/main">
            <a:off x="1792440" y="4800600"/>
            <a:ext cx="5486040" cy="566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75" name="Google Shape;75;p24">
            <a:extLst xmlns:a="http://schemas.openxmlformats.org/drawingml/2006/main">
              <a:ext uri="{FF2B5EF4-FFF2-40B4-BE49-F238E27FC236}">
                <a16:creationId xmlns:a16="http://schemas.microsoft.com/office/drawing/2014/main" id="{C68F7F47-59CD-4A39-A0C7-8E97D062AEB8}"/>
              </a:ext>
            </a:extLst>
          </p:cNvPr>
          <p:cNvSpPr>
            <a:spLocks xmlns:a="http://schemas.openxmlformats.org/drawingml/2006/main" noGrp="1"/>
          </p:cNvSpPr>
          <p:nvPr>
            <p:ph type="body" idx="1"/>
          </p:nvPr>
        </p:nvSpPr>
        <p:spPr>
          <a:xfrm xmlns:a="http://schemas.openxmlformats.org/drawingml/2006/main">
            <a:off x="1792440" y="612720"/>
            <a:ext cx="5486040" cy="411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0" tIns="45000" rIns="90000" bIns="4500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76" name="Google Shape;76;p24">
            <a:extLst xmlns:a="http://schemas.openxmlformats.org/drawingml/2006/main">
              <a:ext uri="{FF2B5EF4-FFF2-40B4-BE49-F238E27FC236}">
                <a16:creationId xmlns:a16="http://schemas.microsoft.com/office/drawing/2014/main" id="{20DE55AF-EF91-471C-B2AF-0BCAFB37B24B}"/>
              </a:ext>
            </a:extLst>
          </p:cNvPr>
          <p:cNvSpPr>
            <a:spLocks xmlns:a="http://schemas.openxmlformats.org/drawingml/2006/main" noGrp="1"/>
          </p:cNvSpPr>
          <p:nvPr>
            <p:ph type="body" idx="2"/>
          </p:nvPr>
        </p:nvSpPr>
        <p:spPr>
          <a:xfrm xmlns:a="http://schemas.openxmlformats.org/drawingml/2006/main">
            <a:off x="1792440" y="5367240"/>
            <a:ext cx="5486040" cy="80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77" name="Google Shape;77;p24">
            <a:extLst xmlns:a="http://schemas.openxmlformats.org/drawingml/2006/main">
              <a:ext uri="{FF2B5EF4-FFF2-40B4-BE49-F238E27FC236}">
                <a16:creationId xmlns:a16="http://schemas.microsoft.com/office/drawing/2014/main" id="{67CB3489-7CFA-46F3-8AEE-8AADE2793A9B}"/>
              </a:ext>
            </a:extLst>
          </p:cNvPr>
          <p:cNvSpPr>
            <a:spLocks xmlns:a="http://schemas.openxmlformats.org/drawingml/2006/main" noGrp="1"/>
          </p:cNvSpPr>
          <p:nvPr>
            <p:ph type="dt" idx="10"/>
          </p:nvPr>
        </p:nvSpPr>
        <p:spPr>
          <a:xfrm xmlns:a="http://schemas.openxmlformats.org/drawingml/2006/main">
            <a:off x="45720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78" name="Google Shape;78;p24">
            <a:extLst xmlns:a="http://schemas.openxmlformats.org/drawingml/2006/main">
              <a:ext uri="{FF2B5EF4-FFF2-40B4-BE49-F238E27FC236}">
                <a16:creationId xmlns:a16="http://schemas.microsoft.com/office/drawing/2014/main" id="{637ABD1B-EEEF-4F65-9922-9864EE534C43}"/>
              </a:ext>
            </a:extLst>
          </p:cNvPr>
          <p:cNvSpPr>
            <a:spLocks xmlns:a="http://schemas.openxmlformats.org/drawingml/2006/main" noGrp="1"/>
          </p:cNvSpPr>
          <p:nvPr>
            <p:ph type="ftr" idx="11"/>
          </p:nvPr>
        </p:nvSpPr>
        <p:spPr>
          <a:xfrm xmlns:a="http://schemas.openxmlformats.org/drawingml/2006/main">
            <a:off x="3124080" y="6356520"/>
            <a:ext cx="289512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defRPr>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79" name="Google Shape;79;p24">
            <a:extLst xmlns:a="http://schemas.openxmlformats.org/drawingml/2006/main">
              <a:ext uri="{FF2B5EF4-FFF2-40B4-BE49-F238E27FC236}">
                <a16:creationId xmlns:a16="http://schemas.microsoft.com/office/drawing/2014/main" id="{C8F447E6-6550-43B5-9BDC-BB35ACCAD27E}"/>
              </a:ext>
            </a:extLst>
          </p:cNvPr>
          <p:cNvSpPr>
            <a:spLocks xmlns:a="http://schemas.openxmlformats.org/drawingml/2006/main" noGrp="1"/>
          </p:cNvSpPr>
          <p:nvPr>
            <p:ph type="sldNum" idx="12"/>
          </p:nvPr>
        </p:nvSpPr>
        <p:spPr>
          <a:xfrm xmlns:a="http://schemas.openxmlformats.org/drawingml/2006/main">
            <a:off x="6553080" y="6356520"/>
            <a:ext cx="2133360" cy="364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1pPr>
            <a:lvl2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2pPr>
            <a:lvl3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3pPr>
            <a:lvl4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4pPr>
            <a:lvl5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5pPr>
            <a:lvl6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6pPr>
            <a:lvl7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7pPr>
            <a:lvl8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8pPr>
            <a:lvl9pPr marL="0" marR="0" indent="0" algn="r">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solidFill>
                <a:srgbClr val="000000"/>
              </a:solidFill>
              <a:latin typeface="Times New Roman"/>
              <a:ea typeface="Times New Roman"/>
              <a:cs typeface="Times New Roma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eb5e82f011494a" /><Relationship Type="http://schemas.openxmlformats.org/officeDocument/2006/relationships/slideLayout" Target="/ppt/slideLayouts/slideLayout1.xml" Id="Rd3c0133fdb654c33" /><Relationship Type="http://schemas.openxmlformats.org/officeDocument/2006/relationships/slideLayout" Target="/ppt/slideLayouts/slideLayout2.xml" Id="Rbd3aa70d2af14cff" /><Relationship Type="http://schemas.openxmlformats.org/officeDocument/2006/relationships/slideLayout" Target="/ppt/slideLayouts/slideLayout3.xml" Id="R4425ec367b9d485c" /><Relationship Type="http://schemas.openxmlformats.org/officeDocument/2006/relationships/slideLayout" Target="/ppt/slideLayouts/slideLayout4.xml" Id="R8fe69585aa104917" /><Relationship Type="http://schemas.openxmlformats.org/officeDocument/2006/relationships/slideLayout" Target="/ppt/slideLayouts/slideLayout5.xml" Id="Rbf5dd02983e24dab" /><Relationship Type="http://schemas.openxmlformats.org/officeDocument/2006/relationships/slideLayout" Target="/ppt/slideLayouts/slideLayout6.xml" Id="R206bfd996bb54c08" /><Relationship Type="http://schemas.openxmlformats.org/officeDocument/2006/relationships/slideLayout" Target="/ppt/slideLayouts/slideLayout7.xml" Id="R1663856a9aca433d" /><Relationship Type="http://schemas.openxmlformats.org/officeDocument/2006/relationships/slideLayout" Target="/ppt/slideLayouts/slideLayout8.xml" Id="Rf9109903856e4840" /><Relationship Type="http://schemas.openxmlformats.org/officeDocument/2006/relationships/slideLayout" Target="/ppt/slideLayouts/slideLayout9.xml" Id="R5e4d56c028d147f8" /><Relationship Type="http://schemas.openxmlformats.org/officeDocument/2006/relationships/slideLayout" Target="/ppt/slideLayouts/slideLayout10.xml" Id="R7022f18c83004084" /><Relationship Type="http://schemas.openxmlformats.org/officeDocument/2006/relationships/slideLayout" Target="/ppt/slideLayouts/slideLayout11.xml" Id="R15542085541c4a6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3c0133fdb654c33"/>
    <p:sldLayoutId xmlns:r="http://schemas.openxmlformats.org/officeDocument/2006/relationships" id="2147483650" r:id="Rbd3aa70d2af14cff"/>
    <p:sldLayoutId xmlns:r="http://schemas.openxmlformats.org/officeDocument/2006/relationships" id="2147483651" r:id="R4425ec367b9d485c"/>
    <p:sldLayoutId xmlns:r="http://schemas.openxmlformats.org/officeDocument/2006/relationships" id="2147483652" r:id="R8fe69585aa104917"/>
    <p:sldLayoutId xmlns:r="http://schemas.openxmlformats.org/officeDocument/2006/relationships" id="2147483653" r:id="Rbf5dd02983e24dab"/>
    <p:sldLayoutId xmlns:r="http://schemas.openxmlformats.org/officeDocument/2006/relationships" id="2147483654" r:id="R206bfd996bb54c08"/>
    <p:sldLayoutId xmlns:r="http://schemas.openxmlformats.org/officeDocument/2006/relationships" id="2147483655" r:id="R1663856a9aca433d"/>
    <p:sldLayoutId xmlns:r="http://schemas.openxmlformats.org/officeDocument/2006/relationships" id="2147483656" r:id="Rf9109903856e4840"/>
    <p:sldLayoutId xmlns:r="http://schemas.openxmlformats.org/officeDocument/2006/relationships" id="2147483657" r:id="R5e4d56c028d147f8"/>
    <p:sldLayoutId xmlns:r="http://schemas.openxmlformats.org/officeDocument/2006/relationships" id="2147483658" r:id="R7022f18c83004084"/>
    <p:sldLayoutId xmlns:r="http://schemas.openxmlformats.org/officeDocument/2006/relationships" id="2147483659" r:id="R15542085541c4a6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b584bc357247fd" /><Relationship Type="http://schemas.openxmlformats.org/officeDocument/2006/relationships/notesSlide" Target="/ppt/notesSlides/notesSlide1.xml" Id="R323f25fd43e940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e2380ca9ca4905" /><Relationship Type="http://schemas.openxmlformats.org/officeDocument/2006/relationships/notesSlide" Target="/ppt/notesSlides/notesSlide2.xml" Id="R271a9233aaf346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71386cbc094a74" /><Relationship Type="http://schemas.openxmlformats.org/officeDocument/2006/relationships/notesSlide" Target="/ppt/notesSlides/notesSlide3.xml" Id="R8745ebb9a61a44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9a6921a03a4c4d" /><Relationship Type="http://schemas.openxmlformats.org/officeDocument/2006/relationships/notesSlide" Target="/ppt/notesSlides/notesSlide4.xml" Id="R8ef08e63325d4b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734c4ba94f40bb" /><Relationship Type="http://schemas.openxmlformats.org/officeDocument/2006/relationships/notesSlide" Target="/ppt/notesSlides/notesSlide5.xml" Id="R1c130bb95d9441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5fb0fa725b4176" /><Relationship Type="http://schemas.openxmlformats.org/officeDocument/2006/relationships/notesSlide" Target="/ppt/notesSlides/notesSlide6.xml" Id="R03760681f6f240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2f4942c848040d6" /><Relationship Type="http://schemas.openxmlformats.org/officeDocument/2006/relationships/notesSlide" Target="/ppt/notesSlides/notesSlide7.xml" Id="Rc37157c48cbb4f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81af565add4956" /><Relationship Type="http://schemas.openxmlformats.org/officeDocument/2006/relationships/notesSlide" Target="/ppt/notesSlides/notesSlide8.xml" Id="Rc900f494cb4e4b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8f99f19c8e49af" /><Relationship Type="http://schemas.openxmlformats.org/officeDocument/2006/relationships/notesSlide" Target="/ppt/notesSlides/notesSlide9.xml" Id="R5219c2a4c78440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7a2adfcc634e0e" /><Relationship Type="http://schemas.openxmlformats.org/officeDocument/2006/relationships/chart" Target="/ppt/slides/charts/chart1.xml" Id="R0449310a23eb4d46" /><Relationship Type="http://schemas.openxmlformats.org/officeDocument/2006/relationships/notesSlide" Target="/ppt/notesSlides/notesSlide10.xml" Id="Rff1348b8fb2a46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a3dcac713754dd1" /><Relationship Type="http://schemas.openxmlformats.org/officeDocument/2006/relationships/notesSlide" Target="/ppt/notesSlides/notesSlide11.xml" Id="Rb4c6e25d96aa44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6abc80d39a4b7e" /><Relationship Type="http://schemas.openxmlformats.org/officeDocument/2006/relationships/notesSlide" Target="/ppt/notesSlides/notesSlide12.xml" Id="Rcd1ceaa73cf54d6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TP</c:v>
          </c:tx>
          <c:spPr>
            <a:ln xmlns:a="http://schemas.openxmlformats.org/drawingml/2006/main" w="21908">
              <a:solidFill>
                <a:srgbClr val="397A7C"/>
              </a:solidFill>
            </a:ln>
          </c:spPr>
          <c:marker>
            <c:symbol val="none"/>
          </c:marker>
          <c:cat>
            <c:numRef>
              <c:f>'Chart Data'!$A$2:$A$3</c:f>
              <c:numCache>
                <c:formatCode>0</c:formatCode>
                <c:ptCount val="2"/>
                <c:pt idx="0">
                  <c:v>0</c:v>
                </c:pt>
                <c:pt idx="1">
                  <c:v>1</c:v>
                </c:pt>
              </c:numCache>
            </c:numRef>
          </c:cat>
          <c:val>
            <c:numRef>
              <c:f>'Chart Data'!$B$2:$B$3</c:f>
              <c:numCache>
                <c:formatCode>0%</c:formatCode>
                <c:ptCount val="2"/>
                <c:pt idx="0">
                  <c:v>0.0695953</c:v>
                </c:pt>
                <c:pt idx="1">
                  <c:v>0.10436903</c:v>
                </c:pt>
              </c:numCache>
            </c:numRef>
          </c:val>
          <c:smooth val="0"/>
        </c:ser>
        <c:ser>
          <c:idx val="1"/>
          <c:order val="1"/>
          <c:tx>
            <c:v>FP</c:v>
          </c:tx>
          <c:spPr>
            <a:ln xmlns:a="http://schemas.openxmlformats.org/drawingml/2006/main" w="21908">
              <a:solidFill>
                <a:srgbClr val="BE7E5B"/>
              </a:solidFill>
            </a:ln>
          </c:spPr>
          <c:marker>
            <c:symbol val="none"/>
          </c:marker>
          <c:cat>
            <c:numRef>
              <c:f>'Chart Data'!$C$2:$C$3</c:f>
              <c:numCache>
                <c:formatCode>0</c:formatCode>
                <c:ptCount val="2"/>
                <c:pt idx="0">
                  <c:v>0</c:v>
                </c:pt>
                <c:pt idx="1">
                  <c:v>1</c:v>
                </c:pt>
              </c:numCache>
            </c:numRef>
          </c:cat>
          <c:val>
            <c:numRef>
              <c:f>'Chart Data'!$D$2:$D$3</c:f>
              <c:numCache>
                <c:formatCode>0%</c:formatCode>
                <c:ptCount val="2"/>
                <c:pt idx="0">
                  <c:v>0.10523098</c:v>
                </c:pt>
                <c:pt idx="1">
                  <c:v>0.12406044</c:v>
                </c:pt>
              </c:numCache>
            </c:numRef>
          </c:val>
          <c:smooth val="0"/>
        </c:ser>
        <c:ser>
          <c:idx val="2"/>
          <c:order val="2"/>
          <c:tx>
            <c:v>FN</c:v>
          </c:tx>
          <c:spPr>
            <a:ln xmlns:a="http://schemas.openxmlformats.org/drawingml/2006/main" w="21908">
              <a:solidFill>
                <a:srgbClr val="B83F35"/>
              </a:solidFill>
            </a:ln>
          </c:spPr>
          <c:marker>
            <c:symbol val="none"/>
          </c:marker>
          <c:cat>
            <c:numRef>
              <c:f>'Chart Data'!$E$2:$E$3</c:f>
              <c:numCache>
                <c:formatCode>0</c:formatCode>
                <c:ptCount val="2"/>
                <c:pt idx="0">
                  <c:v>0</c:v>
                </c:pt>
                <c:pt idx="1">
                  <c:v>1</c:v>
                </c:pt>
              </c:numCache>
            </c:numRef>
          </c:cat>
          <c:val>
            <c:numRef>
              <c:f>'Chart Data'!$F$2:$F$3</c:f>
              <c:numCache>
                <c:formatCode>0%</c:formatCode>
                <c:ptCount val="2"/>
                <c:pt idx="0">
                  <c:v>0.07032252</c:v>
                </c:pt>
                <c:pt idx="1">
                  <c:v>0.11088926</c:v>
                </c:pt>
              </c:numCache>
            </c:numRef>
          </c:val>
          <c:smooth val="0"/>
        </c:ser>
        <c:ser>
          <c:idx val="3"/>
          <c:order val="3"/>
          <c:tx>
            <c:v>TN</c:v>
          </c:tx>
          <c:spPr>
            <a:ln xmlns:a="http://schemas.openxmlformats.org/drawingml/2006/main" w="21908">
              <a:solidFill>
                <a:srgbClr val="56869F"/>
              </a:solidFill>
            </a:ln>
          </c:spPr>
          <c:marker>
            <c:symbol val="none"/>
          </c:marker>
          <c:cat>
            <c:numRef>
              <c:f>'Chart Data'!$G$2:$G$3</c:f>
              <c:numCache>
                <c:formatCode>0</c:formatCode>
                <c:ptCount val="2"/>
                <c:pt idx="0">
                  <c:v>0</c:v>
                </c:pt>
                <c:pt idx="1">
                  <c:v>1</c:v>
                </c:pt>
              </c:numCache>
            </c:numRef>
          </c:cat>
          <c:val>
            <c:numRef>
              <c:f>'Chart Data'!$H$2:$H$3</c:f>
              <c:numCache>
                <c:formatCode>0%</c:formatCode>
                <c:ptCount val="2"/>
                <c:pt idx="0">
                  <c:v>0.06521247</c:v>
                </c:pt>
                <c:pt idx="1">
                  <c:v>0.09099862</c:v>
                </c:pt>
              </c:numCache>
            </c:numRef>
          </c:val>
          <c:smooth val="0"/>
        </c:ser>
        <c:ser>
          <c:idx val="4"/>
          <c:order val="4"/>
          <c:tx>
            <c:v>Mean</c:v>
          </c:tx>
          <c:spPr>
            <a:ln xmlns:a="http://schemas.openxmlformats.org/drawingml/2006/main" w="28575">
              <a:solidFill>
                <a:srgbClr val="1C3138"/>
              </a:solidFill>
            </a:ln>
          </c:spPr>
          <c:marker>
            <c:symbol val="none"/>
          </c:marker>
          <c:cat>
            <c:numRef>
              <c:f>'Chart Data'!$I$2:$I$3</c:f>
              <c:numCache>
                <c:formatCode>0</c:formatCode>
                <c:ptCount val="2"/>
                <c:pt idx="0">
                  <c:v>0</c:v>
                </c:pt>
                <c:pt idx="1">
                  <c:v>1</c:v>
                </c:pt>
              </c:numCache>
            </c:numRef>
          </c:cat>
          <c:val>
            <c:numRef>
              <c:f>'Chart Data'!$J$2:$J$3</c:f>
              <c:numCache>
                <c:formatCode>0%</c:formatCode>
                <c:ptCount val="2"/>
                <c:pt idx="0">
                  <c:v>0.08371259</c:v>
                </c:pt>
                <c:pt idx="1">
                  <c:v>0.11710994</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crossBetween val="between"/>
      </c:valAx>
      <c:spPr>
        <a:solidFill xmlns:a="http://schemas.openxmlformats.org/drawingml/2006/main">
          <a:srgbClr val="F9F8F5"/>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9F8F5"/>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5" name="Google Shape;85;p1">
            <a:extLst xmlns:a="http://schemas.openxmlformats.org/drawingml/2006/main">
              <a:ext uri="{FF2B5EF4-FFF2-40B4-BE49-F238E27FC236}">
                <a16:creationId xmlns:a16="http://schemas.microsoft.com/office/drawing/2014/main" id="{DBED0694-B113-4725-8622-CDE1221C9B73}"/>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1C3138"/>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86" name="Google Shape;86;p1">
            <a:extLst xmlns:a="http://schemas.openxmlformats.org/drawingml/2006/main">
              <a:ext uri="{FF2B5EF4-FFF2-40B4-BE49-F238E27FC236}">
                <a16:creationId xmlns:a16="http://schemas.microsoft.com/office/drawing/2014/main" id="{8DB0D331-35B7-4D2B-919A-0BD530CA1951}"/>
              </a:ext>
            </a:extLst>
          </p:cNvPr>
          <p:cNvSpPr>
            <a:spLocks xmlns:a="http://schemas.openxmlformats.org/drawingml/2006/main" noGrp="1"/>
          </p:cNvSpPr>
          <p:nvPr/>
        </p:nvSpPr>
        <p:spPr>
          <a:xfrm xmlns:a="http://schemas.openxmlformats.org/drawingml/2006/main">
            <a:off x="9253800" y="438840"/>
            <a:ext cx="2285640" cy="209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000" b="1" i="0" u="none" strike="noStrike" cap="none">
                <a:solidFill>
                  <a:srgbClr val="C4D6D5"/>
                </a:solidFill>
                <a:latin typeface="Arial"/>
                <a:ea typeface="Arial"/>
                <a:cs typeface="Arial"/>
              </a:rPr>
              <a:t>TECHNICAL </a:t>
            </a:r>
            <a:r>
              <a:rPr sz="1000" b="1">
                <a:solidFill>
                  <a:srgbClr val="C4D6D5"/>
                </a:solidFill>
              </a:rPr>
              <a:t>PRESENTATION</a:t>
            </a:r>
            <a:endParaRPr sz="1000" b="0" i="0" u="none" strike="noStrike" cap="none">
              <a:solidFill>
                <a:srgbClr val="000000"/>
              </a:solidFill>
              <a:latin typeface="Arial"/>
              <a:ea typeface="Arial"/>
              <a:cs typeface="Arial"/>
            </a:endParaRPr>
          </a:p>
        </p:txBody>
      </p:sp>
      <p:cxnSp>
        <p:nvCxnSpPr>
          <p:cNvPr id="87" name="Google Shape;87;p1">
            <a:extLst xmlns:a="http://schemas.openxmlformats.org/drawingml/2006/main">
              <a:ext uri="{FF2B5EF4-FFF2-40B4-BE49-F238E27FC236}">
                <a16:creationId xmlns:a16="http://schemas.microsoft.com/office/drawing/2014/main" id="{11A177C6-E86F-49D8-83A1-5D0504A3C630}"/>
              </a:ext>
            </a:extLst>
          </p:cNvPr>
          <p:cNvCxnSpPr/>
          <p:nvPr/>
        </p:nvCxnSpPr>
        <p:spPr>
          <a:xfrm xmlns:a="http://schemas.openxmlformats.org/drawingml/2006/main">
            <a:off x="658080" y="859320"/>
            <a:ext cx="10900080" cy="360"/>
          </a:xfrm>
          <a:prstGeom xmlns:a="http://schemas.openxmlformats.org/drawingml/2006/main" prst="straightConnector1">
            <a:avLst/>
          </a:prstGeom>
          <a:ln xmlns:a="http://schemas.openxmlformats.org/drawingml/2006/main" w="9525" cap="flat">
            <a:solidFill>
              <a:srgbClr val="C4D6D5"/>
            </a:solidFill>
            <a:prstDash val="solid"/>
            <a:round/>
            <a:headEnd type="none" w="sm" len="sm"/>
            <a:tailEnd type="none" w="sm" len="sm"/>
          </a:ln>
        </p:spPr>
      </p:cxnSp>
      <p:sp>
        <p:nvSpPr>
          <p:cNvPr id="88" name="Google Shape;88;p1">
            <a:extLst xmlns:a="http://schemas.openxmlformats.org/drawingml/2006/main">
              <a:ext uri="{FF2B5EF4-FFF2-40B4-BE49-F238E27FC236}">
                <a16:creationId xmlns:a16="http://schemas.microsoft.com/office/drawing/2014/main" id="{4D884B1A-C99D-4F15-81C6-10E38953FA26}"/>
              </a:ext>
            </a:extLst>
          </p:cNvPr>
          <p:cNvSpPr>
            <a:spLocks xmlns:a="http://schemas.openxmlformats.org/drawingml/2006/main" noGrp="1"/>
          </p:cNvSpPr>
          <p:nvPr/>
        </p:nvSpPr>
        <p:spPr>
          <a:xfrm xmlns:a="http://schemas.openxmlformats.org/drawingml/2006/main">
            <a:off x="676800" y="1444680"/>
            <a:ext cx="100080" cy="193824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89" name="Google Shape;89;p1">
            <a:extLst xmlns:a="http://schemas.openxmlformats.org/drawingml/2006/main">
              <a:ext uri="{FF2B5EF4-FFF2-40B4-BE49-F238E27FC236}">
                <a16:creationId xmlns:a16="http://schemas.microsoft.com/office/drawing/2014/main" id="{EC9F0DD3-C141-4A13-A37F-1A91BAE48165}"/>
              </a:ext>
            </a:extLst>
          </p:cNvPr>
          <p:cNvSpPr>
            <a:spLocks xmlns:a="http://schemas.openxmlformats.org/drawingml/2006/main" noGrp="1"/>
          </p:cNvSpPr>
          <p:nvPr/>
        </p:nvSpPr>
        <p:spPr>
          <a:xfrm xmlns:a="http://schemas.openxmlformats.org/drawingml/2006/main">
            <a:off x="1014840" y="1334880"/>
            <a:ext cx="9738000" cy="1599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3400" b="1" i="0" u="none" strike="noStrike" cap="none">
                <a:solidFill>
                  <a:srgbClr val="FFFFFF"/>
                </a:solidFill>
                <a:latin typeface="Georgia"/>
                <a:ea typeface="Georgia"/>
                <a:cs typeface="Georgia"/>
              </a:rPr>
              <a:t>Predicting 30-day hospital</a:t>
            </a:r>
            <a:endParaRPr sz="3400" b="0" i="0" u="none" strike="noStrike" cap="none">
              <a:solidFill>
                <a:srgbClr val="000000"/>
              </a:solidFill>
              <a:latin typeface="Arial"/>
              <a:ea typeface="Arial"/>
              <a:cs typeface="Arial"/>
            </a:endParaRPr>
          </a:p>
          <a:p xmlns:a="http://schemas.openxmlformats.org/drawingml/2006/main">
            <a:pPr marL="0" marR="0" lvl="0" indent="0" algn="l">
              <a:lnSpc>
                <a:spcPct val="105000"/>
              </a:lnSpc>
              <a:spcBef>
                <a:spcPts val="0"/>
              </a:spcBef>
              <a:spcAft>
                <a:spcPts val="0"/>
              </a:spcAft>
              <a:buNone/>
            </a:pPr>
            <a:r>
              <a:rPr sz="3400" b="1" i="0" u="none" strike="noStrike" cap="none">
                <a:solidFill>
                  <a:srgbClr val="FFFFFF"/>
                </a:solidFill>
                <a:latin typeface="Georgia"/>
                <a:ea typeface="Georgia"/>
                <a:cs typeface="Georgia"/>
              </a:rPr>
              <a:t>readmission in patients with diabetes</a:t>
            </a:r>
            <a:endParaRPr sz="3400" b="0" i="0" u="none" strike="noStrike" cap="none">
              <a:solidFill>
                <a:srgbClr val="000000"/>
              </a:solidFill>
              <a:latin typeface="Arial"/>
              <a:ea typeface="Arial"/>
              <a:cs typeface="Arial"/>
            </a:endParaRPr>
          </a:p>
        </p:txBody>
      </p:sp>
      <p:sp>
        <p:nvSpPr>
          <p:cNvPr id="90" name="Google Shape;90;p1">
            <a:extLst xmlns:a="http://schemas.openxmlformats.org/drawingml/2006/main">
              <a:ext uri="{FF2B5EF4-FFF2-40B4-BE49-F238E27FC236}">
                <a16:creationId xmlns:a16="http://schemas.microsoft.com/office/drawing/2014/main" id="{0EC1C3A6-CF8B-4C2F-946C-FB48A1C05983}"/>
              </a:ext>
            </a:extLst>
          </p:cNvPr>
          <p:cNvSpPr>
            <a:spLocks xmlns:a="http://schemas.openxmlformats.org/drawingml/2006/main" noGrp="1"/>
          </p:cNvSpPr>
          <p:nvPr/>
        </p:nvSpPr>
        <p:spPr>
          <a:xfrm xmlns:a="http://schemas.openxmlformats.org/drawingml/2006/main">
            <a:off x="1024200" y="3310200"/>
            <a:ext cx="9738000" cy="429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800" b="0" i="0" u="none" strike="noStrike" cap="none">
                <a:solidFill>
                  <a:srgbClr val="C4D6D5"/>
                </a:solidFill>
                <a:latin typeface="Arial"/>
                <a:ea typeface="Arial"/>
                <a:cs typeface="Arial"/>
              </a:rPr>
              <a:t>Evidence-led risk ranking at the point of discharge</a:t>
            </a:r>
            <a:endParaRPr sz="1800" b="0" i="0" u="none" strike="noStrike" cap="none">
              <a:solidFill>
                <a:srgbClr val="000000"/>
              </a:solidFill>
              <a:latin typeface="Arial"/>
              <a:ea typeface="Arial"/>
              <a:cs typeface="Arial"/>
            </a:endParaRPr>
          </a:p>
        </p:txBody>
      </p:sp>
      <p:cxnSp>
        <p:nvCxnSpPr>
          <p:cNvPr id="91" name="Google Shape;91;p1">
            <a:extLst xmlns:a="http://schemas.openxmlformats.org/drawingml/2006/main">
              <a:ext uri="{FF2B5EF4-FFF2-40B4-BE49-F238E27FC236}">
                <a16:creationId xmlns:a16="http://schemas.microsoft.com/office/drawing/2014/main" id="{BE16EA6F-F06F-4CCE-8D6C-2248231BF9A0}"/>
              </a:ext>
            </a:extLst>
          </p:cNvPr>
          <p:cNvCxnSpPr/>
          <p:nvPr/>
        </p:nvCxnSpPr>
        <p:spPr>
          <a:xfrm xmlns:a="http://schemas.openxmlformats.org/drawingml/2006/main">
            <a:off x="1005840" y="4005000"/>
            <a:ext cx="10076760" cy="360"/>
          </a:xfrm>
          <a:prstGeom xmlns:a="http://schemas.openxmlformats.org/drawingml/2006/main" prst="straightConnector1">
            <a:avLst/>
          </a:prstGeom>
          <a:ln xmlns:a="http://schemas.openxmlformats.org/drawingml/2006/main" w="9525" cap="flat">
            <a:solidFill>
              <a:srgbClr val="C4D6D5"/>
            </a:solidFill>
            <a:prstDash val="solid"/>
            <a:round/>
            <a:headEnd type="none" w="sm" len="sm"/>
            <a:tailEnd type="none" w="sm" len="sm"/>
          </a:ln>
        </p:spPr>
      </p:cxnSp>
      <p:sp>
        <p:nvSpPr>
          <p:cNvPr id="92" name="Google Shape;92;p1">
            <a:extLst xmlns:a="http://schemas.openxmlformats.org/drawingml/2006/main">
              <a:ext uri="{FF2B5EF4-FFF2-40B4-BE49-F238E27FC236}">
                <a16:creationId xmlns:a16="http://schemas.microsoft.com/office/drawing/2014/main" id="{04B93C05-F0F6-410C-A679-5E572C9B84A5}"/>
              </a:ext>
            </a:extLst>
          </p:cNvPr>
          <p:cNvSpPr>
            <a:spLocks xmlns:a="http://schemas.openxmlformats.org/drawingml/2006/main" noGrp="1"/>
          </p:cNvSpPr>
          <p:nvPr/>
        </p:nvSpPr>
        <p:spPr>
          <a:xfrm xmlns:a="http://schemas.openxmlformats.org/drawingml/2006/main">
            <a:off x="1024200" y="4343400"/>
            <a:ext cx="3273120" cy="529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3200" b="1" i="0" u="none" strike="noStrike" cap="none">
                <a:solidFill>
                  <a:srgbClr val="FFFFFF"/>
                </a:solidFill>
                <a:latin typeface="Arial"/>
                <a:ea typeface="Arial"/>
                <a:cs typeface="Arial"/>
              </a:rPr>
              <a:t>69,970</a:t>
            </a:r>
            <a:endParaRPr sz="3200" b="0" i="0" u="none" strike="noStrike" cap="none">
              <a:solidFill>
                <a:srgbClr val="000000"/>
              </a:solidFill>
              <a:latin typeface="Arial"/>
              <a:ea typeface="Arial"/>
              <a:cs typeface="Arial"/>
            </a:endParaRPr>
          </a:p>
        </p:txBody>
      </p:sp>
      <p:sp>
        <p:nvSpPr>
          <p:cNvPr id="93" name="Google Shape;93;p1">
            <a:extLst xmlns:a="http://schemas.openxmlformats.org/drawingml/2006/main">
              <a:ext uri="{FF2B5EF4-FFF2-40B4-BE49-F238E27FC236}">
                <a16:creationId xmlns:a16="http://schemas.microsoft.com/office/drawing/2014/main" id="{08E0597B-302D-426D-9E15-0D72278A6AF7}"/>
              </a:ext>
            </a:extLst>
          </p:cNvPr>
          <p:cNvSpPr>
            <a:spLocks xmlns:a="http://schemas.openxmlformats.org/drawingml/2006/main" noGrp="1"/>
          </p:cNvSpPr>
          <p:nvPr/>
        </p:nvSpPr>
        <p:spPr>
          <a:xfrm xmlns:a="http://schemas.openxmlformats.org/drawingml/2006/main">
            <a:off x="1024200" y="5001840"/>
            <a:ext cx="3200040" cy="28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C4D6D5"/>
                </a:solidFill>
                <a:latin typeface="Arial"/>
                <a:ea typeface="Arial"/>
                <a:cs typeface="Arial"/>
              </a:rPr>
              <a:t>Patients analyzed</a:t>
            </a:r>
            <a:endParaRPr sz="1300" b="0" i="0" u="none" strike="noStrike" cap="none">
              <a:solidFill>
                <a:srgbClr val="000000"/>
              </a:solidFill>
              <a:latin typeface="Arial"/>
              <a:ea typeface="Arial"/>
              <a:cs typeface="Arial"/>
            </a:endParaRPr>
          </a:p>
        </p:txBody>
      </p:sp>
      <p:sp>
        <p:nvSpPr>
          <p:cNvPr id="94" name="Google Shape;94;p1">
            <a:extLst xmlns:a="http://schemas.openxmlformats.org/drawingml/2006/main">
              <a:ext uri="{FF2B5EF4-FFF2-40B4-BE49-F238E27FC236}">
                <a16:creationId xmlns:a16="http://schemas.microsoft.com/office/drawing/2014/main" id="{3788D420-1B07-44C4-BF85-D00958AF1B6C}"/>
              </a:ext>
            </a:extLst>
          </p:cNvPr>
          <p:cNvSpPr>
            <a:spLocks xmlns:a="http://schemas.openxmlformats.org/drawingml/2006/main" noGrp="1"/>
          </p:cNvSpPr>
          <p:nvPr/>
        </p:nvSpPr>
        <p:spPr>
          <a:xfrm xmlns:a="http://schemas.openxmlformats.org/drawingml/2006/main">
            <a:off x="4626720" y="4343400"/>
            <a:ext cx="3273120" cy="529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3200" b="1" i="0" u="none" strike="noStrike" cap="none">
                <a:solidFill>
                  <a:srgbClr val="FFFFFF"/>
                </a:solidFill>
                <a:latin typeface="Arial"/>
                <a:ea typeface="Arial"/>
                <a:cs typeface="Arial"/>
              </a:rPr>
              <a:t>8.97%</a:t>
            </a:r>
            <a:endParaRPr sz="3200" b="0" i="0" u="none" strike="noStrike" cap="none">
              <a:solidFill>
                <a:srgbClr val="000000"/>
              </a:solidFill>
              <a:latin typeface="Arial"/>
              <a:ea typeface="Arial"/>
              <a:cs typeface="Arial"/>
            </a:endParaRPr>
          </a:p>
        </p:txBody>
      </p:sp>
      <p:sp>
        <p:nvSpPr>
          <p:cNvPr id="95" name="Google Shape;95;p1">
            <a:extLst xmlns:a="http://schemas.openxmlformats.org/drawingml/2006/main">
              <a:ext uri="{FF2B5EF4-FFF2-40B4-BE49-F238E27FC236}">
                <a16:creationId xmlns:a16="http://schemas.microsoft.com/office/drawing/2014/main" id="{751817BF-BF49-4203-9C15-F3B4A39475D9}"/>
              </a:ext>
            </a:extLst>
          </p:cNvPr>
          <p:cNvSpPr>
            <a:spLocks xmlns:a="http://schemas.openxmlformats.org/drawingml/2006/main" noGrp="1"/>
          </p:cNvSpPr>
          <p:nvPr/>
        </p:nvSpPr>
        <p:spPr>
          <a:xfrm xmlns:a="http://schemas.openxmlformats.org/drawingml/2006/main">
            <a:off x="4626720" y="5001840"/>
            <a:ext cx="3200040" cy="28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C4D6D5"/>
                </a:solidFill>
                <a:latin typeface="Arial"/>
                <a:ea typeface="Arial"/>
                <a:cs typeface="Arial"/>
              </a:rPr>
              <a:t>Readmission prevalence</a:t>
            </a:r>
            <a:endParaRPr sz="1300" b="0" i="0" u="none" strike="noStrike" cap="none">
              <a:solidFill>
                <a:srgbClr val="000000"/>
              </a:solidFill>
              <a:latin typeface="Arial"/>
              <a:ea typeface="Arial"/>
              <a:cs typeface="Arial"/>
            </a:endParaRPr>
          </a:p>
        </p:txBody>
      </p:sp>
      <p:sp>
        <p:nvSpPr>
          <p:cNvPr id="96" name="Google Shape;96;p1">
            <a:extLst xmlns:a="http://schemas.openxmlformats.org/drawingml/2006/main">
              <a:ext uri="{FF2B5EF4-FFF2-40B4-BE49-F238E27FC236}">
                <a16:creationId xmlns:a16="http://schemas.microsoft.com/office/drawing/2014/main" id="{54009DFB-AD65-45F7-A41A-693130C386AB}"/>
              </a:ext>
            </a:extLst>
          </p:cNvPr>
          <p:cNvSpPr>
            <a:spLocks xmlns:a="http://schemas.openxmlformats.org/drawingml/2006/main" noGrp="1"/>
          </p:cNvSpPr>
          <p:nvPr/>
        </p:nvSpPr>
        <p:spPr>
          <a:xfrm xmlns:a="http://schemas.openxmlformats.org/drawingml/2006/main">
            <a:off x="8302680" y="4343400"/>
            <a:ext cx="3273120" cy="529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3200" b="1" i="0" u="none" strike="noStrike" cap="none">
                <a:solidFill>
                  <a:srgbClr val="FFFFFF"/>
                </a:solidFill>
                <a:latin typeface="Arial"/>
                <a:ea typeface="Arial"/>
                <a:cs typeface="Arial"/>
              </a:rPr>
              <a:t>39.17%</a:t>
            </a:r>
            <a:endParaRPr sz="3200" b="0" i="0" u="none" strike="noStrike" cap="none">
              <a:solidFill>
                <a:srgbClr val="000000"/>
              </a:solidFill>
              <a:latin typeface="Arial"/>
              <a:ea typeface="Arial"/>
              <a:cs typeface="Arial"/>
            </a:endParaRPr>
          </a:p>
        </p:txBody>
      </p:sp>
      <p:sp>
        <p:nvSpPr>
          <p:cNvPr id="97" name="Google Shape;97;p1">
            <a:extLst xmlns:a="http://schemas.openxmlformats.org/drawingml/2006/main">
              <a:ext uri="{FF2B5EF4-FFF2-40B4-BE49-F238E27FC236}">
                <a16:creationId xmlns:a16="http://schemas.microsoft.com/office/drawing/2014/main" id="{0B430C0A-DC3B-4D5E-B740-5C0CFD13B977}"/>
              </a:ext>
            </a:extLst>
          </p:cNvPr>
          <p:cNvSpPr>
            <a:spLocks xmlns:a="http://schemas.openxmlformats.org/drawingml/2006/main" noGrp="1"/>
          </p:cNvSpPr>
          <p:nvPr/>
        </p:nvSpPr>
        <p:spPr>
          <a:xfrm xmlns:a="http://schemas.openxmlformats.org/drawingml/2006/main">
            <a:off x="8302680" y="5001840"/>
            <a:ext cx="3200040" cy="28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C4D6D5"/>
                </a:solidFill>
                <a:latin typeface="Arial"/>
                <a:ea typeface="Arial"/>
                <a:cs typeface="Arial"/>
              </a:rPr>
              <a:t>Capture at 20% capacity</a:t>
            </a:r>
            <a:endParaRPr sz="1300" b="0" i="0" u="none" strike="noStrike" cap="none">
              <a:solidFill>
                <a:srgbClr val="000000"/>
              </a:solidFill>
              <a:latin typeface="Arial"/>
              <a:ea typeface="Arial"/>
              <a:cs typeface="Arial"/>
            </a:endParaRPr>
          </a:p>
        </p:txBody>
      </p:sp>
      <p:sp>
        <p:nvSpPr>
          <p:cNvPr id="98" name="Google Shape;98;p1">
            <a:extLst xmlns:a="http://schemas.openxmlformats.org/drawingml/2006/main">
              <a:ext uri="{FF2B5EF4-FFF2-40B4-BE49-F238E27FC236}">
                <a16:creationId xmlns:a16="http://schemas.microsoft.com/office/drawing/2014/main" id="{EAF67254-852D-4A75-93F1-C4C725F0E75F}"/>
              </a:ext>
            </a:extLst>
          </p:cNvPr>
          <p:cNvSpPr>
            <a:spLocks xmlns:a="http://schemas.openxmlformats.org/drawingml/2006/main" noGrp="1"/>
          </p:cNvSpPr>
          <p:nvPr/>
        </p:nvSpPr>
        <p:spPr>
          <a:xfrm xmlns:a="http://schemas.openxmlformats.org/drawingml/2006/main">
            <a:off x="1024200" y="6254640"/>
            <a:ext cx="1014948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i="1">
                <a:solidFill>
                  <a:srgbClr val="C4D6D5"/>
                </a:solidFill>
              </a:rPr>
              <a:t>Source: </a:t>
            </a:r>
            <a:r>
              <a:rPr sz="1000" b="0" i="1" u="none" strike="noStrike" cap="none">
                <a:solidFill>
                  <a:srgbClr val="C4D6D5"/>
                </a:solidFill>
                <a:latin typeface="Arial"/>
                <a:ea typeface="Arial"/>
                <a:cs typeface="Arial"/>
              </a:rPr>
              <a:t>UCI Diabetes 130-US Hospitals  |  </a:t>
            </a:r>
            <a:r>
              <a:rPr sz="1000" b="0" i="1" u="none" strike="noStrike" cap="none">
                <a:solidFill>
                  <a:srgbClr val="C4D6D5"/>
                </a:solidFill>
                <a:latin typeface="Arial"/>
                <a:ea typeface="Arial"/>
                <a:cs typeface="Arial"/>
              </a:rPr>
              <a:t>Strack et al. (2014)</a:t>
            </a:r>
            <a:r>
              <a:rPr sz="1000" b="0" i="1" u="none" strike="noStrike" cap="none">
                <a:solidFill>
                  <a:srgbClr val="C4D6D5"/>
                </a:solidFill>
                <a:latin typeface="Arial"/>
                <a:ea typeface="Arial"/>
                <a:cs typeface="Arial"/>
              </a:rPr>
              <a:t>  | </a:t>
            </a:r>
            <a:endParaRPr sz="1000" b="0" i="1" u="none" strike="noStrike" cap="none">
              <a:solidFill>
                <a:srgbClr val="000000"/>
              </a:solidFill>
              <a:latin typeface="Arial"/>
              <a:ea typeface="Arial"/>
              <a:cs typeface="Arial"/>
            </a:endParaRPr>
          </a:p>
        </p:txBody>
      </p:sp>
      <p:sp>
        <p:nvSpPr>
          <p:cNvPr id="99" name="Google Shape;99;p1">
            <a:extLst xmlns:a="http://schemas.openxmlformats.org/drawingml/2006/main">
              <a:ext uri="{FF2B5EF4-FFF2-40B4-BE49-F238E27FC236}">
                <a16:creationId xmlns:a16="http://schemas.microsoft.com/office/drawing/2014/main" id="{2BFF1752-CB5D-4AAE-8976-CD966A7D520D}"/>
              </a:ext>
            </a:extLst>
          </p:cNvPr>
          <p:cNvSpPr>
            <a:spLocks xmlns:a="http://schemas.openxmlformats.org/drawingml/2006/main" noGrp="1"/>
          </p:cNvSpPr>
          <p:nvPr/>
        </p:nvSpPr>
        <p:spPr>
          <a:xfrm xmlns:a="http://schemas.openxmlformats.org/drawingml/2006/main">
            <a:off x="1033313" y="5603758"/>
            <a:ext cx="10149600" cy="472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no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a:solidFill>
                  <a:srgbClr val="C4D6D5"/>
                </a:solidFill>
              </a:rPr>
              <a:t>Edzel M. Dela Cruz</a:t>
            </a:r>
            <a:endParaRPr sz="1200">
              <a:solidFill>
                <a:srgbClr val="C4D6D5"/>
              </a:solidFill>
            </a:endParaRPr>
          </a:p>
          <a:p xmlns:a="http://schemas.openxmlformats.org/drawingml/2006/main">
            <a:pPr marL="0" marR="0" lvl="0" indent="0" algn="l">
              <a:lnSpc>
                <a:spcPct val="105000"/>
              </a:lnSpc>
              <a:spcBef>
                <a:spcPts val="0"/>
              </a:spcBef>
              <a:spcAft>
                <a:spcPts val="0"/>
              </a:spcAft>
              <a:buNone/>
            </a:pPr>
            <a:r>
              <a:rPr sz="1200" b="0" i="0" u="none" strike="noStrike" cap="none">
                <a:solidFill>
                  <a:srgbClr val="C4D6D5"/>
                </a:solidFill>
                <a:latin typeface="Arial"/>
                <a:ea typeface="Arial"/>
                <a:cs typeface="Arial"/>
              </a:rPr>
              <a:t>October 2026</a:t>
            </a:r>
            <a:endParaRPr sz="12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31378559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5" name="Google Shape;105;p2">
            <a:extLst xmlns:a="http://schemas.openxmlformats.org/drawingml/2006/main">
              <a:ext uri="{FF2B5EF4-FFF2-40B4-BE49-F238E27FC236}">
                <a16:creationId xmlns:a16="http://schemas.microsoft.com/office/drawing/2014/main" id="{18EBA4E7-791D-4822-B7A2-C4F75FE2DBB2}"/>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F9F8F5"/>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06" name="Google Shape;106;p2">
            <a:extLst xmlns:a="http://schemas.openxmlformats.org/drawingml/2006/main">
              <a:ext uri="{FF2B5EF4-FFF2-40B4-BE49-F238E27FC236}">
                <a16:creationId xmlns:a16="http://schemas.microsoft.com/office/drawing/2014/main" id="{A059AA0C-908F-49D8-A257-7DE26FAC7851}"/>
              </a:ext>
            </a:extLst>
          </p:cNvPr>
          <p:cNvSpPr>
            <a:spLocks xmlns:a="http://schemas.openxmlformats.org/drawingml/2006/main" noGrp="1"/>
          </p:cNvSpPr>
          <p:nvPr/>
        </p:nvSpPr>
        <p:spPr>
          <a:xfrm xmlns:a="http://schemas.openxmlformats.org/drawingml/2006/main">
            <a:off x="493920" y="365760"/>
            <a:ext cx="109440" cy="109440"/>
          </a:xfrm>
          <a:prstGeom xmlns:a="http://schemas.openxmlformats.org/drawingml/2006/main" prst="ellipse">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32750" rIns="90000" bIns="327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07" name="Google Shape;107;p2">
            <a:extLst xmlns:a="http://schemas.openxmlformats.org/drawingml/2006/main">
              <a:ext uri="{FF2B5EF4-FFF2-40B4-BE49-F238E27FC236}">
                <a16:creationId xmlns:a16="http://schemas.microsoft.com/office/drawing/2014/main" id="{09086DA2-A65B-4404-A95D-7121BE954C6F}"/>
              </a:ext>
            </a:extLst>
          </p:cNvPr>
          <p:cNvSpPr>
            <a:spLocks xmlns:a="http://schemas.openxmlformats.org/drawingml/2006/main" noGrp="1"/>
          </p:cNvSpPr>
          <p:nvPr/>
        </p:nvSpPr>
        <p:spPr>
          <a:xfrm xmlns:a="http://schemas.openxmlformats.org/drawingml/2006/main">
            <a:off x="7434000" y="311040"/>
            <a:ext cx="415116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66757B"/>
                </a:solidFill>
                <a:latin typeface="Arial"/>
                <a:ea typeface="Arial"/>
                <a:cs typeface="Arial"/>
              </a:rPr>
              <a:t>01  /  PROBLEM FRAMING</a:t>
            </a:r>
            <a:endParaRPr sz="900" b="0" i="0" u="none" strike="noStrike" cap="none">
              <a:solidFill>
                <a:srgbClr val="000000"/>
              </a:solidFill>
              <a:latin typeface="Arial"/>
              <a:ea typeface="Arial"/>
              <a:cs typeface="Arial"/>
            </a:endParaRPr>
          </a:p>
        </p:txBody>
      </p:sp>
      <p:sp>
        <p:nvSpPr>
          <p:cNvPr id="108" name="Google Shape;108;p2">
            <a:extLst xmlns:a="http://schemas.openxmlformats.org/drawingml/2006/main">
              <a:ext uri="{FF2B5EF4-FFF2-40B4-BE49-F238E27FC236}">
                <a16:creationId xmlns:a16="http://schemas.microsoft.com/office/drawing/2014/main" id="{CA3B99B8-9DCA-498C-ADBC-1980AB501687}"/>
              </a:ext>
            </a:extLst>
          </p:cNvPr>
          <p:cNvSpPr>
            <a:spLocks xmlns:a="http://schemas.openxmlformats.org/drawingml/2006/main" noGrp="1"/>
          </p:cNvSpPr>
          <p:nvPr/>
        </p:nvSpPr>
        <p:spPr>
          <a:xfrm xmlns:a="http://schemas.openxmlformats.org/drawingml/2006/main">
            <a:off x="612720" y="713160"/>
            <a:ext cx="10972440" cy="630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900" b="1" i="0" u="none" strike="noStrike" cap="none">
                <a:solidFill>
                  <a:srgbClr val="1C3138"/>
                </a:solidFill>
                <a:latin typeface="Georgia"/>
                <a:ea typeface="Georgia"/>
                <a:cs typeface="Georgia"/>
              </a:rPr>
              <a:t>The decision is whom to support after discharge</a:t>
            </a:r>
            <a:endParaRPr sz="2900" b="0" i="0" u="none" strike="noStrike" cap="none">
              <a:solidFill>
                <a:srgbClr val="000000"/>
              </a:solidFill>
              <a:latin typeface="Arial"/>
              <a:ea typeface="Arial"/>
              <a:cs typeface="Arial"/>
            </a:endParaRPr>
          </a:p>
        </p:txBody>
      </p:sp>
      <p:cxnSp>
        <p:nvCxnSpPr>
          <p:cNvPr id="109" name="Google Shape;109;p2">
            <a:extLst xmlns:a="http://schemas.openxmlformats.org/drawingml/2006/main">
              <a:ext uri="{FF2B5EF4-FFF2-40B4-BE49-F238E27FC236}">
                <a16:creationId xmlns:a16="http://schemas.microsoft.com/office/drawing/2014/main" id="{277A454F-1D1C-413E-84F3-FB422A812DE0}"/>
              </a:ext>
            </a:extLst>
          </p:cNvPr>
          <p:cNvCxnSpPr/>
          <p:nvPr/>
        </p:nvCxnSpPr>
        <p:spPr>
          <a:xfrm xmlns:a="http://schemas.openxmlformats.org/drawingml/2006/main">
            <a:off x="640080" y="1453680"/>
            <a:ext cx="10918080" cy="360"/>
          </a:xfrm>
          <a:prstGeom xmlns:a="http://schemas.openxmlformats.org/drawingml/2006/main" prst="straightConnector1">
            <a:avLst/>
          </a:prstGeom>
          <a:ln xmlns:a="http://schemas.openxmlformats.org/drawingml/2006/main" w="15875" cap="flat">
            <a:solidFill>
              <a:srgbClr val="1C3138"/>
            </a:solidFill>
            <a:prstDash val="solid"/>
            <a:round/>
            <a:headEnd type="none" w="sm" len="sm"/>
            <a:tailEnd type="none" w="sm" len="sm"/>
          </a:ln>
        </p:spPr>
      </p:cxnSp>
      <p:cxnSp>
        <p:nvCxnSpPr>
          <p:cNvPr id="110" name="Google Shape;110;p2">
            <a:extLst xmlns:a="http://schemas.openxmlformats.org/drawingml/2006/main">
              <a:ext uri="{FF2B5EF4-FFF2-40B4-BE49-F238E27FC236}">
                <a16:creationId xmlns:a16="http://schemas.microsoft.com/office/drawing/2014/main" id="{650FBF40-DB7E-4A52-81DB-204E671EC99C}"/>
              </a:ext>
            </a:extLst>
          </p:cNvPr>
          <p:cNvCxnSpPr/>
          <p:nvPr/>
        </p:nvCxnSpPr>
        <p:spPr>
          <a:xfrm xmlns:a="http://schemas.openxmlformats.org/drawingml/2006/main">
            <a:off x="630720" y="6464520"/>
            <a:ext cx="10927440" cy="360"/>
          </a:xfrm>
          <a:prstGeom xmlns:a="http://schemas.openxmlformats.org/drawingml/2006/main" prst="straightConnector1">
            <a:avLst/>
          </a:prstGeom>
          <a:ln xmlns:a="http://schemas.openxmlformats.org/drawingml/2006/main" w="10150" cap="flat">
            <a:solidFill>
              <a:srgbClr val="D6DEDA"/>
            </a:solidFill>
            <a:prstDash val="solid"/>
            <a:round/>
            <a:headEnd type="none" w="sm" len="sm"/>
            <a:tailEnd type="none" w="sm" len="sm"/>
          </a:ln>
        </p:spPr>
      </p:cxnSp>
      <p:sp>
        <p:nvSpPr>
          <p:cNvPr id="111" name="Google Shape;111;p2">
            <a:extLst xmlns:a="http://schemas.openxmlformats.org/drawingml/2006/main">
              <a:ext uri="{FF2B5EF4-FFF2-40B4-BE49-F238E27FC236}">
                <a16:creationId xmlns:a16="http://schemas.microsoft.com/office/drawing/2014/main" id="{D5636E10-48DA-462C-9DFF-39621D82FB11}"/>
              </a:ext>
            </a:extLst>
          </p:cNvPr>
          <p:cNvSpPr>
            <a:spLocks xmlns:a="http://schemas.openxmlformats.org/drawingml/2006/main" noGrp="1"/>
          </p:cNvSpPr>
          <p:nvPr/>
        </p:nvSpPr>
        <p:spPr>
          <a:xfrm xmlns:a="http://schemas.openxmlformats.org/drawingml/2006/main">
            <a:off x="649080" y="6519600"/>
            <a:ext cx="10496880" cy="200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800" b="0" i="0" u="none" strike="noStrike" cap="none">
                <a:solidFill>
                  <a:srgbClr val="66757B"/>
                </a:solidFill>
                <a:latin typeface="Arial"/>
                <a:ea typeface="Arial"/>
                <a:cs typeface="Arial"/>
              </a:rPr>
              <a:t>Notebook 01 · Problem framing and success metrics</a:t>
            </a:r>
            <a:endParaRPr sz="800" b="0" i="0" u="none" strike="noStrike" cap="none">
              <a:solidFill>
                <a:srgbClr val="000000"/>
              </a:solidFill>
              <a:latin typeface="Arial"/>
              <a:ea typeface="Arial"/>
              <a:cs typeface="Arial"/>
            </a:endParaRPr>
          </a:p>
        </p:txBody>
      </p:sp>
      <p:sp>
        <p:nvSpPr>
          <p:cNvPr id="112" name="Google Shape;112;p2">
            <a:extLst xmlns:a="http://schemas.openxmlformats.org/drawingml/2006/main">
              <a:ext uri="{FF2B5EF4-FFF2-40B4-BE49-F238E27FC236}">
                <a16:creationId xmlns:a16="http://schemas.microsoft.com/office/drawing/2014/main" id="{11BC44E7-220B-409B-A4E8-647BA8041996}"/>
              </a:ext>
            </a:extLst>
          </p:cNvPr>
          <p:cNvSpPr>
            <a:spLocks xmlns:a="http://schemas.openxmlformats.org/drawingml/2006/main" noGrp="1"/>
          </p:cNvSpPr>
          <p:nvPr/>
        </p:nvSpPr>
        <p:spPr>
          <a:xfrm xmlns:a="http://schemas.openxmlformats.org/drawingml/2006/main">
            <a:off x="11137320" y="6501240"/>
            <a:ext cx="4384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1C3138"/>
                </a:solidFill>
                <a:latin typeface="Arial"/>
                <a:ea typeface="Arial"/>
                <a:cs typeface="Arial"/>
              </a:rPr>
              <a:t>02</a:t>
            </a:r>
            <a:endParaRPr sz="900" b="0" i="0" u="none" strike="noStrike" cap="none">
              <a:solidFill>
                <a:srgbClr val="000000"/>
              </a:solidFill>
              <a:latin typeface="Arial"/>
              <a:ea typeface="Arial"/>
              <a:cs typeface="Arial"/>
            </a:endParaRPr>
          </a:p>
        </p:txBody>
      </p:sp>
      <p:sp>
        <p:nvSpPr>
          <p:cNvPr id="113" name="Google Shape;113;p2">
            <a:extLst xmlns:a="http://schemas.openxmlformats.org/drawingml/2006/main">
              <a:ext uri="{FF2B5EF4-FFF2-40B4-BE49-F238E27FC236}">
                <a16:creationId xmlns:a16="http://schemas.microsoft.com/office/drawing/2014/main" id="{F24BE7C2-A347-416A-BF5E-31DB61655D58}"/>
              </a:ext>
            </a:extLst>
          </p:cNvPr>
          <p:cNvSpPr>
            <a:spLocks xmlns:a="http://schemas.openxmlformats.org/drawingml/2006/main" noGrp="1"/>
          </p:cNvSpPr>
          <p:nvPr/>
        </p:nvSpPr>
        <p:spPr>
          <a:xfrm xmlns:a="http://schemas.openxmlformats.org/drawingml/2006/main">
            <a:off x="713160" y="179208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THE ORGANIZATIONAL PROBLEM</a:t>
            </a:r>
            <a:endParaRPr sz="1000" b="0" i="0" u="none" strike="noStrike" cap="none">
              <a:solidFill>
                <a:srgbClr val="000000"/>
              </a:solidFill>
              <a:latin typeface="Arial"/>
              <a:ea typeface="Arial"/>
              <a:cs typeface="Arial"/>
            </a:endParaRPr>
          </a:p>
        </p:txBody>
      </p:sp>
      <p:sp>
        <p:nvSpPr>
          <p:cNvPr id="114" name="Google Shape;114;p2">
            <a:extLst xmlns:a="http://schemas.openxmlformats.org/drawingml/2006/main">
              <a:ext uri="{FF2B5EF4-FFF2-40B4-BE49-F238E27FC236}">
                <a16:creationId xmlns:a16="http://schemas.microsoft.com/office/drawing/2014/main" id="{D9EC2DE2-5E8F-4B4B-941C-02BFE84C3176}"/>
              </a:ext>
            </a:extLst>
          </p:cNvPr>
          <p:cNvSpPr>
            <a:spLocks xmlns:a="http://schemas.openxmlformats.org/drawingml/2006/main" noGrp="1"/>
          </p:cNvSpPr>
          <p:nvPr/>
        </p:nvSpPr>
        <p:spPr>
          <a:xfrm xmlns:a="http://schemas.openxmlformats.org/drawingml/2006/main">
            <a:off x="731520" y="2203560"/>
            <a:ext cx="4891680" cy="1298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200" b="1" i="0" u="none" strike="noStrike" cap="none">
                <a:solidFill>
                  <a:srgbClr val="1C3138"/>
                </a:solidFill>
                <a:latin typeface="Georgia"/>
                <a:ea typeface="Georgia"/>
                <a:cs typeface="Georgia"/>
              </a:rPr>
              <a:t>Limited care-management capacity makes universal intensive follow-up impractical.</a:t>
            </a:r>
            <a:endParaRPr sz="2200" b="0" i="0" u="none" strike="noStrike" cap="none">
              <a:solidFill>
                <a:srgbClr val="000000"/>
              </a:solidFill>
              <a:latin typeface="Arial"/>
              <a:ea typeface="Arial"/>
              <a:cs typeface="Arial"/>
            </a:endParaRPr>
          </a:p>
        </p:txBody>
      </p:sp>
      <p:sp>
        <p:nvSpPr>
          <p:cNvPr id="115" name="Google Shape;115;p2">
            <a:extLst xmlns:a="http://schemas.openxmlformats.org/drawingml/2006/main">
              <a:ext uri="{FF2B5EF4-FFF2-40B4-BE49-F238E27FC236}">
                <a16:creationId xmlns:a16="http://schemas.microsoft.com/office/drawing/2014/main" id="{2DA8F2C1-9095-458E-AEDD-AF847A39307B}"/>
              </a:ext>
            </a:extLst>
          </p:cNvPr>
          <p:cNvSpPr>
            <a:spLocks xmlns:a="http://schemas.openxmlformats.org/drawingml/2006/main" noGrp="1"/>
          </p:cNvSpPr>
          <p:nvPr/>
        </p:nvSpPr>
        <p:spPr>
          <a:xfrm xmlns:a="http://schemas.openxmlformats.org/drawingml/2006/main">
            <a:off x="731520" y="3803760"/>
            <a:ext cx="4717800" cy="950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600" b="0" i="0" u="none" strike="noStrike" cap="none">
                <a:solidFill>
                  <a:srgbClr val="24343B"/>
                </a:solidFill>
                <a:latin typeface="Arial"/>
                <a:ea typeface="Arial"/>
                <a:cs typeface="Arial"/>
              </a:rPr>
              <a:t>The hospital needs a defensible way to prioritize contact, early appointments, and home visits.</a:t>
            </a:r>
            <a:endParaRPr sz="1600" b="0" i="0" u="none" strike="noStrike" cap="none">
              <a:solidFill>
                <a:srgbClr val="000000"/>
              </a:solidFill>
              <a:latin typeface="Arial"/>
              <a:ea typeface="Arial"/>
              <a:cs typeface="Arial"/>
            </a:endParaRPr>
          </a:p>
        </p:txBody>
      </p:sp>
      <p:cxnSp>
        <p:nvCxnSpPr>
          <p:cNvPr id="116" name="Google Shape;116;p2">
            <a:extLst xmlns:a="http://schemas.openxmlformats.org/drawingml/2006/main">
              <a:ext uri="{FF2B5EF4-FFF2-40B4-BE49-F238E27FC236}">
                <a16:creationId xmlns:a16="http://schemas.microsoft.com/office/drawing/2014/main" id="{C555A56E-4DAE-42C6-9515-CD8BB43BF37A}"/>
              </a:ext>
            </a:extLst>
          </p:cNvPr>
          <p:cNvCxnSpPr/>
          <p:nvPr/>
        </p:nvCxnSpPr>
        <p:spPr>
          <a:xfrm xmlns:a="http://schemas.openxmlformats.org/drawingml/2006/main">
            <a:off x="5925240" y="1783080"/>
            <a:ext cx="360" cy="352080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117" name="Google Shape;117;p2">
            <a:extLst xmlns:a="http://schemas.openxmlformats.org/drawingml/2006/main">
              <a:ext uri="{FF2B5EF4-FFF2-40B4-BE49-F238E27FC236}">
                <a16:creationId xmlns:a16="http://schemas.microsoft.com/office/drawing/2014/main" id="{F5D16C61-D4DC-4A6C-A7A1-C3767F59D6D8}"/>
              </a:ext>
            </a:extLst>
          </p:cNvPr>
          <p:cNvSpPr>
            <a:spLocks xmlns:a="http://schemas.openxmlformats.org/drawingml/2006/main" noGrp="1"/>
          </p:cNvSpPr>
          <p:nvPr/>
        </p:nvSpPr>
        <p:spPr>
          <a:xfrm xmlns:a="http://schemas.openxmlformats.org/drawingml/2006/main">
            <a:off x="6254640" y="179208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THE MACHINE LEARNING OBJECTIVE</a:t>
            </a:r>
            <a:endParaRPr sz="1000" b="0" i="0" u="none" strike="noStrike" cap="none">
              <a:solidFill>
                <a:srgbClr val="000000"/>
              </a:solidFill>
              <a:latin typeface="Arial"/>
              <a:ea typeface="Arial"/>
              <a:cs typeface="Arial"/>
            </a:endParaRPr>
          </a:p>
        </p:txBody>
      </p:sp>
      <p:sp>
        <p:nvSpPr>
          <p:cNvPr id="118" name="Google Shape;118;p2">
            <a:extLst xmlns:a="http://schemas.openxmlformats.org/drawingml/2006/main">
              <a:ext uri="{FF2B5EF4-FFF2-40B4-BE49-F238E27FC236}">
                <a16:creationId xmlns:a16="http://schemas.microsoft.com/office/drawing/2014/main" id="{74676A81-0316-40E2-ACF7-3C11217D8BD6}"/>
              </a:ext>
            </a:extLst>
          </p:cNvPr>
          <p:cNvSpPr>
            <a:spLocks xmlns:a="http://schemas.openxmlformats.org/drawingml/2006/main" noGrp="1"/>
          </p:cNvSpPr>
          <p:nvPr/>
        </p:nvSpPr>
        <p:spPr>
          <a:xfrm xmlns:a="http://schemas.openxmlformats.org/drawingml/2006/main">
            <a:off x="6263640" y="2157840"/>
            <a:ext cx="4781880" cy="106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100" b="1" i="0" u="none" strike="noStrike" cap="none">
                <a:solidFill>
                  <a:srgbClr val="1C3138"/>
                </a:solidFill>
                <a:latin typeface="Georgia"/>
                <a:ea typeface="Georgia"/>
                <a:cs typeface="Georgia"/>
              </a:rPr>
              <a:t>Binary prediction of recorded readmission within 30 days</a:t>
            </a:r>
            <a:endParaRPr sz="2100" b="0" i="0" u="none" strike="noStrike" cap="none">
              <a:solidFill>
                <a:srgbClr val="000000"/>
              </a:solidFill>
              <a:latin typeface="Arial"/>
              <a:ea typeface="Arial"/>
              <a:cs typeface="Arial"/>
            </a:endParaRPr>
          </a:p>
        </p:txBody>
      </p:sp>
      <p:sp>
        <p:nvSpPr>
          <p:cNvPr id="119" name="Google Shape;119;p2">
            <a:extLst xmlns:a="http://schemas.openxmlformats.org/drawingml/2006/main">
              <a:ext uri="{FF2B5EF4-FFF2-40B4-BE49-F238E27FC236}">
                <a16:creationId xmlns:a16="http://schemas.microsoft.com/office/drawing/2014/main" id="{306E5B67-5E9A-46DE-A21B-CD1C2B89978C}"/>
              </a:ext>
            </a:extLst>
          </p:cNvPr>
          <p:cNvSpPr>
            <a:spLocks xmlns:a="http://schemas.openxmlformats.org/drawingml/2006/main" noGrp="1"/>
          </p:cNvSpPr>
          <p:nvPr/>
        </p:nvSpPr>
        <p:spPr>
          <a:xfrm xmlns:a="http://schemas.openxmlformats.org/drawingml/2006/main">
            <a:off x="6217920" y="3620880"/>
            <a:ext cx="5065560" cy="66708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20" name="Google Shape;120;p2">
            <a:extLst xmlns:a="http://schemas.openxmlformats.org/drawingml/2006/main">
              <a:ext uri="{FF2B5EF4-FFF2-40B4-BE49-F238E27FC236}">
                <a16:creationId xmlns:a16="http://schemas.microsoft.com/office/drawing/2014/main" id="{564FF5DC-F603-47FC-A8FF-0F6895155D48}"/>
              </a:ext>
            </a:extLst>
          </p:cNvPr>
          <p:cNvSpPr>
            <a:spLocks xmlns:a="http://schemas.openxmlformats.org/drawingml/2006/main" noGrp="1"/>
          </p:cNvSpPr>
          <p:nvPr/>
        </p:nvSpPr>
        <p:spPr>
          <a:xfrm xmlns:a="http://schemas.openxmlformats.org/drawingml/2006/main">
            <a:off x="6217920" y="3620880"/>
            <a:ext cx="45360" cy="66708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21" name="Google Shape;121;p2">
            <a:extLst xmlns:a="http://schemas.openxmlformats.org/drawingml/2006/main">
              <a:ext uri="{FF2B5EF4-FFF2-40B4-BE49-F238E27FC236}">
                <a16:creationId xmlns:a16="http://schemas.microsoft.com/office/drawing/2014/main" id="{A3C654EE-B325-4571-AEC6-608B9B5377B4}"/>
              </a:ext>
            </a:extLst>
          </p:cNvPr>
          <p:cNvSpPr>
            <a:spLocks xmlns:a="http://schemas.openxmlformats.org/drawingml/2006/main" noGrp="1"/>
          </p:cNvSpPr>
          <p:nvPr/>
        </p:nvSpPr>
        <p:spPr>
          <a:xfrm xmlns:a="http://schemas.openxmlformats.org/drawingml/2006/main">
            <a:off x="6428160" y="3730680"/>
            <a:ext cx="2029680" cy="502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400" b="1" i="0" u="none" strike="noStrike" cap="none">
                <a:solidFill>
                  <a:srgbClr val="1C3138"/>
                </a:solidFill>
                <a:latin typeface="Arial"/>
                <a:ea typeface="Arial"/>
                <a:cs typeface="Arial"/>
              </a:rPr>
              <a:t>Target = 1</a:t>
            </a:r>
            <a:endParaRPr sz="1400" b="0" i="0" u="none" strike="noStrike" cap="none">
              <a:solidFill>
                <a:srgbClr val="000000"/>
              </a:solidFill>
              <a:latin typeface="Arial"/>
              <a:ea typeface="Arial"/>
              <a:cs typeface="Arial"/>
            </a:endParaRPr>
          </a:p>
        </p:txBody>
      </p:sp>
      <p:sp>
        <p:nvSpPr>
          <p:cNvPr id="122" name="Google Shape;122;p2">
            <a:extLst xmlns:a="http://schemas.openxmlformats.org/drawingml/2006/main">
              <a:ext uri="{FF2B5EF4-FFF2-40B4-BE49-F238E27FC236}">
                <a16:creationId xmlns:a16="http://schemas.microsoft.com/office/drawing/2014/main" id="{1FC29CE8-0A7E-4D2A-B00D-DD3AC4DDD439}"/>
              </a:ext>
            </a:extLst>
          </p:cNvPr>
          <p:cNvSpPr>
            <a:spLocks xmlns:a="http://schemas.openxmlformats.org/drawingml/2006/main" noGrp="1"/>
          </p:cNvSpPr>
          <p:nvPr/>
        </p:nvSpPr>
        <p:spPr>
          <a:xfrm xmlns:a="http://schemas.openxmlformats.org/drawingml/2006/main">
            <a:off x="8439840" y="3730680"/>
            <a:ext cx="2660400" cy="502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Readmitted within 30 days</a:t>
            </a:r>
            <a:endParaRPr sz="1300" b="0" i="0" u="none" strike="noStrike" cap="none">
              <a:solidFill>
                <a:srgbClr val="000000"/>
              </a:solidFill>
              <a:latin typeface="Arial"/>
              <a:ea typeface="Arial"/>
              <a:cs typeface="Arial"/>
            </a:endParaRPr>
          </a:p>
        </p:txBody>
      </p:sp>
      <p:sp>
        <p:nvSpPr>
          <p:cNvPr id="123" name="Google Shape;123;p2">
            <a:extLst xmlns:a="http://schemas.openxmlformats.org/drawingml/2006/main">
              <a:ext uri="{FF2B5EF4-FFF2-40B4-BE49-F238E27FC236}">
                <a16:creationId xmlns:a16="http://schemas.microsoft.com/office/drawing/2014/main" id="{DD3CFDCC-F813-4FEA-8ADB-1446ADA4B5CE}"/>
              </a:ext>
            </a:extLst>
          </p:cNvPr>
          <p:cNvSpPr>
            <a:spLocks xmlns:a="http://schemas.openxmlformats.org/drawingml/2006/main" noGrp="1"/>
          </p:cNvSpPr>
          <p:nvPr/>
        </p:nvSpPr>
        <p:spPr>
          <a:xfrm xmlns:a="http://schemas.openxmlformats.org/drawingml/2006/main">
            <a:off x="6217920" y="4380120"/>
            <a:ext cx="5065560" cy="66708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24" name="Google Shape;124;p2">
            <a:extLst xmlns:a="http://schemas.openxmlformats.org/drawingml/2006/main">
              <a:ext uri="{FF2B5EF4-FFF2-40B4-BE49-F238E27FC236}">
                <a16:creationId xmlns:a16="http://schemas.microsoft.com/office/drawing/2014/main" id="{27FF8E13-31A1-4AFB-8D89-1BA015FED41C}"/>
              </a:ext>
            </a:extLst>
          </p:cNvPr>
          <p:cNvSpPr>
            <a:spLocks xmlns:a="http://schemas.openxmlformats.org/drawingml/2006/main" noGrp="1"/>
          </p:cNvSpPr>
          <p:nvPr/>
        </p:nvSpPr>
        <p:spPr>
          <a:xfrm xmlns:a="http://schemas.openxmlformats.org/drawingml/2006/main">
            <a:off x="6217920" y="4380120"/>
            <a:ext cx="45360" cy="66708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25" name="Google Shape;125;p2">
            <a:extLst xmlns:a="http://schemas.openxmlformats.org/drawingml/2006/main">
              <a:ext uri="{FF2B5EF4-FFF2-40B4-BE49-F238E27FC236}">
                <a16:creationId xmlns:a16="http://schemas.microsoft.com/office/drawing/2014/main" id="{9DB95E53-0E08-42B6-8A1B-4CEA24153E31}"/>
              </a:ext>
            </a:extLst>
          </p:cNvPr>
          <p:cNvSpPr>
            <a:spLocks xmlns:a="http://schemas.openxmlformats.org/drawingml/2006/main" noGrp="1"/>
          </p:cNvSpPr>
          <p:nvPr/>
        </p:nvSpPr>
        <p:spPr>
          <a:xfrm xmlns:a="http://schemas.openxmlformats.org/drawingml/2006/main">
            <a:off x="6428160" y="4489560"/>
            <a:ext cx="2029680" cy="502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400" b="1" i="0" u="none" strike="noStrike" cap="none">
                <a:solidFill>
                  <a:srgbClr val="1C3138"/>
                </a:solidFill>
                <a:latin typeface="Arial"/>
                <a:ea typeface="Arial"/>
                <a:cs typeface="Arial"/>
              </a:rPr>
              <a:t>Target = 0</a:t>
            </a:r>
            <a:endParaRPr sz="1400" b="0" i="0" u="none" strike="noStrike" cap="none">
              <a:solidFill>
                <a:srgbClr val="000000"/>
              </a:solidFill>
              <a:latin typeface="Arial"/>
              <a:ea typeface="Arial"/>
              <a:cs typeface="Arial"/>
            </a:endParaRPr>
          </a:p>
        </p:txBody>
      </p:sp>
      <p:sp>
        <p:nvSpPr>
          <p:cNvPr id="126" name="Google Shape;126;p2">
            <a:extLst xmlns:a="http://schemas.openxmlformats.org/drawingml/2006/main">
              <a:ext uri="{FF2B5EF4-FFF2-40B4-BE49-F238E27FC236}">
                <a16:creationId xmlns:a16="http://schemas.microsoft.com/office/drawing/2014/main" id="{8C18F989-8719-4F22-A71D-92C0EA4F01A5}"/>
              </a:ext>
            </a:extLst>
          </p:cNvPr>
          <p:cNvSpPr>
            <a:spLocks xmlns:a="http://schemas.openxmlformats.org/drawingml/2006/main" noGrp="1"/>
          </p:cNvSpPr>
          <p:nvPr/>
        </p:nvSpPr>
        <p:spPr>
          <a:xfrm xmlns:a="http://schemas.openxmlformats.org/drawingml/2006/main">
            <a:off x="8439840" y="4489560"/>
            <a:ext cx="2660400" cy="502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Readmitted later or not recorded</a:t>
            </a:r>
            <a:endParaRPr sz="1300" b="0" i="0" u="none" strike="noStrike" cap="none">
              <a:solidFill>
                <a:srgbClr val="000000"/>
              </a:solidFill>
              <a:latin typeface="Arial"/>
              <a:ea typeface="Arial"/>
              <a:cs typeface="Arial"/>
            </a:endParaRPr>
          </a:p>
        </p:txBody>
      </p:sp>
      <p:sp>
        <p:nvSpPr>
          <p:cNvPr id="127" name="Google Shape;127;p2">
            <a:extLst xmlns:a="http://schemas.openxmlformats.org/drawingml/2006/main">
              <a:ext uri="{FF2B5EF4-FFF2-40B4-BE49-F238E27FC236}">
                <a16:creationId xmlns:a16="http://schemas.microsoft.com/office/drawing/2014/main" id="{7C916990-9153-4B1A-B6DB-739802088078}"/>
              </a:ext>
            </a:extLst>
          </p:cNvPr>
          <p:cNvSpPr>
            <a:spLocks xmlns:a="http://schemas.openxmlformats.org/drawingml/2006/main" noGrp="1"/>
          </p:cNvSpPr>
          <p:nvPr/>
        </p:nvSpPr>
        <p:spPr>
          <a:xfrm xmlns:a="http://schemas.openxmlformats.org/drawingml/2006/main">
            <a:off x="667440" y="5824800"/>
            <a:ext cx="10899360" cy="42012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28" name="Google Shape;128;p2">
            <a:extLst xmlns:a="http://schemas.openxmlformats.org/drawingml/2006/main">
              <a:ext uri="{FF2B5EF4-FFF2-40B4-BE49-F238E27FC236}">
                <a16:creationId xmlns:a16="http://schemas.microsoft.com/office/drawing/2014/main" id="{E9B49446-4E45-4BED-86B3-681618CA352D}"/>
              </a:ext>
            </a:extLst>
          </p:cNvPr>
          <p:cNvSpPr>
            <a:spLocks xmlns:a="http://schemas.openxmlformats.org/drawingml/2006/main" noGrp="1"/>
          </p:cNvSpPr>
          <p:nvPr/>
        </p:nvSpPr>
        <p:spPr>
          <a:xfrm xmlns:a="http://schemas.openxmlformats.org/drawingml/2006/main">
            <a:off x="667440" y="5824800"/>
            <a:ext cx="50040" cy="42012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29" name="Google Shape;129;p2">
            <a:extLst xmlns:a="http://schemas.openxmlformats.org/drawingml/2006/main">
              <a:ext uri="{FF2B5EF4-FFF2-40B4-BE49-F238E27FC236}">
                <a16:creationId xmlns:a16="http://schemas.microsoft.com/office/drawing/2014/main" id="{18CF96DB-87A6-49A2-ABEF-17D2A59C7408}"/>
              </a:ext>
            </a:extLst>
          </p:cNvPr>
          <p:cNvSpPr>
            <a:spLocks xmlns:a="http://schemas.openxmlformats.org/drawingml/2006/main" noGrp="1"/>
          </p:cNvSpPr>
          <p:nvPr/>
        </p:nvSpPr>
        <p:spPr>
          <a:xfrm xmlns:a="http://schemas.openxmlformats.org/drawingml/2006/main">
            <a:off x="868680" y="5897880"/>
            <a:ext cx="10478520" cy="2207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1C3138"/>
                </a:solidFill>
                <a:latin typeface="Arial"/>
                <a:ea typeface="Arial"/>
                <a:cs typeface="Arial"/>
              </a:rPr>
              <a:t>Technical KPI: average precision   |   Business KPI: ≥30% capture at an illustrative 20% contact capacity.</a:t>
            </a:r>
            <a:endParaRPr sz="115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61626248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5" name="Google Shape;135;p3">
            <a:extLst xmlns:a="http://schemas.openxmlformats.org/drawingml/2006/main">
              <a:ext uri="{FF2B5EF4-FFF2-40B4-BE49-F238E27FC236}">
                <a16:creationId xmlns:a16="http://schemas.microsoft.com/office/drawing/2014/main" id="{44C2BF7C-365A-409E-9930-9EBE2FB59D1B}"/>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F9F8F5"/>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36" name="Google Shape;136;p3">
            <a:extLst xmlns:a="http://schemas.openxmlformats.org/drawingml/2006/main">
              <a:ext uri="{FF2B5EF4-FFF2-40B4-BE49-F238E27FC236}">
                <a16:creationId xmlns:a16="http://schemas.microsoft.com/office/drawing/2014/main" id="{C1763AEE-82D7-4CCF-96E3-DA5DD277E501}"/>
              </a:ext>
            </a:extLst>
          </p:cNvPr>
          <p:cNvSpPr>
            <a:spLocks xmlns:a="http://schemas.openxmlformats.org/drawingml/2006/main" noGrp="1"/>
          </p:cNvSpPr>
          <p:nvPr/>
        </p:nvSpPr>
        <p:spPr>
          <a:xfrm xmlns:a="http://schemas.openxmlformats.org/drawingml/2006/main">
            <a:off x="493920" y="365760"/>
            <a:ext cx="109440" cy="109440"/>
          </a:xfrm>
          <a:prstGeom xmlns:a="http://schemas.openxmlformats.org/drawingml/2006/main" prst="ellipse">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32750" rIns="90000" bIns="327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37" name="Google Shape;137;p3">
            <a:extLst xmlns:a="http://schemas.openxmlformats.org/drawingml/2006/main">
              <a:ext uri="{FF2B5EF4-FFF2-40B4-BE49-F238E27FC236}">
                <a16:creationId xmlns:a16="http://schemas.microsoft.com/office/drawing/2014/main" id="{95B65547-8302-4AED-83B3-4E446A2E17E8}"/>
              </a:ext>
            </a:extLst>
          </p:cNvPr>
          <p:cNvSpPr>
            <a:spLocks xmlns:a="http://schemas.openxmlformats.org/drawingml/2006/main" noGrp="1"/>
          </p:cNvSpPr>
          <p:nvPr/>
        </p:nvSpPr>
        <p:spPr>
          <a:xfrm xmlns:a="http://schemas.openxmlformats.org/drawingml/2006/main">
            <a:off x="7434000" y="311040"/>
            <a:ext cx="415116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66757B"/>
                </a:solidFill>
                <a:latin typeface="Arial"/>
                <a:ea typeface="Arial"/>
                <a:cs typeface="Arial"/>
              </a:rPr>
              <a:t>02  /  COHORT</a:t>
            </a:r>
            <a:endParaRPr sz="900" b="0" i="0" u="none" strike="noStrike" cap="none">
              <a:solidFill>
                <a:srgbClr val="000000"/>
              </a:solidFill>
              <a:latin typeface="Arial"/>
              <a:ea typeface="Arial"/>
              <a:cs typeface="Arial"/>
            </a:endParaRPr>
          </a:p>
        </p:txBody>
      </p:sp>
      <p:sp>
        <p:nvSpPr>
          <p:cNvPr id="138" name="Google Shape;138;p3">
            <a:extLst xmlns:a="http://schemas.openxmlformats.org/drawingml/2006/main">
              <a:ext uri="{FF2B5EF4-FFF2-40B4-BE49-F238E27FC236}">
                <a16:creationId xmlns:a16="http://schemas.microsoft.com/office/drawing/2014/main" id="{4A2E0B9C-0EC9-49A0-A0BC-E8377F6BC95D}"/>
              </a:ext>
            </a:extLst>
          </p:cNvPr>
          <p:cNvSpPr>
            <a:spLocks xmlns:a="http://schemas.openxmlformats.org/drawingml/2006/main" noGrp="1"/>
          </p:cNvSpPr>
          <p:nvPr/>
        </p:nvSpPr>
        <p:spPr>
          <a:xfrm xmlns:a="http://schemas.openxmlformats.org/drawingml/2006/main">
            <a:off x="612720" y="713160"/>
            <a:ext cx="10972440" cy="630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900" b="1" i="0" u="none" strike="noStrike" cap="none">
                <a:solidFill>
                  <a:srgbClr val="1C3138"/>
                </a:solidFill>
                <a:latin typeface="Georgia"/>
                <a:ea typeface="Georgia"/>
                <a:cs typeface="Georgia"/>
              </a:rPr>
              <a:t>One encounter per patient keeps splits independent</a:t>
            </a:r>
            <a:endParaRPr sz="2900" b="0" i="0" u="none" strike="noStrike" cap="none">
              <a:solidFill>
                <a:srgbClr val="000000"/>
              </a:solidFill>
              <a:latin typeface="Arial"/>
              <a:ea typeface="Arial"/>
              <a:cs typeface="Arial"/>
            </a:endParaRPr>
          </a:p>
        </p:txBody>
      </p:sp>
      <p:cxnSp>
        <p:nvCxnSpPr>
          <p:cNvPr id="139" name="Google Shape;139;p3">
            <a:extLst xmlns:a="http://schemas.openxmlformats.org/drawingml/2006/main">
              <a:ext uri="{FF2B5EF4-FFF2-40B4-BE49-F238E27FC236}">
                <a16:creationId xmlns:a16="http://schemas.microsoft.com/office/drawing/2014/main" id="{2E13C29A-F666-4996-8D68-2FB3AE1A1A85}"/>
              </a:ext>
            </a:extLst>
          </p:cNvPr>
          <p:cNvCxnSpPr/>
          <p:nvPr/>
        </p:nvCxnSpPr>
        <p:spPr>
          <a:xfrm xmlns:a="http://schemas.openxmlformats.org/drawingml/2006/main">
            <a:off x="640080" y="1453680"/>
            <a:ext cx="10918080" cy="360"/>
          </a:xfrm>
          <a:prstGeom xmlns:a="http://schemas.openxmlformats.org/drawingml/2006/main" prst="straightConnector1">
            <a:avLst/>
          </a:prstGeom>
          <a:ln xmlns:a="http://schemas.openxmlformats.org/drawingml/2006/main" w="15875" cap="flat">
            <a:solidFill>
              <a:srgbClr val="1C3138"/>
            </a:solidFill>
            <a:prstDash val="solid"/>
            <a:round/>
            <a:headEnd type="none" w="sm" len="sm"/>
            <a:tailEnd type="none" w="sm" len="sm"/>
          </a:ln>
        </p:spPr>
      </p:cxnSp>
      <p:cxnSp>
        <p:nvCxnSpPr>
          <p:cNvPr id="140" name="Google Shape;140;p3">
            <a:extLst xmlns:a="http://schemas.openxmlformats.org/drawingml/2006/main">
              <a:ext uri="{FF2B5EF4-FFF2-40B4-BE49-F238E27FC236}">
                <a16:creationId xmlns:a16="http://schemas.microsoft.com/office/drawing/2014/main" id="{AA7BDF51-45E0-4692-BA34-8C2585924F2E}"/>
              </a:ext>
            </a:extLst>
          </p:cNvPr>
          <p:cNvCxnSpPr/>
          <p:nvPr/>
        </p:nvCxnSpPr>
        <p:spPr>
          <a:xfrm xmlns:a="http://schemas.openxmlformats.org/drawingml/2006/main">
            <a:off x="630720" y="6464520"/>
            <a:ext cx="10927440" cy="360"/>
          </a:xfrm>
          <a:prstGeom xmlns:a="http://schemas.openxmlformats.org/drawingml/2006/main" prst="straightConnector1">
            <a:avLst/>
          </a:prstGeom>
          <a:ln xmlns:a="http://schemas.openxmlformats.org/drawingml/2006/main" w="10150" cap="flat">
            <a:solidFill>
              <a:srgbClr val="D6DEDA"/>
            </a:solidFill>
            <a:prstDash val="solid"/>
            <a:round/>
            <a:headEnd type="none" w="sm" len="sm"/>
            <a:tailEnd type="none" w="sm" len="sm"/>
          </a:ln>
        </p:spPr>
      </p:cxnSp>
      <p:sp>
        <p:nvSpPr>
          <p:cNvPr id="141" name="Google Shape;141;p3">
            <a:extLst xmlns:a="http://schemas.openxmlformats.org/drawingml/2006/main">
              <a:ext uri="{FF2B5EF4-FFF2-40B4-BE49-F238E27FC236}">
                <a16:creationId xmlns:a16="http://schemas.microsoft.com/office/drawing/2014/main" id="{D56D2C6A-D10B-4B23-9226-4F6FAB61BDD1}"/>
              </a:ext>
            </a:extLst>
          </p:cNvPr>
          <p:cNvSpPr>
            <a:spLocks xmlns:a="http://schemas.openxmlformats.org/drawingml/2006/main" noGrp="1"/>
          </p:cNvSpPr>
          <p:nvPr/>
        </p:nvSpPr>
        <p:spPr>
          <a:xfrm xmlns:a="http://schemas.openxmlformats.org/drawingml/2006/main">
            <a:off x="649080" y="6519600"/>
            <a:ext cx="10496880" cy="200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800" b="0" i="0" u="none" strike="noStrike" cap="none">
                <a:solidFill>
                  <a:srgbClr val="66757B"/>
                </a:solidFill>
                <a:latin typeface="Arial"/>
                <a:ea typeface="Arial"/>
                <a:cs typeface="Arial"/>
              </a:rPr>
              <a:t>Notebooks 01–02 · Cohort filtering, exclusions and stratified split</a:t>
            </a:r>
            <a:endParaRPr sz="800" b="0" i="0" u="none" strike="noStrike" cap="none">
              <a:solidFill>
                <a:srgbClr val="000000"/>
              </a:solidFill>
              <a:latin typeface="Arial"/>
              <a:ea typeface="Arial"/>
              <a:cs typeface="Arial"/>
            </a:endParaRPr>
          </a:p>
        </p:txBody>
      </p:sp>
      <p:sp>
        <p:nvSpPr>
          <p:cNvPr id="142" name="Google Shape;142;p3">
            <a:extLst xmlns:a="http://schemas.openxmlformats.org/drawingml/2006/main">
              <a:ext uri="{FF2B5EF4-FFF2-40B4-BE49-F238E27FC236}">
                <a16:creationId xmlns:a16="http://schemas.microsoft.com/office/drawing/2014/main" id="{0D442F36-3341-44A2-B7CC-4D3897D63061}"/>
              </a:ext>
            </a:extLst>
          </p:cNvPr>
          <p:cNvSpPr>
            <a:spLocks xmlns:a="http://schemas.openxmlformats.org/drawingml/2006/main" noGrp="1"/>
          </p:cNvSpPr>
          <p:nvPr/>
        </p:nvSpPr>
        <p:spPr>
          <a:xfrm xmlns:a="http://schemas.openxmlformats.org/drawingml/2006/main">
            <a:off x="11137320" y="6501240"/>
            <a:ext cx="4384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1C3138"/>
                </a:solidFill>
                <a:latin typeface="Arial"/>
                <a:ea typeface="Arial"/>
                <a:cs typeface="Arial"/>
              </a:rPr>
              <a:t>03</a:t>
            </a:r>
            <a:endParaRPr sz="900" b="0" i="0" u="none" strike="noStrike" cap="none">
              <a:solidFill>
                <a:srgbClr val="000000"/>
              </a:solidFill>
              <a:latin typeface="Arial"/>
              <a:ea typeface="Arial"/>
              <a:cs typeface="Arial"/>
            </a:endParaRPr>
          </a:p>
        </p:txBody>
      </p:sp>
      <p:sp>
        <p:nvSpPr>
          <p:cNvPr id="143" name="Google Shape;143;p3">
            <a:extLst xmlns:a="http://schemas.openxmlformats.org/drawingml/2006/main">
              <a:ext uri="{FF2B5EF4-FFF2-40B4-BE49-F238E27FC236}">
                <a16:creationId xmlns:a16="http://schemas.microsoft.com/office/drawing/2014/main" id="{D7678357-D4B1-46E4-A14C-8366C0F977FB}"/>
              </a:ext>
            </a:extLst>
          </p:cNvPr>
          <p:cNvSpPr>
            <a:spLocks xmlns:a="http://schemas.openxmlformats.org/drawingml/2006/main" noGrp="1"/>
          </p:cNvSpPr>
          <p:nvPr/>
        </p:nvSpPr>
        <p:spPr>
          <a:xfrm xmlns:a="http://schemas.openxmlformats.org/drawingml/2006/main">
            <a:off x="722520" y="175572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COHORT CONSTRUCTION</a:t>
            </a:r>
            <a:endParaRPr sz="1000" b="0" i="0" u="none" strike="noStrike" cap="none">
              <a:solidFill>
                <a:srgbClr val="000000"/>
              </a:solidFill>
              <a:latin typeface="Arial"/>
              <a:ea typeface="Arial"/>
              <a:cs typeface="Arial"/>
            </a:endParaRPr>
          </a:p>
        </p:txBody>
      </p:sp>
      <p:sp>
        <p:nvSpPr>
          <p:cNvPr id="144" name="Google Shape;144;p3">
            <a:extLst xmlns:a="http://schemas.openxmlformats.org/drawingml/2006/main">
              <a:ext uri="{FF2B5EF4-FFF2-40B4-BE49-F238E27FC236}">
                <a16:creationId xmlns:a16="http://schemas.microsoft.com/office/drawing/2014/main" id="{0C667C4C-370E-418A-BBBC-BB66E8E94119}"/>
              </a:ext>
            </a:extLst>
          </p:cNvPr>
          <p:cNvSpPr>
            <a:spLocks xmlns:a="http://schemas.openxmlformats.org/drawingml/2006/main" noGrp="1"/>
          </p:cNvSpPr>
          <p:nvPr/>
        </p:nvSpPr>
        <p:spPr>
          <a:xfrm xmlns:a="http://schemas.openxmlformats.org/drawingml/2006/main">
            <a:off x="722520" y="2167200"/>
            <a:ext cx="2605680" cy="1105920"/>
          </a:xfrm>
          <a:prstGeom xmlns:a="http://schemas.openxmlformats.org/drawingml/2006/main" prst="rect">
            <a:avLst/>
          </a:prstGeom>
          <a:solidFill xmlns:a="http://schemas.openxmlformats.org/drawingml/2006/main">
            <a:srgbClr val="FFFFFF"/>
          </a:solidFill>
          <a:ln xmlns:a="http://schemas.openxmlformats.org/drawingml/2006/main" w="10150" cap="flat" cmpd="sng">
            <a:solidFill>
              <a:srgbClr val="D6DEDA"/>
            </a:solidFill>
            <a:prstDash val="solid"/>
            <a:round/>
            <a:headEnd type="none" w="sm" len="sm"/>
            <a:tailEnd type="none" w="sm" len="sm"/>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45" name="Google Shape;145;p3">
            <a:extLst xmlns:a="http://schemas.openxmlformats.org/drawingml/2006/main">
              <a:ext uri="{FF2B5EF4-FFF2-40B4-BE49-F238E27FC236}">
                <a16:creationId xmlns:a16="http://schemas.microsoft.com/office/drawing/2014/main" id="{2878F0A8-9930-4FBC-8FF9-AA21E03C6E4F}"/>
              </a:ext>
            </a:extLst>
          </p:cNvPr>
          <p:cNvSpPr>
            <a:spLocks xmlns:a="http://schemas.openxmlformats.org/drawingml/2006/main" noGrp="1"/>
          </p:cNvSpPr>
          <p:nvPr/>
        </p:nvSpPr>
        <p:spPr>
          <a:xfrm xmlns:a="http://schemas.openxmlformats.org/drawingml/2006/main">
            <a:off x="868680" y="2340720"/>
            <a:ext cx="2331360" cy="42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i="0" u="none" strike="noStrike" cap="none">
                <a:solidFill>
                  <a:srgbClr val="1C3138"/>
                </a:solidFill>
                <a:latin typeface="Arial"/>
                <a:ea typeface="Arial"/>
                <a:cs typeface="Arial"/>
              </a:rPr>
              <a:t>101,766</a:t>
            </a:r>
            <a:endParaRPr sz="2400" b="0" i="0" u="none" strike="noStrike" cap="none">
              <a:solidFill>
                <a:srgbClr val="000000"/>
              </a:solidFill>
              <a:latin typeface="Arial"/>
              <a:ea typeface="Arial"/>
              <a:cs typeface="Arial"/>
            </a:endParaRPr>
          </a:p>
        </p:txBody>
      </p:sp>
      <p:sp>
        <p:nvSpPr>
          <p:cNvPr id="146" name="Google Shape;146;p3">
            <a:extLst xmlns:a="http://schemas.openxmlformats.org/drawingml/2006/main">
              <a:ext uri="{FF2B5EF4-FFF2-40B4-BE49-F238E27FC236}">
                <a16:creationId xmlns:a16="http://schemas.microsoft.com/office/drawing/2014/main" id="{027F5BF8-14A2-4BF2-A78A-554FC2A85033}"/>
              </a:ext>
            </a:extLst>
          </p:cNvPr>
          <p:cNvSpPr>
            <a:spLocks xmlns:a="http://schemas.openxmlformats.org/drawingml/2006/main" noGrp="1"/>
          </p:cNvSpPr>
          <p:nvPr/>
        </p:nvSpPr>
        <p:spPr>
          <a:xfrm xmlns:a="http://schemas.openxmlformats.org/drawingml/2006/main">
            <a:off x="877680" y="2862000"/>
            <a:ext cx="2331360" cy="292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Raw encounters</a:t>
            </a:r>
            <a:endParaRPr sz="1100" b="0" i="0" u="none" strike="noStrike" cap="none">
              <a:solidFill>
                <a:srgbClr val="000000"/>
              </a:solidFill>
              <a:latin typeface="Arial"/>
              <a:ea typeface="Arial"/>
              <a:cs typeface="Arial"/>
            </a:endParaRPr>
          </a:p>
        </p:txBody>
      </p:sp>
      <p:sp>
        <p:nvSpPr>
          <p:cNvPr id="147" name="Google Shape;147;p3">
            <a:extLst xmlns:a="http://schemas.openxmlformats.org/drawingml/2006/main">
              <a:ext uri="{FF2B5EF4-FFF2-40B4-BE49-F238E27FC236}">
                <a16:creationId xmlns:a16="http://schemas.microsoft.com/office/drawing/2014/main" id="{798958C7-DD91-4806-B173-D7450CB13954}"/>
              </a:ext>
            </a:extLst>
          </p:cNvPr>
          <p:cNvSpPr>
            <a:spLocks xmlns:a="http://schemas.openxmlformats.org/drawingml/2006/main" noGrp="1"/>
          </p:cNvSpPr>
          <p:nvPr/>
        </p:nvSpPr>
        <p:spPr>
          <a:xfrm xmlns:a="http://schemas.openxmlformats.org/drawingml/2006/main">
            <a:off x="3355920" y="2496240"/>
            <a:ext cx="255600" cy="338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200" b="1" i="0" u="none" strike="noStrike" cap="none">
                <a:solidFill>
                  <a:srgbClr val="BE7E5B"/>
                </a:solidFill>
                <a:latin typeface="Arial"/>
                <a:ea typeface="Arial"/>
                <a:cs typeface="Arial"/>
              </a:rPr>
              <a:t>›</a:t>
            </a:r>
            <a:endParaRPr sz="2200" b="0" i="0" u="none" strike="noStrike" cap="none">
              <a:solidFill>
                <a:srgbClr val="000000"/>
              </a:solidFill>
              <a:latin typeface="Arial"/>
              <a:ea typeface="Arial"/>
              <a:cs typeface="Arial"/>
            </a:endParaRPr>
          </a:p>
        </p:txBody>
      </p:sp>
      <p:sp>
        <p:nvSpPr>
          <p:cNvPr id="148" name="Google Shape;148;p3">
            <a:extLst xmlns:a="http://schemas.openxmlformats.org/drawingml/2006/main">
              <a:ext uri="{FF2B5EF4-FFF2-40B4-BE49-F238E27FC236}">
                <a16:creationId xmlns:a16="http://schemas.microsoft.com/office/drawing/2014/main" id="{B78197B4-D61B-4D90-A131-718FAC3979F6}"/>
              </a:ext>
            </a:extLst>
          </p:cNvPr>
          <p:cNvSpPr>
            <a:spLocks xmlns:a="http://schemas.openxmlformats.org/drawingml/2006/main" noGrp="1"/>
          </p:cNvSpPr>
          <p:nvPr/>
        </p:nvSpPr>
        <p:spPr>
          <a:xfrm xmlns:a="http://schemas.openxmlformats.org/drawingml/2006/main">
            <a:off x="3557160" y="2167200"/>
            <a:ext cx="2605680" cy="1105920"/>
          </a:xfrm>
          <a:prstGeom xmlns:a="http://schemas.openxmlformats.org/drawingml/2006/main" prst="rect">
            <a:avLst/>
          </a:prstGeom>
          <a:solidFill xmlns:a="http://schemas.openxmlformats.org/drawingml/2006/main">
            <a:srgbClr val="FFFFFF"/>
          </a:solidFill>
          <a:ln xmlns:a="http://schemas.openxmlformats.org/drawingml/2006/main" w="10150" cap="flat" cmpd="sng">
            <a:solidFill>
              <a:srgbClr val="D6DEDA"/>
            </a:solidFill>
            <a:prstDash val="solid"/>
            <a:round/>
            <a:headEnd type="none" w="sm" len="sm"/>
            <a:tailEnd type="none" w="sm" len="sm"/>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49" name="Google Shape;149;p3">
            <a:extLst xmlns:a="http://schemas.openxmlformats.org/drawingml/2006/main">
              <a:ext uri="{FF2B5EF4-FFF2-40B4-BE49-F238E27FC236}">
                <a16:creationId xmlns:a16="http://schemas.microsoft.com/office/drawing/2014/main" id="{EB18F05A-F507-4E80-A1E9-71130E4E5513}"/>
              </a:ext>
            </a:extLst>
          </p:cNvPr>
          <p:cNvSpPr>
            <a:spLocks xmlns:a="http://schemas.openxmlformats.org/drawingml/2006/main" noGrp="1"/>
          </p:cNvSpPr>
          <p:nvPr/>
        </p:nvSpPr>
        <p:spPr>
          <a:xfrm xmlns:a="http://schemas.openxmlformats.org/drawingml/2006/main">
            <a:off x="3703320" y="2340720"/>
            <a:ext cx="2331360" cy="42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i="0" u="none" strike="noStrike" cap="none">
                <a:solidFill>
                  <a:srgbClr val="1C3138"/>
                </a:solidFill>
                <a:latin typeface="Arial"/>
                <a:ea typeface="Arial"/>
                <a:cs typeface="Arial"/>
              </a:rPr>
              <a:t>71,518</a:t>
            </a:r>
            <a:endParaRPr sz="2400" b="0" i="0" u="none" strike="noStrike" cap="none">
              <a:solidFill>
                <a:srgbClr val="000000"/>
              </a:solidFill>
              <a:latin typeface="Arial"/>
              <a:ea typeface="Arial"/>
              <a:cs typeface="Arial"/>
            </a:endParaRPr>
          </a:p>
        </p:txBody>
      </p:sp>
      <p:sp>
        <p:nvSpPr>
          <p:cNvPr id="150" name="Google Shape;150;p3">
            <a:extLst xmlns:a="http://schemas.openxmlformats.org/drawingml/2006/main">
              <a:ext uri="{FF2B5EF4-FFF2-40B4-BE49-F238E27FC236}">
                <a16:creationId xmlns:a16="http://schemas.microsoft.com/office/drawing/2014/main" id="{E4FE9B88-7C08-4713-AE46-0BBC30B927E1}"/>
              </a:ext>
            </a:extLst>
          </p:cNvPr>
          <p:cNvSpPr>
            <a:spLocks xmlns:a="http://schemas.openxmlformats.org/drawingml/2006/main" noGrp="1"/>
          </p:cNvSpPr>
          <p:nvPr/>
        </p:nvSpPr>
        <p:spPr>
          <a:xfrm xmlns:a="http://schemas.openxmlformats.org/drawingml/2006/main">
            <a:off x="3712320" y="2862000"/>
            <a:ext cx="2331360" cy="292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First encounter / patient</a:t>
            </a:r>
            <a:endParaRPr sz="1100" b="0" i="0" u="none" strike="noStrike" cap="none">
              <a:solidFill>
                <a:srgbClr val="000000"/>
              </a:solidFill>
              <a:latin typeface="Arial"/>
              <a:ea typeface="Arial"/>
              <a:cs typeface="Arial"/>
            </a:endParaRPr>
          </a:p>
        </p:txBody>
      </p:sp>
      <p:sp>
        <p:nvSpPr>
          <p:cNvPr id="151" name="Google Shape;151;p3">
            <a:extLst xmlns:a="http://schemas.openxmlformats.org/drawingml/2006/main">
              <a:ext uri="{FF2B5EF4-FFF2-40B4-BE49-F238E27FC236}">
                <a16:creationId xmlns:a16="http://schemas.microsoft.com/office/drawing/2014/main" id="{9B4E5EDD-9AF1-456E-BF39-B28573292488}"/>
              </a:ext>
            </a:extLst>
          </p:cNvPr>
          <p:cNvSpPr>
            <a:spLocks xmlns:a="http://schemas.openxmlformats.org/drawingml/2006/main" noGrp="1"/>
          </p:cNvSpPr>
          <p:nvPr/>
        </p:nvSpPr>
        <p:spPr>
          <a:xfrm xmlns:a="http://schemas.openxmlformats.org/drawingml/2006/main">
            <a:off x="6190560" y="2496240"/>
            <a:ext cx="255600" cy="338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200" b="1" i="0" u="none" strike="noStrike" cap="none">
                <a:solidFill>
                  <a:srgbClr val="BE7E5B"/>
                </a:solidFill>
                <a:latin typeface="Arial"/>
                <a:ea typeface="Arial"/>
                <a:cs typeface="Arial"/>
              </a:rPr>
              <a:t>›</a:t>
            </a:r>
            <a:endParaRPr sz="2200" b="0" i="0" u="none" strike="noStrike" cap="none">
              <a:solidFill>
                <a:srgbClr val="000000"/>
              </a:solidFill>
              <a:latin typeface="Arial"/>
              <a:ea typeface="Arial"/>
              <a:cs typeface="Arial"/>
            </a:endParaRPr>
          </a:p>
        </p:txBody>
      </p:sp>
      <p:sp>
        <p:nvSpPr>
          <p:cNvPr id="152" name="Google Shape;152;p3">
            <a:extLst xmlns:a="http://schemas.openxmlformats.org/drawingml/2006/main">
              <a:ext uri="{FF2B5EF4-FFF2-40B4-BE49-F238E27FC236}">
                <a16:creationId xmlns:a16="http://schemas.microsoft.com/office/drawing/2014/main" id="{868F748D-FF95-48D0-86A6-4D43C38266CE}"/>
              </a:ext>
            </a:extLst>
          </p:cNvPr>
          <p:cNvSpPr>
            <a:spLocks xmlns:a="http://schemas.openxmlformats.org/drawingml/2006/main" noGrp="1"/>
          </p:cNvSpPr>
          <p:nvPr/>
        </p:nvSpPr>
        <p:spPr>
          <a:xfrm xmlns:a="http://schemas.openxmlformats.org/drawingml/2006/main">
            <a:off x="6391800" y="2167200"/>
            <a:ext cx="2605680" cy="1105920"/>
          </a:xfrm>
          <a:prstGeom xmlns:a="http://schemas.openxmlformats.org/drawingml/2006/main" prst="rect">
            <a:avLst/>
          </a:prstGeom>
          <a:solidFill xmlns:a="http://schemas.openxmlformats.org/drawingml/2006/main">
            <a:srgbClr val="FFFFFF"/>
          </a:solidFill>
          <a:ln xmlns:a="http://schemas.openxmlformats.org/drawingml/2006/main" w="10150" cap="flat" cmpd="sng">
            <a:solidFill>
              <a:srgbClr val="D6DEDA"/>
            </a:solidFill>
            <a:prstDash val="solid"/>
            <a:round/>
            <a:headEnd type="none" w="sm" len="sm"/>
            <a:tailEnd type="none" w="sm" len="sm"/>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53" name="Google Shape;153;p3">
            <a:extLst xmlns:a="http://schemas.openxmlformats.org/drawingml/2006/main">
              <a:ext uri="{FF2B5EF4-FFF2-40B4-BE49-F238E27FC236}">
                <a16:creationId xmlns:a16="http://schemas.microsoft.com/office/drawing/2014/main" id="{D2354D5B-6591-4D7D-9CCE-DAECD156F7C2}"/>
              </a:ext>
            </a:extLst>
          </p:cNvPr>
          <p:cNvSpPr>
            <a:spLocks xmlns:a="http://schemas.openxmlformats.org/drawingml/2006/main" noGrp="1"/>
          </p:cNvSpPr>
          <p:nvPr/>
        </p:nvSpPr>
        <p:spPr>
          <a:xfrm xmlns:a="http://schemas.openxmlformats.org/drawingml/2006/main">
            <a:off x="6537960" y="2340720"/>
            <a:ext cx="2331360" cy="42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i="0" u="none" strike="noStrike" cap="none">
                <a:solidFill>
                  <a:srgbClr val="1C3138"/>
                </a:solidFill>
                <a:latin typeface="Arial"/>
                <a:ea typeface="Arial"/>
                <a:cs typeface="Arial"/>
              </a:rPr>
              <a:t>69,973</a:t>
            </a:r>
            <a:endParaRPr sz="2400" b="0" i="0" u="none" strike="noStrike" cap="none">
              <a:solidFill>
                <a:srgbClr val="000000"/>
              </a:solidFill>
              <a:latin typeface="Arial"/>
              <a:ea typeface="Arial"/>
              <a:cs typeface="Arial"/>
            </a:endParaRPr>
          </a:p>
        </p:txBody>
      </p:sp>
      <p:sp>
        <p:nvSpPr>
          <p:cNvPr id="154" name="Google Shape;154;p3">
            <a:extLst xmlns:a="http://schemas.openxmlformats.org/drawingml/2006/main">
              <a:ext uri="{FF2B5EF4-FFF2-40B4-BE49-F238E27FC236}">
                <a16:creationId xmlns:a16="http://schemas.microsoft.com/office/drawing/2014/main" id="{86076F6E-0FBF-49B7-A75E-4D3371DE1B15}"/>
              </a:ext>
            </a:extLst>
          </p:cNvPr>
          <p:cNvSpPr>
            <a:spLocks xmlns:a="http://schemas.openxmlformats.org/drawingml/2006/main" noGrp="1"/>
          </p:cNvSpPr>
          <p:nvPr/>
        </p:nvSpPr>
        <p:spPr>
          <a:xfrm xmlns:a="http://schemas.openxmlformats.org/drawingml/2006/main">
            <a:off x="6546960" y="2862000"/>
            <a:ext cx="2331360" cy="292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Exclude death / hospice</a:t>
            </a:r>
            <a:endParaRPr sz="1100" b="0" i="0" u="none" strike="noStrike" cap="none">
              <a:solidFill>
                <a:srgbClr val="000000"/>
              </a:solidFill>
              <a:latin typeface="Arial"/>
              <a:ea typeface="Arial"/>
              <a:cs typeface="Arial"/>
            </a:endParaRPr>
          </a:p>
        </p:txBody>
      </p:sp>
      <p:sp>
        <p:nvSpPr>
          <p:cNvPr id="155" name="Google Shape;155;p3">
            <a:extLst xmlns:a="http://schemas.openxmlformats.org/drawingml/2006/main">
              <a:ext uri="{FF2B5EF4-FFF2-40B4-BE49-F238E27FC236}">
                <a16:creationId xmlns:a16="http://schemas.microsoft.com/office/drawing/2014/main" id="{9AB3809D-B260-4375-BB77-C8007727C823}"/>
              </a:ext>
            </a:extLst>
          </p:cNvPr>
          <p:cNvSpPr>
            <a:spLocks xmlns:a="http://schemas.openxmlformats.org/drawingml/2006/main" noGrp="1"/>
          </p:cNvSpPr>
          <p:nvPr/>
        </p:nvSpPr>
        <p:spPr>
          <a:xfrm xmlns:a="http://schemas.openxmlformats.org/drawingml/2006/main">
            <a:off x="9025200" y="2496240"/>
            <a:ext cx="255600" cy="338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200" b="1" i="0" u="none" strike="noStrike" cap="none">
                <a:solidFill>
                  <a:srgbClr val="BE7E5B"/>
                </a:solidFill>
                <a:latin typeface="Arial"/>
                <a:ea typeface="Arial"/>
                <a:cs typeface="Arial"/>
              </a:rPr>
              <a:t>›</a:t>
            </a:r>
            <a:endParaRPr sz="2200" b="0" i="0" u="none" strike="noStrike" cap="none">
              <a:solidFill>
                <a:srgbClr val="000000"/>
              </a:solidFill>
              <a:latin typeface="Arial"/>
              <a:ea typeface="Arial"/>
              <a:cs typeface="Arial"/>
            </a:endParaRPr>
          </a:p>
        </p:txBody>
      </p:sp>
      <p:sp>
        <p:nvSpPr>
          <p:cNvPr id="156" name="Google Shape;156;p3">
            <a:extLst xmlns:a="http://schemas.openxmlformats.org/drawingml/2006/main">
              <a:ext uri="{FF2B5EF4-FFF2-40B4-BE49-F238E27FC236}">
                <a16:creationId xmlns:a16="http://schemas.microsoft.com/office/drawing/2014/main" id="{E4BAA616-B2AF-4257-BBB2-66AFE697CE1A}"/>
              </a:ext>
            </a:extLst>
          </p:cNvPr>
          <p:cNvSpPr>
            <a:spLocks xmlns:a="http://schemas.openxmlformats.org/drawingml/2006/main" noGrp="1"/>
          </p:cNvSpPr>
          <p:nvPr/>
        </p:nvSpPr>
        <p:spPr>
          <a:xfrm xmlns:a="http://schemas.openxmlformats.org/drawingml/2006/main">
            <a:off x="9226440" y="2167200"/>
            <a:ext cx="2605680" cy="1105920"/>
          </a:xfrm>
          <a:prstGeom xmlns:a="http://schemas.openxmlformats.org/drawingml/2006/main" prst="rect">
            <a:avLst/>
          </a:prstGeom>
          <a:solidFill xmlns:a="http://schemas.openxmlformats.org/drawingml/2006/main">
            <a:srgbClr val="FFFFFF"/>
          </a:solidFill>
          <a:ln xmlns:a="http://schemas.openxmlformats.org/drawingml/2006/main" w="10150" cap="flat" cmpd="sng">
            <a:solidFill>
              <a:srgbClr val="D6DEDA"/>
            </a:solidFill>
            <a:prstDash val="solid"/>
            <a:round/>
            <a:headEnd type="none" w="sm" len="sm"/>
            <a:tailEnd type="none" w="sm" len="sm"/>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57" name="Google Shape;157;p3">
            <a:extLst xmlns:a="http://schemas.openxmlformats.org/drawingml/2006/main">
              <a:ext uri="{FF2B5EF4-FFF2-40B4-BE49-F238E27FC236}">
                <a16:creationId xmlns:a16="http://schemas.microsoft.com/office/drawing/2014/main" id="{1912B13D-08FA-465B-A496-DC3BE7CFC57A}"/>
              </a:ext>
            </a:extLst>
          </p:cNvPr>
          <p:cNvSpPr>
            <a:spLocks xmlns:a="http://schemas.openxmlformats.org/drawingml/2006/main" noGrp="1"/>
          </p:cNvSpPr>
          <p:nvPr/>
        </p:nvSpPr>
        <p:spPr>
          <a:xfrm xmlns:a="http://schemas.openxmlformats.org/drawingml/2006/main">
            <a:off x="9372600" y="2340720"/>
            <a:ext cx="2331360" cy="42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i="0" u="none" strike="noStrike" cap="none">
                <a:solidFill>
                  <a:srgbClr val="1C3138"/>
                </a:solidFill>
                <a:latin typeface="Arial"/>
                <a:ea typeface="Arial"/>
                <a:cs typeface="Arial"/>
              </a:rPr>
              <a:t>69,970</a:t>
            </a:r>
            <a:endParaRPr sz="2400" b="0" i="0" u="none" strike="noStrike" cap="none">
              <a:solidFill>
                <a:srgbClr val="000000"/>
              </a:solidFill>
              <a:latin typeface="Arial"/>
              <a:ea typeface="Arial"/>
              <a:cs typeface="Arial"/>
            </a:endParaRPr>
          </a:p>
        </p:txBody>
      </p:sp>
      <p:sp>
        <p:nvSpPr>
          <p:cNvPr id="158" name="Google Shape;158;p3">
            <a:extLst xmlns:a="http://schemas.openxmlformats.org/drawingml/2006/main">
              <a:ext uri="{FF2B5EF4-FFF2-40B4-BE49-F238E27FC236}">
                <a16:creationId xmlns:a16="http://schemas.microsoft.com/office/drawing/2014/main" id="{97B5797C-9E17-4E6C-9C71-7F7F495DA71F}"/>
              </a:ext>
            </a:extLst>
          </p:cNvPr>
          <p:cNvSpPr>
            <a:spLocks xmlns:a="http://schemas.openxmlformats.org/drawingml/2006/main" noGrp="1"/>
          </p:cNvSpPr>
          <p:nvPr/>
        </p:nvSpPr>
        <p:spPr>
          <a:xfrm xmlns:a="http://schemas.openxmlformats.org/drawingml/2006/main">
            <a:off x="9381600" y="2862000"/>
            <a:ext cx="2331360" cy="292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Remove invalid gender</a:t>
            </a:r>
            <a:endParaRPr sz="1100" b="0" i="0" u="none" strike="noStrike" cap="none">
              <a:solidFill>
                <a:srgbClr val="000000"/>
              </a:solidFill>
              <a:latin typeface="Arial"/>
              <a:ea typeface="Arial"/>
              <a:cs typeface="Arial"/>
            </a:endParaRPr>
          </a:p>
        </p:txBody>
      </p:sp>
      <p:cxnSp>
        <p:nvCxnSpPr>
          <p:cNvPr id="159" name="Google Shape;159;p3">
            <a:extLst xmlns:a="http://schemas.openxmlformats.org/drawingml/2006/main">
              <a:ext uri="{FF2B5EF4-FFF2-40B4-BE49-F238E27FC236}">
                <a16:creationId xmlns:a16="http://schemas.microsoft.com/office/drawing/2014/main" id="{1221D146-1084-4B67-99B7-5DA94F6E8DC4}"/>
              </a:ext>
            </a:extLst>
          </p:cNvPr>
          <p:cNvCxnSpPr/>
          <p:nvPr/>
        </p:nvCxnSpPr>
        <p:spPr>
          <a:xfrm xmlns:a="http://schemas.openxmlformats.org/drawingml/2006/main">
            <a:off x="722160" y="3584160"/>
            <a:ext cx="1072620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160" name="Google Shape;160;p3">
            <a:extLst xmlns:a="http://schemas.openxmlformats.org/drawingml/2006/main">
              <a:ext uri="{FF2B5EF4-FFF2-40B4-BE49-F238E27FC236}">
                <a16:creationId xmlns:a16="http://schemas.microsoft.com/office/drawing/2014/main" id="{A10F2679-3679-4308-9CE8-6C17AB44C2CE}"/>
              </a:ext>
            </a:extLst>
          </p:cNvPr>
          <p:cNvSpPr>
            <a:spLocks xmlns:a="http://schemas.openxmlformats.org/drawingml/2006/main" noGrp="1"/>
          </p:cNvSpPr>
          <p:nvPr/>
        </p:nvSpPr>
        <p:spPr>
          <a:xfrm xmlns:a="http://schemas.openxmlformats.org/drawingml/2006/main">
            <a:off x="768240" y="3867840"/>
            <a:ext cx="2889000" cy="539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3000" b="1" i="0" u="none" strike="noStrike" cap="none">
                <a:solidFill>
                  <a:srgbClr val="397A7C"/>
                </a:solidFill>
                <a:latin typeface="Arial"/>
                <a:ea typeface="Arial"/>
                <a:cs typeface="Arial"/>
              </a:rPr>
              <a:t>48,978</a:t>
            </a:r>
            <a:endParaRPr sz="3000" b="0" i="0" u="none" strike="noStrike" cap="none">
              <a:solidFill>
                <a:srgbClr val="000000"/>
              </a:solidFill>
              <a:latin typeface="Arial"/>
              <a:ea typeface="Arial"/>
              <a:cs typeface="Arial"/>
            </a:endParaRPr>
          </a:p>
        </p:txBody>
      </p:sp>
      <p:sp>
        <p:nvSpPr>
          <p:cNvPr id="161" name="Google Shape;161;p3">
            <a:extLst xmlns:a="http://schemas.openxmlformats.org/drawingml/2006/main">
              <a:ext uri="{FF2B5EF4-FFF2-40B4-BE49-F238E27FC236}">
                <a16:creationId xmlns:a16="http://schemas.microsoft.com/office/drawing/2014/main" id="{2396C1C4-05D2-4FDC-A8C6-5552E17C360E}"/>
              </a:ext>
            </a:extLst>
          </p:cNvPr>
          <p:cNvSpPr>
            <a:spLocks xmlns:a="http://schemas.openxmlformats.org/drawingml/2006/main" noGrp="1"/>
          </p:cNvSpPr>
          <p:nvPr/>
        </p:nvSpPr>
        <p:spPr>
          <a:xfrm xmlns:a="http://schemas.openxmlformats.org/drawingml/2006/main">
            <a:off x="768240" y="4526280"/>
            <a:ext cx="2916720" cy="310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Training  ·  70%</a:t>
            </a:r>
            <a:endParaRPr sz="1300" b="0" i="0" u="none" strike="noStrike" cap="none">
              <a:solidFill>
                <a:srgbClr val="000000"/>
              </a:solidFill>
              <a:latin typeface="Arial"/>
              <a:ea typeface="Arial"/>
              <a:cs typeface="Arial"/>
            </a:endParaRPr>
          </a:p>
        </p:txBody>
      </p:sp>
      <p:sp>
        <p:nvSpPr>
          <p:cNvPr id="162" name="Google Shape;162;p3">
            <a:extLst xmlns:a="http://schemas.openxmlformats.org/drawingml/2006/main">
              <a:ext uri="{FF2B5EF4-FFF2-40B4-BE49-F238E27FC236}">
                <a16:creationId xmlns:a16="http://schemas.microsoft.com/office/drawing/2014/main" id="{78D89974-A1F6-4D2E-9C1D-EC66DB730B03}"/>
              </a:ext>
            </a:extLst>
          </p:cNvPr>
          <p:cNvSpPr>
            <a:spLocks xmlns:a="http://schemas.openxmlformats.org/drawingml/2006/main" noGrp="1"/>
          </p:cNvSpPr>
          <p:nvPr/>
        </p:nvSpPr>
        <p:spPr>
          <a:xfrm xmlns:a="http://schemas.openxmlformats.org/drawingml/2006/main">
            <a:off x="4544640" y="3867840"/>
            <a:ext cx="2889000" cy="539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3000" b="1" i="0" u="none" strike="noStrike" cap="none">
                <a:solidFill>
                  <a:srgbClr val="397A7C"/>
                </a:solidFill>
                <a:latin typeface="Arial"/>
                <a:ea typeface="Arial"/>
                <a:cs typeface="Arial"/>
              </a:rPr>
              <a:t>10,496</a:t>
            </a:r>
            <a:endParaRPr sz="3000" b="0" i="0" u="none" strike="noStrike" cap="none">
              <a:solidFill>
                <a:srgbClr val="000000"/>
              </a:solidFill>
              <a:latin typeface="Arial"/>
              <a:ea typeface="Arial"/>
              <a:cs typeface="Arial"/>
            </a:endParaRPr>
          </a:p>
        </p:txBody>
      </p:sp>
      <p:sp>
        <p:nvSpPr>
          <p:cNvPr id="163" name="Google Shape;163;p3">
            <a:extLst xmlns:a="http://schemas.openxmlformats.org/drawingml/2006/main">
              <a:ext uri="{FF2B5EF4-FFF2-40B4-BE49-F238E27FC236}">
                <a16:creationId xmlns:a16="http://schemas.microsoft.com/office/drawing/2014/main" id="{F2F89A39-552B-4D33-B1D8-A0F63F1E7CDD}"/>
              </a:ext>
            </a:extLst>
          </p:cNvPr>
          <p:cNvSpPr>
            <a:spLocks xmlns:a="http://schemas.openxmlformats.org/drawingml/2006/main" noGrp="1"/>
          </p:cNvSpPr>
          <p:nvPr/>
        </p:nvSpPr>
        <p:spPr>
          <a:xfrm xmlns:a="http://schemas.openxmlformats.org/drawingml/2006/main">
            <a:off x="4544640" y="4526280"/>
            <a:ext cx="2916720" cy="310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Validation  ·  15%</a:t>
            </a:r>
            <a:endParaRPr sz="1300" b="0" i="0" u="none" strike="noStrike" cap="none">
              <a:solidFill>
                <a:srgbClr val="000000"/>
              </a:solidFill>
              <a:latin typeface="Arial"/>
              <a:ea typeface="Arial"/>
              <a:cs typeface="Arial"/>
            </a:endParaRPr>
          </a:p>
        </p:txBody>
      </p:sp>
      <p:sp>
        <p:nvSpPr>
          <p:cNvPr id="164" name="Google Shape;164;p3">
            <a:extLst xmlns:a="http://schemas.openxmlformats.org/drawingml/2006/main">
              <a:ext uri="{FF2B5EF4-FFF2-40B4-BE49-F238E27FC236}">
                <a16:creationId xmlns:a16="http://schemas.microsoft.com/office/drawing/2014/main" id="{E2851402-F7B6-4E0A-8FEE-8B4A2235E1C2}"/>
              </a:ext>
            </a:extLst>
          </p:cNvPr>
          <p:cNvSpPr>
            <a:spLocks xmlns:a="http://schemas.openxmlformats.org/drawingml/2006/main" noGrp="1"/>
          </p:cNvSpPr>
          <p:nvPr/>
        </p:nvSpPr>
        <p:spPr>
          <a:xfrm xmlns:a="http://schemas.openxmlformats.org/drawingml/2006/main">
            <a:off x="8293680" y="3867840"/>
            <a:ext cx="2889000" cy="539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3000" b="1" i="0" u="none" strike="noStrike" cap="none">
                <a:solidFill>
                  <a:srgbClr val="397A7C"/>
                </a:solidFill>
                <a:latin typeface="Arial"/>
                <a:ea typeface="Arial"/>
                <a:cs typeface="Arial"/>
              </a:rPr>
              <a:t>10,496</a:t>
            </a:r>
            <a:endParaRPr sz="3000" b="0" i="0" u="none" strike="noStrike" cap="none">
              <a:solidFill>
                <a:srgbClr val="000000"/>
              </a:solidFill>
              <a:latin typeface="Arial"/>
              <a:ea typeface="Arial"/>
              <a:cs typeface="Arial"/>
            </a:endParaRPr>
          </a:p>
        </p:txBody>
      </p:sp>
      <p:sp>
        <p:nvSpPr>
          <p:cNvPr id="165" name="Google Shape;165;p3">
            <a:extLst xmlns:a="http://schemas.openxmlformats.org/drawingml/2006/main">
              <a:ext uri="{FF2B5EF4-FFF2-40B4-BE49-F238E27FC236}">
                <a16:creationId xmlns:a16="http://schemas.microsoft.com/office/drawing/2014/main" id="{F8322CC4-1D5A-4642-A233-8097F144CE1E}"/>
              </a:ext>
            </a:extLst>
          </p:cNvPr>
          <p:cNvSpPr>
            <a:spLocks xmlns:a="http://schemas.openxmlformats.org/drawingml/2006/main" noGrp="1"/>
          </p:cNvSpPr>
          <p:nvPr/>
        </p:nvSpPr>
        <p:spPr>
          <a:xfrm xmlns:a="http://schemas.openxmlformats.org/drawingml/2006/main">
            <a:off x="8293680" y="4526280"/>
            <a:ext cx="2916720" cy="310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Test  ·  15%</a:t>
            </a:r>
            <a:endParaRPr sz="1300" b="0" i="0" u="none" strike="noStrike" cap="none">
              <a:solidFill>
                <a:srgbClr val="000000"/>
              </a:solidFill>
              <a:latin typeface="Arial"/>
              <a:ea typeface="Arial"/>
              <a:cs typeface="Arial"/>
            </a:endParaRPr>
          </a:p>
        </p:txBody>
      </p:sp>
      <p:sp>
        <p:nvSpPr>
          <p:cNvPr id="166" name="Google Shape;166;p3">
            <a:extLst xmlns:a="http://schemas.openxmlformats.org/drawingml/2006/main">
              <a:ext uri="{FF2B5EF4-FFF2-40B4-BE49-F238E27FC236}">
                <a16:creationId xmlns:a16="http://schemas.microsoft.com/office/drawing/2014/main" id="{BFEC4A77-29C1-45B9-980D-F1E1B877D1FA}"/>
              </a:ext>
            </a:extLst>
          </p:cNvPr>
          <p:cNvSpPr>
            <a:spLocks xmlns:a="http://schemas.openxmlformats.org/drawingml/2006/main" noGrp="1"/>
          </p:cNvSpPr>
          <p:nvPr/>
        </p:nvSpPr>
        <p:spPr>
          <a:xfrm xmlns:a="http://schemas.openxmlformats.org/drawingml/2006/main">
            <a:off x="758880" y="5212080"/>
            <a:ext cx="10524240" cy="46584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67" name="Google Shape;167;p3">
            <a:extLst xmlns:a="http://schemas.openxmlformats.org/drawingml/2006/main">
              <a:ext uri="{FF2B5EF4-FFF2-40B4-BE49-F238E27FC236}">
                <a16:creationId xmlns:a16="http://schemas.microsoft.com/office/drawing/2014/main" id="{08AABBE4-F6AF-4852-832E-CB50D5ADC979}"/>
              </a:ext>
            </a:extLst>
          </p:cNvPr>
          <p:cNvSpPr>
            <a:spLocks xmlns:a="http://schemas.openxmlformats.org/drawingml/2006/main" noGrp="1"/>
          </p:cNvSpPr>
          <p:nvPr/>
        </p:nvSpPr>
        <p:spPr>
          <a:xfrm xmlns:a="http://schemas.openxmlformats.org/drawingml/2006/main">
            <a:off x="758880" y="5212080"/>
            <a:ext cx="45360" cy="46584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68" name="Google Shape;168;p3">
            <a:extLst xmlns:a="http://schemas.openxmlformats.org/drawingml/2006/main">
              <a:ext uri="{FF2B5EF4-FFF2-40B4-BE49-F238E27FC236}">
                <a16:creationId xmlns:a16="http://schemas.microsoft.com/office/drawing/2014/main" id="{DDBEAD97-3E3D-42F1-824A-53E720705F74}"/>
              </a:ext>
            </a:extLst>
          </p:cNvPr>
          <p:cNvSpPr>
            <a:spLocks xmlns:a="http://schemas.openxmlformats.org/drawingml/2006/main" noGrp="1"/>
          </p:cNvSpPr>
          <p:nvPr/>
        </p:nvSpPr>
        <p:spPr>
          <a:xfrm xmlns:a="http://schemas.openxmlformats.org/drawingml/2006/main">
            <a:off x="969120" y="5321880"/>
            <a:ext cx="2029680" cy="301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400" b="1" i="0" u="none" strike="noStrike" cap="none">
                <a:solidFill>
                  <a:srgbClr val="1C3138"/>
                </a:solidFill>
                <a:latin typeface="Arial"/>
                <a:ea typeface="Arial"/>
                <a:cs typeface="Arial"/>
              </a:rPr>
              <a:t>Base rate</a:t>
            </a:r>
            <a:endParaRPr sz="1400" b="0" i="0" u="none" strike="noStrike" cap="none">
              <a:solidFill>
                <a:srgbClr val="000000"/>
              </a:solidFill>
              <a:latin typeface="Arial"/>
              <a:ea typeface="Arial"/>
              <a:cs typeface="Arial"/>
            </a:endParaRPr>
          </a:p>
        </p:txBody>
      </p:sp>
      <p:sp>
        <p:nvSpPr>
          <p:cNvPr id="169" name="Google Shape;169;p3">
            <a:extLst xmlns:a="http://schemas.openxmlformats.org/drawingml/2006/main">
              <a:ext uri="{FF2B5EF4-FFF2-40B4-BE49-F238E27FC236}">
                <a16:creationId xmlns:a16="http://schemas.microsoft.com/office/drawing/2014/main" id="{D7AA31DF-7E48-4036-BFDE-37D7FF0C7799}"/>
              </a:ext>
            </a:extLst>
          </p:cNvPr>
          <p:cNvSpPr>
            <a:spLocks xmlns:a="http://schemas.openxmlformats.org/drawingml/2006/main" noGrp="1"/>
          </p:cNvSpPr>
          <p:nvPr/>
        </p:nvSpPr>
        <p:spPr>
          <a:xfrm xmlns:a="http://schemas.openxmlformats.org/drawingml/2006/main">
            <a:off x="2980800" y="5321880"/>
            <a:ext cx="8119440" cy="301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6,277 readmissions in the final cohort  ·  8.97% positive / 91.03% negative</a:t>
            </a:r>
            <a:endParaRPr sz="1300" b="0" i="0" u="none" strike="noStrike" cap="none">
              <a:solidFill>
                <a:srgbClr val="000000"/>
              </a:solidFill>
              <a:latin typeface="Arial"/>
              <a:ea typeface="Arial"/>
              <a:cs typeface="Arial"/>
            </a:endParaRPr>
          </a:p>
        </p:txBody>
      </p:sp>
      <p:sp>
        <p:nvSpPr>
          <p:cNvPr id="170" name="Google Shape;170;p3">
            <a:extLst xmlns:a="http://schemas.openxmlformats.org/drawingml/2006/main">
              <a:ext uri="{FF2B5EF4-FFF2-40B4-BE49-F238E27FC236}">
                <a16:creationId xmlns:a16="http://schemas.microsoft.com/office/drawing/2014/main" id="{C8EFC655-FC07-4CF0-AD11-7B56FE762874}"/>
              </a:ext>
            </a:extLst>
          </p:cNvPr>
          <p:cNvSpPr>
            <a:spLocks xmlns:a="http://schemas.openxmlformats.org/drawingml/2006/main" noGrp="1"/>
          </p:cNvSpPr>
          <p:nvPr/>
        </p:nvSpPr>
        <p:spPr>
          <a:xfrm xmlns:a="http://schemas.openxmlformats.org/drawingml/2006/main">
            <a:off x="667440" y="5870520"/>
            <a:ext cx="10899360" cy="420120"/>
          </a:xfrm>
          <a:prstGeom xmlns:a="http://schemas.openxmlformats.org/drawingml/2006/main" prst="rect">
            <a:avLst/>
          </a:prstGeom>
          <a:solidFill xmlns:a="http://schemas.openxmlformats.org/drawingml/2006/main">
            <a:srgbClr val="F8EAD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71" name="Google Shape;171;p3">
            <a:extLst xmlns:a="http://schemas.openxmlformats.org/drawingml/2006/main">
              <a:ext uri="{FF2B5EF4-FFF2-40B4-BE49-F238E27FC236}">
                <a16:creationId xmlns:a16="http://schemas.microsoft.com/office/drawing/2014/main" id="{E4B656A8-0F7E-4BD5-9881-BBC141738BA2}"/>
              </a:ext>
            </a:extLst>
          </p:cNvPr>
          <p:cNvSpPr>
            <a:spLocks xmlns:a="http://schemas.openxmlformats.org/drawingml/2006/main" noGrp="1"/>
          </p:cNvSpPr>
          <p:nvPr/>
        </p:nvSpPr>
        <p:spPr>
          <a:xfrm xmlns:a="http://schemas.openxmlformats.org/drawingml/2006/main">
            <a:off x="667440" y="5870520"/>
            <a:ext cx="50040" cy="42012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72" name="Google Shape;172;p3">
            <a:extLst xmlns:a="http://schemas.openxmlformats.org/drawingml/2006/main">
              <a:ext uri="{FF2B5EF4-FFF2-40B4-BE49-F238E27FC236}">
                <a16:creationId xmlns:a16="http://schemas.microsoft.com/office/drawing/2014/main" id="{441B16A2-9F7A-4820-A8EE-F1F4097D88EC}"/>
              </a:ext>
            </a:extLst>
          </p:cNvPr>
          <p:cNvSpPr>
            <a:spLocks xmlns:a="http://schemas.openxmlformats.org/drawingml/2006/main" noGrp="1"/>
          </p:cNvSpPr>
          <p:nvPr/>
        </p:nvSpPr>
        <p:spPr>
          <a:xfrm xmlns:a="http://schemas.openxmlformats.org/drawingml/2006/main">
            <a:off x="868680" y="5943600"/>
            <a:ext cx="10478520" cy="28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1C3138"/>
                </a:solidFill>
                <a:latin typeface="Arial"/>
                <a:ea typeface="Arial"/>
                <a:cs typeface="Arial"/>
              </a:rPr>
              <a:t>Limitation: the lowest encounter ID is a chronology proxy, not a verified admission timestamp.</a:t>
            </a:r>
            <a:endParaRPr sz="115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3610236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78" name="Google Shape;178;p4">
            <a:extLst xmlns:a="http://schemas.openxmlformats.org/drawingml/2006/main">
              <a:ext uri="{FF2B5EF4-FFF2-40B4-BE49-F238E27FC236}">
                <a16:creationId xmlns:a16="http://schemas.microsoft.com/office/drawing/2014/main" id="{9536F835-A361-437B-B54E-8D6E37E16664}"/>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F9F8F5"/>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79" name="Google Shape;179;p4">
            <a:extLst xmlns:a="http://schemas.openxmlformats.org/drawingml/2006/main">
              <a:ext uri="{FF2B5EF4-FFF2-40B4-BE49-F238E27FC236}">
                <a16:creationId xmlns:a16="http://schemas.microsoft.com/office/drawing/2014/main" id="{CE7F612E-0FEC-497F-B2D4-E1268F934BFE}"/>
              </a:ext>
            </a:extLst>
          </p:cNvPr>
          <p:cNvSpPr>
            <a:spLocks xmlns:a="http://schemas.openxmlformats.org/drawingml/2006/main" noGrp="1"/>
          </p:cNvSpPr>
          <p:nvPr/>
        </p:nvSpPr>
        <p:spPr>
          <a:xfrm xmlns:a="http://schemas.openxmlformats.org/drawingml/2006/main">
            <a:off x="493920" y="365760"/>
            <a:ext cx="109440" cy="109440"/>
          </a:xfrm>
          <a:prstGeom xmlns:a="http://schemas.openxmlformats.org/drawingml/2006/main" prst="ellipse">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32750" rIns="90000" bIns="327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80" name="Google Shape;180;p4">
            <a:extLst xmlns:a="http://schemas.openxmlformats.org/drawingml/2006/main">
              <a:ext uri="{FF2B5EF4-FFF2-40B4-BE49-F238E27FC236}">
                <a16:creationId xmlns:a16="http://schemas.microsoft.com/office/drawing/2014/main" id="{41422C6F-20CD-4C5D-86FC-C07599F7144F}"/>
              </a:ext>
            </a:extLst>
          </p:cNvPr>
          <p:cNvSpPr>
            <a:spLocks xmlns:a="http://schemas.openxmlformats.org/drawingml/2006/main" noGrp="1"/>
          </p:cNvSpPr>
          <p:nvPr/>
        </p:nvSpPr>
        <p:spPr>
          <a:xfrm xmlns:a="http://schemas.openxmlformats.org/drawingml/2006/main">
            <a:off x="7434000" y="311040"/>
            <a:ext cx="415116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66757B"/>
                </a:solidFill>
                <a:latin typeface="Arial"/>
                <a:ea typeface="Arial"/>
                <a:cs typeface="Arial"/>
              </a:rPr>
              <a:t>02–03  /  DATA PREPARATION</a:t>
            </a:r>
            <a:endParaRPr sz="900" b="0" i="0" u="none" strike="noStrike" cap="none">
              <a:solidFill>
                <a:srgbClr val="000000"/>
              </a:solidFill>
              <a:latin typeface="Arial"/>
              <a:ea typeface="Arial"/>
              <a:cs typeface="Arial"/>
            </a:endParaRPr>
          </a:p>
        </p:txBody>
      </p:sp>
      <p:sp>
        <p:nvSpPr>
          <p:cNvPr id="181" name="Google Shape;181;p4">
            <a:extLst xmlns:a="http://schemas.openxmlformats.org/drawingml/2006/main">
              <a:ext uri="{FF2B5EF4-FFF2-40B4-BE49-F238E27FC236}">
                <a16:creationId xmlns:a16="http://schemas.microsoft.com/office/drawing/2014/main" id="{909B3412-B455-445F-B64E-50BC2D6B089D}"/>
              </a:ext>
            </a:extLst>
          </p:cNvPr>
          <p:cNvSpPr>
            <a:spLocks xmlns:a="http://schemas.openxmlformats.org/drawingml/2006/main" noGrp="1"/>
          </p:cNvSpPr>
          <p:nvPr/>
        </p:nvSpPr>
        <p:spPr>
          <a:xfrm xmlns:a="http://schemas.openxmlformats.org/drawingml/2006/main">
            <a:off x="612720" y="713160"/>
            <a:ext cx="10972440" cy="630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900" b="1" i="0" u="none" strike="noStrike" cap="none">
                <a:solidFill>
                  <a:srgbClr val="1C3138"/>
                </a:solidFill>
                <a:latin typeface="Georgia"/>
                <a:ea typeface="Georgia"/>
                <a:cs typeface="Georgia"/>
              </a:rPr>
              <a:t>Missingness was handled deliberately—not erased</a:t>
            </a:r>
            <a:endParaRPr sz="2900" b="0" i="0" u="none" strike="noStrike" cap="none">
              <a:solidFill>
                <a:srgbClr val="000000"/>
              </a:solidFill>
              <a:latin typeface="Arial"/>
              <a:ea typeface="Arial"/>
              <a:cs typeface="Arial"/>
            </a:endParaRPr>
          </a:p>
        </p:txBody>
      </p:sp>
      <p:cxnSp>
        <p:nvCxnSpPr>
          <p:cNvPr id="182" name="Google Shape;182;p4">
            <a:extLst xmlns:a="http://schemas.openxmlformats.org/drawingml/2006/main">
              <a:ext uri="{FF2B5EF4-FFF2-40B4-BE49-F238E27FC236}">
                <a16:creationId xmlns:a16="http://schemas.microsoft.com/office/drawing/2014/main" id="{168C3C8C-FD1B-41B2-970F-CBFF629E87FE}"/>
              </a:ext>
            </a:extLst>
          </p:cNvPr>
          <p:cNvCxnSpPr/>
          <p:nvPr/>
        </p:nvCxnSpPr>
        <p:spPr>
          <a:xfrm xmlns:a="http://schemas.openxmlformats.org/drawingml/2006/main">
            <a:off x="640080" y="1453680"/>
            <a:ext cx="10918080" cy="360"/>
          </a:xfrm>
          <a:prstGeom xmlns:a="http://schemas.openxmlformats.org/drawingml/2006/main" prst="straightConnector1">
            <a:avLst/>
          </a:prstGeom>
          <a:ln xmlns:a="http://schemas.openxmlformats.org/drawingml/2006/main" w="15875" cap="flat">
            <a:solidFill>
              <a:srgbClr val="1C3138"/>
            </a:solidFill>
            <a:prstDash val="solid"/>
            <a:round/>
            <a:headEnd type="none" w="sm" len="sm"/>
            <a:tailEnd type="none" w="sm" len="sm"/>
          </a:ln>
        </p:spPr>
      </p:cxnSp>
      <p:cxnSp>
        <p:nvCxnSpPr>
          <p:cNvPr id="183" name="Google Shape;183;p4">
            <a:extLst xmlns:a="http://schemas.openxmlformats.org/drawingml/2006/main">
              <a:ext uri="{FF2B5EF4-FFF2-40B4-BE49-F238E27FC236}">
                <a16:creationId xmlns:a16="http://schemas.microsoft.com/office/drawing/2014/main" id="{2FE62951-1E18-4CF9-95A0-117035C865B2}"/>
              </a:ext>
            </a:extLst>
          </p:cNvPr>
          <p:cNvCxnSpPr/>
          <p:nvPr/>
        </p:nvCxnSpPr>
        <p:spPr>
          <a:xfrm xmlns:a="http://schemas.openxmlformats.org/drawingml/2006/main">
            <a:off x="630720" y="6464520"/>
            <a:ext cx="10927440" cy="360"/>
          </a:xfrm>
          <a:prstGeom xmlns:a="http://schemas.openxmlformats.org/drawingml/2006/main" prst="straightConnector1">
            <a:avLst/>
          </a:prstGeom>
          <a:ln xmlns:a="http://schemas.openxmlformats.org/drawingml/2006/main" w="10150" cap="flat">
            <a:solidFill>
              <a:srgbClr val="D6DEDA"/>
            </a:solidFill>
            <a:prstDash val="solid"/>
            <a:round/>
            <a:headEnd type="none" w="sm" len="sm"/>
            <a:tailEnd type="none" w="sm" len="sm"/>
          </a:ln>
        </p:spPr>
      </p:cxnSp>
      <p:sp>
        <p:nvSpPr>
          <p:cNvPr id="184" name="Google Shape;184;p4">
            <a:extLst xmlns:a="http://schemas.openxmlformats.org/drawingml/2006/main">
              <a:ext uri="{FF2B5EF4-FFF2-40B4-BE49-F238E27FC236}">
                <a16:creationId xmlns:a16="http://schemas.microsoft.com/office/drawing/2014/main" id="{138DF6B0-3A83-40E6-AACC-679CAF327F34}"/>
              </a:ext>
            </a:extLst>
          </p:cNvPr>
          <p:cNvSpPr>
            <a:spLocks xmlns:a="http://schemas.openxmlformats.org/drawingml/2006/main" noGrp="1"/>
          </p:cNvSpPr>
          <p:nvPr/>
        </p:nvSpPr>
        <p:spPr>
          <a:xfrm xmlns:a="http://schemas.openxmlformats.org/drawingml/2006/main">
            <a:off x="649080" y="6519600"/>
            <a:ext cx="10496880" cy="200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800" b="0" i="0" u="none" strike="noStrike" cap="none">
                <a:solidFill>
                  <a:srgbClr val="66757B"/>
                </a:solidFill>
                <a:latin typeface="Arial"/>
                <a:ea typeface="Arial"/>
                <a:cs typeface="Arial"/>
              </a:rPr>
              <a:t>Notebooks 02–03 · Data quality decisions and training-only EDA</a:t>
            </a:r>
            <a:endParaRPr sz="800" b="0" i="0" u="none" strike="noStrike" cap="none">
              <a:solidFill>
                <a:srgbClr val="000000"/>
              </a:solidFill>
              <a:latin typeface="Arial"/>
              <a:ea typeface="Arial"/>
              <a:cs typeface="Arial"/>
            </a:endParaRPr>
          </a:p>
        </p:txBody>
      </p:sp>
      <p:sp>
        <p:nvSpPr>
          <p:cNvPr id="185" name="Google Shape;185;p4">
            <a:extLst xmlns:a="http://schemas.openxmlformats.org/drawingml/2006/main">
              <a:ext uri="{FF2B5EF4-FFF2-40B4-BE49-F238E27FC236}">
                <a16:creationId xmlns:a16="http://schemas.microsoft.com/office/drawing/2014/main" id="{D6487BA2-9BB9-496B-92AB-0432B94C818F}"/>
              </a:ext>
            </a:extLst>
          </p:cNvPr>
          <p:cNvSpPr>
            <a:spLocks xmlns:a="http://schemas.openxmlformats.org/drawingml/2006/main" noGrp="1"/>
          </p:cNvSpPr>
          <p:nvPr/>
        </p:nvSpPr>
        <p:spPr>
          <a:xfrm xmlns:a="http://schemas.openxmlformats.org/drawingml/2006/main">
            <a:off x="11137320" y="6501240"/>
            <a:ext cx="4384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1C3138"/>
                </a:solidFill>
                <a:latin typeface="Arial"/>
                <a:ea typeface="Arial"/>
                <a:cs typeface="Arial"/>
              </a:rPr>
              <a:t>04</a:t>
            </a:r>
            <a:endParaRPr sz="900" b="0" i="0" u="none" strike="noStrike" cap="none">
              <a:solidFill>
                <a:srgbClr val="000000"/>
              </a:solidFill>
              <a:latin typeface="Arial"/>
              <a:ea typeface="Arial"/>
              <a:cs typeface="Arial"/>
            </a:endParaRPr>
          </a:p>
        </p:txBody>
      </p:sp>
      <p:sp>
        <p:nvSpPr>
          <p:cNvPr id="186" name="Google Shape;186;p4">
            <a:extLst xmlns:a="http://schemas.openxmlformats.org/drawingml/2006/main">
              <a:ext uri="{FF2B5EF4-FFF2-40B4-BE49-F238E27FC236}">
                <a16:creationId xmlns:a16="http://schemas.microsoft.com/office/drawing/2014/main" id="{D33DE161-6701-4DA1-8E2A-C5B2BA91431A}"/>
              </a:ext>
            </a:extLst>
          </p:cNvPr>
          <p:cNvSpPr>
            <a:spLocks xmlns:a="http://schemas.openxmlformats.org/drawingml/2006/main" noGrp="1"/>
          </p:cNvSpPr>
          <p:nvPr/>
        </p:nvSpPr>
        <p:spPr>
          <a:xfrm xmlns:a="http://schemas.openxmlformats.org/drawingml/2006/main">
            <a:off x="731520" y="173736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KEY DATA DECISIONS</a:t>
            </a:r>
            <a:endParaRPr sz="1000" b="0" i="0" u="none" strike="noStrike" cap="none">
              <a:solidFill>
                <a:srgbClr val="000000"/>
              </a:solidFill>
              <a:latin typeface="Arial"/>
              <a:ea typeface="Arial"/>
              <a:cs typeface="Arial"/>
            </a:endParaRPr>
          </a:p>
        </p:txBody>
      </p:sp>
      <p:sp>
        <p:nvSpPr>
          <p:cNvPr id="187" name="Google Shape;187;p4">
            <a:extLst xmlns:a="http://schemas.openxmlformats.org/drawingml/2006/main">
              <a:ext uri="{FF2B5EF4-FFF2-40B4-BE49-F238E27FC236}">
                <a16:creationId xmlns:a16="http://schemas.microsoft.com/office/drawing/2014/main" id="{D38CB0FE-CDAD-404A-8FC3-93E1FABA0860}"/>
              </a:ext>
            </a:extLst>
          </p:cNvPr>
          <p:cNvSpPr>
            <a:spLocks xmlns:a="http://schemas.openxmlformats.org/drawingml/2006/main" noGrp="1"/>
          </p:cNvSpPr>
          <p:nvPr/>
        </p:nvSpPr>
        <p:spPr>
          <a:xfrm xmlns:a="http://schemas.openxmlformats.org/drawingml/2006/main">
            <a:off x="740520" y="2240280"/>
            <a:ext cx="59040" cy="5904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14400" rIns="90000" bIns="144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88" name="Google Shape;188;p4">
            <a:extLst xmlns:a="http://schemas.openxmlformats.org/drawingml/2006/main">
              <a:ext uri="{FF2B5EF4-FFF2-40B4-BE49-F238E27FC236}">
                <a16:creationId xmlns:a16="http://schemas.microsoft.com/office/drawing/2014/main" id="{62755FB9-E3C4-4F98-8F9F-5CAC7D4801FF}"/>
              </a:ext>
            </a:extLst>
          </p:cNvPr>
          <p:cNvSpPr>
            <a:spLocks xmlns:a="http://schemas.openxmlformats.org/drawingml/2006/main" noGrp="1"/>
          </p:cNvSpPr>
          <p:nvPr/>
        </p:nvSpPr>
        <p:spPr>
          <a:xfrm xmlns:a="http://schemas.openxmlformats.org/drawingml/2006/main">
            <a:off x="987480" y="2139840"/>
            <a:ext cx="4818600" cy="539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50" b="0" i="0" u="none" strike="noStrike" cap="none">
                <a:solidFill>
                  <a:srgbClr val="24343B"/>
                </a:solidFill>
                <a:latin typeface="Arial"/>
                <a:ea typeface="Arial"/>
                <a:cs typeface="Arial"/>
              </a:rPr>
              <a:t>Convert “?” entries to genuine missing values.</a:t>
            </a:r>
            <a:endParaRPr sz="1350" b="0" i="0" u="none" strike="noStrike" cap="none">
              <a:solidFill>
                <a:srgbClr val="000000"/>
              </a:solidFill>
              <a:latin typeface="Arial"/>
              <a:ea typeface="Arial"/>
              <a:cs typeface="Arial"/>
            </a:endParaRPr>
          </a:p>
        </p:txBody>
      </p:sp>
      <p:sp>
        <p:nvSpPr>
          <p:cNvPr id="189" name="Google Shape;189;p4">
            <a:extLst xmlns:a="http://schemas.openxmlformats.org/drawingml/2006/main">
              <a:ext uri="{FF2B5EF4-FFF2-40B4-BE49-F238E27FC236}">
                <a16:creationId xmlns:a16="http://schemas.microsoft.com/office/drawing/2014/main" id="{2942A1C6-878B-4D18-8838-16C74F9E1CD0}"/>
              </a:ext>
            </a:extLst>
          </p:cNvPr>
          <p:cNvSpPr>
            <a:spLocks xmlns:a="http://schemas.openxmlformats.org/drawingml/2006/main" noGrp="1"/>
          </p:cNvSpPr>
          <p:nvPr/>
        </p:nvSpPr>
        <p:spPr>
          <a:xfrm xmlns:a="http://schemas.openxmlformats.org/drawingml/2006/main">
            <a:off x="740520" y="2889360"/>
            <a:ext cx="59040" cy="5904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14400" rIns="90000" bIns="144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90" name="Google Shape;190;p4">
            <a:extLst xmlns:a="http://schemas.openxmlformats.org/drawingml/2006/main">
              <a:ext uri="{FF2B5EF4-FFF2-40B4-BE49-F238E27FC236}">
                <a16:creationId xmlns:a16="http://schemas.microsoft.com/office/drawing/2014/main" id="{915EAA58-FEF8-466D-BEE6-16F2865491A5}"/>
              </a:ext>
            </a:extLst>
          </p:cNvPr>
          <p:cNvSpPr>
            <a:spLocks xmlns:a="http://schemas.openxmlformats.org/drawingml/2006/main" noGrp="1"/>
          </p:cNvSpPr>
          <p:nvPr/>
        </p:nvSpPr>
        <p:spPr>
          <a:xfrm xmlns:a="http://schemas.openxmlformats.org/drawingml/2006/main">
            <a:off x="987480" y="2788920"/>
            <a:ext cx="4818600" cy="539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50" b="0" i="0" u="none" strike="noStrike" cap="none">
                <a:solidFill>
                  <a:srgbClr val="24343B"/>
                </a:solidFill>
                <a:latin typeface="Arial"/>
                <a:ea typeface="Arial"/>
                <a:cs typeface="Arial"/>
              </a:rPr>
              <a:t>Drop weight (~96% missing) and identifiers.</a:t>
            </a:r>
            <a:endParaRPr sz="1350" b="0" i="0" u="none" strike="noStrike" cap="none">
              <a:solidFill>
                <a:srgbClr val="000000"/>
              </a:solidFill>
              <a:latin typeface="Arial"/>
              <a:ea typeface="Arial"/>
              <a:cs typeface="Arial"/>
            </a:endParaRPr>
          </a:p>
        </p:txBody>
      </p:sp>
      <p:sp>
        <p:nvSpPr>
          <p:cNvPr id="191" name="Google Shape;191;p4">
            <a:extLst xmlns:a="http://schemas.openxmlformats.org/drawingml/2006/main">
              <a:ext uri="{FF2B5EF4-FFF2-40B4-BE49-F238E27FC236}">
                <a16:creationId xmlns:a16="http://schemas.microsoft.com/office/drawing/2014/main" id="{598E8197-A5F2-4EEA-AA12-1D3801451F2D}"/>
              </a:ext>
            </a:extLst>
          </p:cNvPr>
          <p:cNvSpPr>
            <a:spLocks xmlns:a="http://schemas.openxmlformats.org/drawingml/2006/main" noGrp="1"/>
          </p:cNvSpPr>
          <p:nvPr/>
        </p:nvSpPr>
        <p:spPr>
          <a:xfrm xmlns:a="http://schemas.openxmlformats.org/drawingml/2006/main">
            <a:off x="740520" y="3538800"/>
            <a:ext cx="59040" cy="5904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14400" rIns="90000" bIns="144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92" name="Google Shape;192;p4">
            <a:extLst xmlns:a="http://schemas.openxmlformats.org/drawingml/2006/main">
              <a:ext uri="{FF2B5EF4-FFF2-40B4-BE49-F238E27FC236}">
                <a16:creationId xmlns:a16="http://schemas.microsoft.com/office/drawing/2014/main" id="{9B6DAE74-A786-4266-BC3A-9079D299626F}"/>
              </a:ext>
            </a:extLst>
          </p:cNvPr>
          <p:cNvSpPr>
            <a:spLocks xmlns:a="http://schemas.openxmlformats.org/drawingml/2006/main" noGrp="1"/>
          </p:cNvSpPr>
          <p:nvPr/>
        </p:nvSpPr>
        <p:spPr>
          <a:xfrm xmlns:a="http://schemas.openxmlformats.org/drawingml/2006/main">
            <a:off x="987480" y="3438000"/>
            <a:ext cx="4818600" cy="539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50" b="0" i="0" u="none" strike="noStrike" cap="none">
                <a:solidFill>
                  <a:srgbClr val="24343B"/>
                </a:solidFill>
                <a:latin typeface="Arial"/>
                <a:ea typeface="Arial"/>
                <a:cs typeface="Arial"/>
              </a:rPr>
              <a:t>Retain “Not tested” as a distinct lab result status.</a:t>
            </a:r>
            <a:endParaRPr sz="1350" b="0" i="0" u="none" strike="noStrike" cap="none">
              <a:solidFill>
                <a:srgbClr val="000000"/>
              </a:solidFill>
              <a:latin typeface="Arial"/>
              <a:ea typeface="Arial"/>
              <a:cs typeface="Arial"/>
            </a:endParaRPr>
          </a:p>
        </p:txBody>
      </p:sp>
      <p:sp>
        <p:nvSpPr>
          <p:cNvPr id="193" name="Google Shape;193;p4">
            <a:extLst xmlns:a="http://schemas.openxmlformats.org/drawingml/2006/main">
              <a:ext uri="{FF2B5EF4-FFF2-40B4-BE49-F238E27FC236}">
                <a16:creationId xmlns:a16="http://schemas.microsoft.com/office/drawing/2014/main" id="{584D6AAE-8F3F-4B0C-93C1-26A80D5D034F}"/>
              </a:ext>
            </a:extLst>
          </p:cNvPr>
          <p:cNvSpPr>
            <a:spLocks xmlns:a="http://schemas.openxmlformats.org/drawingml/2006/main" noGrp="1"/>
          </p:cNvSpPr>
          <p:nvPr/>
        </p:nvSpPr>
        <p:spPr>
          <a:xfrm xmlns:a="http://schemas.openxmlformats.org/drawingml/2006/main">
            <a:off x="740520" y="4187880"/>
            <a:ext cx="59040" cy="5904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14400" rIns="90000" bIns="144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94" name="Google Shape;194;p4">
            <a:extLst xmlns:a="http://schemas.openxmlformats.org/drawingml/2006/main">
              <a:ext uri="{FF2B5EF4-FFF2-40B4-BE49-F238E27FC236}">
                <a16:creationId xmlns:a16="http://schemas.microsoft.com/office/drawing/2014/main" id="{0CBD5D1F-E834-4AAB-8353-E295775F04F6}"/>
              </a:ext>
            </a:extLst>
          </p:cNvPr>
          <p:cNvSpPr>
            <a:spLocks xmlns:a="http://schemas.openxmlformats.org/drawingml/2006/main" noGrp="1"/>
          </p:cNvSpPr>
          <p:nvPr/>
        </p:nvSpPr>
        <p:spPr>
          <a:xfrm xmlns:a="http://schemas.openxmlformats.org/drawingml/2006/main">
            <a:off x="987480" y="4087440"/>
            <a:ext cx="4818600" cy="539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50" b="0" i="0" u="none" strike="noStrike" cap="none">
                <a:solidFill>
                  <a:srgbClr val="24343B"/>
                </a:solidFill>
                <a:latin typeface="Arial"/>
                <a:ea typeface="Arial"/>
                <a:cs typeface="Arial"/>
              </a:rPr>
              <a:t>Group diagnosis codes and treat ID codes categorically.</a:t>
            </a:r>
            <a:endParaRPr sz="1350" b="0" i="0" u="none" strike="noStrike" cap="none">
              <a:solidFill>
                <a:srgbClr val="000000"/>
              </a:solidFill>
              <a:latin typeface="Arial"/>
              <a:ea typeface="Arial"/>
              <a:cs typeface="Arial"/>
            </a:endParaRPr>
          </a:p>
        </p:txBody>
      </p:sp>
      <p:sp>
        <p:nvSpPr>
          <p:cNvPr id="195" name="Google Shape;195;p4">
            <a:extLst xmlns:a="http://schemas.openxmlformats.org/drawingml/2006/main">
              <a:ext uri="{FF2B5EF4-FFF2-40B4-BE49-F238E27FC236}">
                <a16:creationId xmlns:a16="http://schemas.microsoft.com/office/drawing/2014/main" id="{7A397259-C7F6-4385-BBB9-073AFB934158}"/>
              </a:ext>
            </a:extLst>
          </p:cNvPr>
          <p:cNvSpPr>
            <a:spLocks xmlns:a="http://schemas.openxmlformats.org/drawingml/2006/main" noGrp="1"/>
          </p:cNvSpPr>
          <p:nvPr/>
        </p:nvSpPr>
        <p:spPr>
          <a:xfrm xmlns:a="http://schemas.openxmlformats.org/drawingml/2006/main">
            <a:off x="740520" y="4837320"/>
            <a:ext cx="59040" cy="5904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14400" rIns="90000" bIns="144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196" name="Google Shape;196;p4">
            <a:extLst xmlns:a="http://schemas.openxmlformats.org/drawingml/2006/main">
              <a:ext uri="{FF2B5EF4-FFF2-40B4-BE49-F238E27FC236}">
                <a16:creationId xmlns:a16="http://schemas.microsoft.com/office/drawing/2014/main" id="{0F87EC52-39E3-42E1-96B5-FE51FD196E15}"/>
              </a:ext>
            </a:extLst>
          </p:cNvPr>
          <p:cNvSpPr>
            <a:spLocks xmlns:a="http://schemas.openxmlformats.org/drawingml/2006/main" noGrp="1"/>
          </p:cNvSpPr>
          <p:nvPr/>
        </p:nvSpPr>
        <p:spPr>
          <a:xfrm xmlns:a="http://schemas.openxmlformats.org/drawingml/2006/main">
            <a:off x="987480" y="4736520"/>
            <a:ext cx="4818600" cy="539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50" b="0" i="0" u="none" strike="noStrike" cap="none">
                <a:solidFill>
                  <a:srgbClr val="24343B"/>
                </a:solidFill>
                <a:latin typeface="Arial"/>
                <a:ea typeface="Arial"/>
                <a:cs typeface="Arial"/>
              </a:rPr>
              <a:t>Keep valid high utilization counts rather than deleting outliers.</a:t>
            </a:r>
            <a:endParaRPr sz="1350" b="0" i="0" u="none" strike="noStrike" cap="none">
              <a:solidFill>
                <a:srgbClr val="000000"/>
              </a:solidFill>
              <a:latin typeface="Arial"/>
              <a:ea typeface="Arial"/>
              <a:cs typeface="Arial"/>
            </a:endParaRPr>
          </a:p>
        </p:txBody>
      </p:sp>
      <p:cxnSp>
        <p:nvCxnSpPr>
          <p:cNvPr id="197" name="Google Shape;197;p4">
            <a:extLst xmlns:a="http://schemas.openxmlformats.org/drawingml/2006/main">
              <a:ext uri="{FF2B5EF4-FFF2-40B4-BE49-F238E27FC236}">
                <a16:creationId xmlns:a16="http://schemas.microsoft.com/office/drawing/2014/main" id="{B2A5BEA5-39DC-4C18-9035-D0A013E2E4AB}"/>
              </a:ext>
            </a:extLst>
          </p:cNvPr>
          <p:cNvCxnSpPr/>
          <p:nvPr/>
        </p:nvCxnSpPr>
        <p:spPr>
          <a:xfrm xmlns:a="http://schemas.openxmlformats.org/drawingml/2006/main">
            <a:off x="5970960" y="1828800"/>
            <a:ext cx="360" cy="379512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198" name="Google Shape;198;p4">
            <a:extLst xmlns:a="http://schemas.openxmlformats.org/drawingml/2006/main">
              <a:ext uri="{FF2B5EF4-FFF2-40B4-BE49-F238E27FC236}">
                <a16:creationId xmlns:a16="http://schemas.microsoft.com/office/drawing/2014/main" id="{507F02F3-8887-44C1-AEF9-A6DEE2E9A1EE}"/>
              </a:ext>
            </a:extLst>
          </p:cNvPr>
          <p:cNvSpPr>
            <a:spLocks xmlns:a="http://schemas.openxmlformats.org/drawingml/2006/main" noGrp="1"/>
          </p:cNvSpPr>
          <p:nvPr/>
        </p:nvSpPr>
        <p:spPr>
          <a:xfrm xmlns:a="http://schemas.openxmlformats.org/drawingml/2006/main">
            <a:off x="6336720" y="173736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MISSING CLINICAL TESTING IS THE NORM</a:t>
            </a:r>
            <a:endParaRPr sz="1000" b="0" i="0" u="none" strike="noStrike" cap="none">
              <a:solidFill>
                <a:srgbClr val="000000"/>
              </a:solidFill>
              <a:latin typeface="Arial"/>
              <a:ea typeface="Arial"/>
              <a:cs typeface="Arial"/>
            </a:endParaRPr>
          </a:p>
        </p:txBody>
      </p:sp>
      <p:sp>
        <p:nvSpPr>
          <p:cNvPr id="199" name="Google Shape;199;p4">
            <a:extLst xmlns:a="http://schemas.openxmlformats.org/drawingml/2006/main">
              <a:ext uri="{FF2B5EF4-FFF2-40B4-BE49-F238E27FC236}">
                <a16:creationId xmlns:a16="http://schemas.microsoft.com/office/drawing/2014/main" id="{E3AAF571-1394-430B-9D74-BB4C33154280}"/>
              </a:ext>
            </a:extLst>
          </p:cNvPr>
          <p:cNvSpPr>
            <a:spLocks xmlns:a="http://schemas.openxmlformats.org/drawingml/2006/main" noGrp="1"/>
          </p:cNvSpPr>
          <p:nvPr/>
        </p:nvSpPr>
        <p:spPr>
          <a:xfrm xmlns:a="http://schemas.openxmlformats.org/drawingml/2006/main">
            <a:off x="6309360" y="2340720"/>
            <a:ext cx="138960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0" i="0" u="none" strike="noStrike" cap="none">
                <a:solidFill>
                  <a:srgbClr val="24343B"/>
                </a:solidFill>
                <a:latin typeface="Arial"/>
                <a:ea typeface="Arial"/>
                <a:cs typeface="Arial"/>
              </a:rPr>
              <a:t>A1C not tested</a:t>
            </a:r>
            <a:endParaRPr sz="1200" b="0" i="0" u="none" strike="noStrike" cap="none">
              <a:solidFill>
                <a:srgbClr val="000000"/>
              </a:solidFill>
              <a:latin typeface="Arial"/>
              <a:ea typeface="Arial"/>
              <a:cs typeface="Arial"/>
            </a:endParaRPr>
          </a:p>
        </p:txBody>
      </p:sp>
      <p:sp>
        <p:nvSpPr>
          <p:cNvPr id="200" name="Google Shape;200;p4">
            <a:extLst xmlns:a="http://schemas.openxmlformats.org/drawingml/2006/main">
              <a:ext uri="{FF2B5EF4-FFF2-40B4-BE49-F238E27FC236}">
                <a16:creationId xmlns:a16="http://schemas.microsoft.com/office/drawing/2014/main" id="{623EF328-2893-43D0-A1F5-0D96F70D17FD}"/>
              </a:ext>
            </a:extLst>
          </p:cNvPr>
          <p:cNvSpPr>
            <a:spLocks xmlns:a="http://schemas.openxmlformats.org/drawingml/2006/main" noGrp="1"/>
          </p:cNvSpPr>
          <p:nvPr/>
        </p:nvSpPr>
        <p:spPr>
          <a:xfrm xmlns:a="http://schemas.openxmlformats.org/drawingml/2006/main">
            <a:off x="7818120" y="2477880"/>
            <a:ext cx="243180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01" name="Google Shape;201;p4">
            <a:extLst xmlns:a="http://schemas.openxmlformats.org/drawingml/2006/main">
              <a:ext uri="{FF2B5EF4-FFF2-40B4-BE49-F238E27FC236}">
                <a16:creationId xmlns:a16="http://schemas.microsoft.com/office/drawing/2014/main" id="{1AE22204-C718-4B80-83BC-4AB4C5D25CFE}"/>
              </a:ext>
            </a:extLst>
          </p:cNvPr>
          <p:cNvSpPr>
            <a:spLocks xmlns:a="http://schemas.openxmlformats.org/drawingml/2006/main" noGrp="1"/>
          </p:cNvSpPr>
          <p:nvPr/>
        </p:nvSpPr>
        <p:spPr>
          <a:xfrm xmlns:a="http://schemas.openxmlformats.org/drawingml/2006/main">
            <a:off x="7818120" y="2477880"/>
            <a:ext cx="1987560" cy="16416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02" name="Google Shape;202;p4">
            <a:extLst xmlns:a="http://schemas.openxmlformats.org/drawingml/2006/main">
              <a:ext uri="{FF2B5EF4-FFF2-40B4-BE49-F238E27FC236}">
                <a16:creationId xmlns:a16="http://schemas.microsoft.com/office/drawing/2014/main" id="{BC1F461E-E2C9-427A-B917-18F135C930D9}"/>
              </a:ext>
            </a:extLst>
          </p:cNvPr>
          <p:cNvSpPr>
            <a:spLocks xmlns:a="http://schemas.openxmlformats.org/drawingml/2006/main" noGrp="1"/>
          </p:cNvSpPr>
          <p:nvPr/>
        </p:nvSpPr>
        <p:spPr>
          <a:xfrm xmlns:a="http://schemas.openxmlformats.org/drawingml/2006/main">
            <a:off x="10369440" y="2327040"/>
            <a:ext cx="80424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BE7E5B"/>
                </a:solidFill>
                <a:latin typeface="Arial"/>
                <a:ea typeface="Arial"/>
                <a:cs typeface="Arial"/>
              </a:rPr>
              <a:t>81.73%</a:t>
            </a:r>
            <a:endParaRPr sz="1300" b="0" i="0" u="none" strike="noStrike" cap="none">
              <a:solidFill>
                <a:srgbClr val="000000"/>
              </a:solidFill>
              <a:latin typeface="Arial"/>
              <a:ea typeface="Arial"/>
              <a:cs typeface="Arial"/>
            </a:endParaRPr>
          </a:p>
        </p:txBody>
      </p:sp>
      <p:sp>
        <p:nvSpPr>
          <p:cNvPr id="203" name="Google Shape;203;p4">
            <a:extLst xmlns:a="http://schemas.openxmlformats.org/drawingml/2006/main">
              <a:ext uri="{FF2B5EF4-FFF2-40B4-BE49-F238E27FC236}">
                <a16:creationId xmlns:a16="http://schemas.microsoft.com/office/drawing/2014/main" id="{AD497EB5-A725-4A44-BDCF-C9899417A46B}"/>
              </a:ext>
            </a:extLst>
          </p:cNvPr>
          <p:cNvSpPr>
            <a:spLocks xmlns:a="http://schemas.openxmlformats.org/drawingml/2006/main" noGrp="1"/>
          </p:cNvSpPr>
          <p:nvPr/>
        </p:nvSpPr>
        <p:spPr>
          <a:xfrm xmlns:a="http://schemas.openxmlformats.org/drawingml/2006/main">
            <a:off x="6309360" y="2999160"/>
            <a:ext cx="138960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0" i="0" u="none" strike="noStrike" cap="none">
                <a:solidFill>
                  <a:srgbClr val="24343B"/>
                </a:solidFill>
                <a:latin typeface="Arial"/>
                <a:ea typeface="Arial"/>
                <a:cs typeface="Arial"/>
              </a:rPr>
              <a:t>Glucose not tested</a:t>
            </a:r>
            <a:endParaRPr sz="1200" b="0" i="0" u="none" strike="noStrike" cap="none">
              <a:solidFill>
                <a:srgbClr val="000000"/>
              </a:solidFill>
              <a:latin typeface="Arial"/>
              <a:ea typeface="Arial"/>
              <a:cs typeface="Arial"/>
            </a:endParaRPr>
          </a:p>
        </p:txBody>
      </p:sp>
      <p:sp>
        <p:nvSpPr>
          <p:cNvPr id="204" name="Google Shape;204;p4">
            <a:extLst xmlns:a="http://schemas.openxmlformats.org/drawingml/2006/main">
              <a:ext uri="{FF2B5EF4-FFF2-40B4-BE49-F238E27FC236}">
                <a16:creationId xmlns:a16="http://schemas.microsoft.com/office/drawing/2014/main" id="{6BBD2986-2DBC-496D-B8E5-696AEC746108}"/>
              </a:ext>
            </a:extLst>
          </p:cNvPr>
          <p:cNvSpPr>
            <a:spLocks xmlns:a="http://schemas.openxmlformats.org/drawingml/2006/main" noGrp="1"/>
          </p:cNvSpPr>
          <p:nvPr/>
        </p:nvSpPr>
        <p:spPr>
          <a:xfrm xmlns:a="http://schemas.openxmlformats.org/drawingml/2006/main">
            <a:off x="7818120" y="3136320"/>
            <a:ext cx="243180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05" name="Google Shape;205;p4">
            <a:extLst xmlns:a="http://schemas.openxmlformats.org/drawingml/2006/main">
              <a:ext uri="{FF2B5EF4-FFF2-40B4-BE49-F238E27FC236}">
                <a16:creationId xmlns:a16="http://schemas.microsoft.com/office/drawing/2014/main" id="{F084578C-DDEC-417E-8D8D-D0562A2C7427}"/>
              </a:ext>
            </a:extLst>
          </p:cNvPr>
          <p:cNvSpPr>
            <a:spLocks xmlns:a="http://schemas.openxmlformats.org/drawingml/2006/main" noGrp="1"/>
          </p:cNvSpPr>
          <p:nvPr/>
        </p:nvSpPr>
        <p:spPr>
          <a:xfrm xmlns:a="http://schemas.openxmlformats.org/drawingml/2006/main">
            <a:off x="7818120" y="3136320"/>
            <a:ext cx="2314080" cy="16416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06" name="Google Shape;206;p4">
            <a:extLst xmlns:a="http://schemas.openxmlformats.org/drawingml/2006/main">
              <a:ext uri="{FF2B5EF4-FFF2-40B4-BE49-F238E27FC236}">
                <a16:creationId xmlns:a16="http://schemas.microsoft.com/office/drawing/2014/main" id="{02A3F4C3-8550-4328-BB2C-5B47925E5EB4}"/>
              </a:ext>
            </a:extLst>
          </p:cNvPr>
          <p:cNvSpPr>
            <a:spLocks xmlns:a="http://schemas.openxmlformats.org/drawingml/2006/main" noGrp="1"/>
          </p:cNvSpPr>
          <p:nvPr/>
        </p:nvSpPr>
        <p:spPr>
          <a:xfrm xmlns:a="http://schemas.openxmlformats.org/drawingml/2006/main">
            <a:off x="10369440" y="2985480"/>
            <a:ext cx="80424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BE7E5B"/>
                </a:solidFill>
                <a:latin typeface="Arial"/>
                <a:ea typeface="Arial"/>
                <a:cs typeface="Arial"/>
              </a:rPr>
              <a:t>95.16%</a:t>
            </a:r>
            <a:endParaRPr sz="1300" b="0" i="0" u="none" strike="noStrike" cap="none">
              <a:solidFill>
                <a:srgbClr val="000000"/>
              </a:solidFill>
              <a:latin typeface="Arial"/>
              <a:ea typeface="Arial"/>
              <a:cs typeface="Arial"/>
            </a:endParaRPr>
          </a:p>
        </p:txBody>
      </p:sp>
      <p:sp>
        <p:nvSpPr>
          <p:cNvPr id="207" name="Google Shape;207;p4">
            <a:extLst xmlns:a="http://schemas.openxmlformats.org/drawingml/2006/main">
              <a:ext uri="{FF2B5EF4-FFF2-40B4-BE49-F238E27FC236}">
                <a16:creationId xmlns:a16="http://schemas.microsoft.com/office/drawing/2014/main" id="{E0C1C073-6C24-4FC1-A531-1067340F3948}"/>
              </a:ext>
            </a:extLst>
          </p:cNvPr>
          <p:cNvSpPr>
            <a:spLocks xmlns:a="http://schemas.openxmlformats.org/drawingml/2006/main" noGrp="1"/>
          </p:cNvSpPr>
          <p:nvPr/>
        </p:nvSpPr>
        <p:spPr>
          <a:xfrm xmlns:a="http://schemas.openxmlformats.org/drawingml/2006/main">
            <a:off x="6309360" y="3950280"/>
            <a:ext cx="5028840" cy="118836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08" name="Google Shape;208;p4">
            <a:extLst xmlns:a="http://schemas.openxmlformats.org/drawingml/2006/main">
              <a:ext uri="{FF2B5EF4-FFF2-40B4-BE49-F238E27FC236}">
                <a16:creationId xmlns:a16="http://schemas.microsoft.com/office/drawing/2014/main" id="{775F614D-95BC-4639-9D18-550CBA110488}"/>
              </a:ext>
            </a:extLst>
          </p:cNvPr>
          <p:cNvSpPr>
            <a:spLocks xmlns:a="http://schemas.openxmlformats.org/drawingml/2006/main" noGrp="1"/>
          </p:cNvSpPr>
          <p:nvPr/>
        </p:nvSpPr>
        <p:spPr>
          <a:xfrm xmlns:a="http://schemas.openxmlformats.org/drawingml/2006/main">
            <a:off x="6501240" y="4142160"/>
            <a:ext cx="4644720" cy="264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1" i="0" u="none" strike="noStrike" cap="none">
                <a:solidFill>
                  <a:srgbClr val="397A7C"/>
                </a:solidFill>
                <a:latin typeface="Arial"/>
                <a:ea typeface="Arial"/>
                <a:cs typeface="Arial"/>
              </a:rPr>
              <a:t>WHY THIS MATTERS</a:t>
            </a:r>
            <a:endParaRPr sz="1100" b="0" i="0" u="none" strike="noStrike" cap="none">
              <a:solidFill>
                <a:srgbClr val="000000"/>
              </a:solidFill>
              <a:latin typeface="Arial"/>
              <a:ea typeface="Arial"/>
              <a:cs typeface="Arial"/>
            </a:endParaRPr>
          </a:p>
        </p:txBody>
      </p:sp>
      <p:sp>
        <p:nvSpPr>
          <p:cNvPr id="209" name="Google Shape;209;p4">
            <a:extLst xmlns:a="http://schemas.openxmlformats.org/drawingml/2006/main">
              <a:ext uri="{FF2B5EF4-FFF2-40B4-BE49-F238E27FC236}">
                <a16:creationId xmlns:a16="http://schemas.microsoft.com/office/drawing/2014/main" id="{B4800315-0E6E-4E02-8962-A3C8003569E9}"/>
              </a:ext>
            </a:extLst>
          </p:cNvPr>
          <p:cNvSpPr>
            <a:spLocks xmlns:a="http://schemas.openxmlformats.org/drawingml/2006/main" noGrp="1"/>
          </p:cNvSpPr>
          <p:nvPr/>
        </p:nvSpPr>
        <p:spPr>
          <a:xfrm xmlns:a="http://schemas.openxmlformats.org/drawingml/2006/main">
            <a:off x="6501240" y="4489560"/>
            <a:ext cx="4562640" cy="502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500" b="1" i="0" u="none" strike="noStrike" cap="none">
                <a:solidFill>
                  <a:srgbClr val="1C3138"/>
                </a:solidFill>
                <a:latin typeface="Arial"/>
                <a:ea typeface="Arial"/>
                <a:cs typeface="Arial"/>
              </a:rPr>
              <a:t>“Not tested” is informative and must not be treated as a normal result.</a:t>
            </a:r>
            <a:endParaRPr sz="1500" b="0" i="0" u="none" strike="noStrike" cap="none">
              <a:solidFill>
                <a:srgbClr val="000000"/>
              </a:solidFill>
              <a:latin typeface="Arial"/>
              <a:ea typeface="Arial"/>
              <a:cs typeface="Arial"/>
            </a:endParaRPr>
          </a:p>
        </p:txBody>
      </p:sp>
      <p:sp>
        <p:nvSpPr>
          <p:cNvPr id="210" name="Google Shape;210;p4">
            <a:extLst xmlns:a="http://schemas.openxmlformats.org/drawingml/2006/main">
              <a:ext uri="{FF2B5EF4-FFF2-40B4-BE49-F238E27FC236}">
                <a16:creationId xmlns:a16="http://schemas.microsoft.com/office/drawing/2014/main" id="{97D3966F-D7C2-4A9B-924D-C0AAB7742304}"/>
              </a:ext>
            </a:extLst>
          </p:cNvPr>
          <p:cNvSpPr>
            <a:spLocks xmlns:a="http://schemas.openxmlformats.org/drawingml/2006/main" noGrp="1"/>
          </p:cNvSpPr>
          <p:nvPr/>
        </p:nvSpPr>
        <p:spPr>
          <a:xfrm xmlns:a="http://schemas.openxmlformats.org/drawingml/2006/main">
            <a:off x="667440" y="5870520"/>
            <a:ext cx="10899360" cy="420120"/>
          </a:xfrm>
          <a:prstGeom xmlns:a="http://schemas.openxmlformats.org/drawingml/2006/main" prst="rect">
            <a:avLst/>
          </a:prstGeom>
          <a:solidFill xmlns:a="http://schemas.openxmlformats.org/drawingml/2006/main">
            <a:srgbClr val="F8EAD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11" name="Google Shape;211;p4">
            <a:extLst xmlns:a="http://schemas.openxmlformats.org/drawingml/2006/main">
              <a:ext uri="{FF2B5EF4-FFF2-40B4-BE49-F238E27FC236}">
                <a16:creationId xmlns:a16="http://schemas.microsoft.com/office/drawing/2014/main" id="{221F48EB-B9D0-4BAD-BA3D-A5B91BAE6F2E}"/>
              </a:ext>
            </a:extLst>
          </p:cNvPr>
          <p:cNvSpPr>
            <a:spLocks xmlns:a="http://schemas.openxmlformats.org/drawingml/2006/main" noGrp="1"/>
          </p:cNvSpPr>
          <p:nvPr/>
        </p:nvSpPr>
        <p:spPr>
          <a:xfrm xmlns:a="http://schemas.openxmlformats.org/drawingml/2006/main">
            <a:off x="667440" y="5870520"/>
            <a:ext cx="50040" cy="42012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12" name="Google Shape;212;p4">
            <a:extLst xmlns:a="http://schemas.openxmlformats.org/drawingml/2006/main">
              <a:ext uri="{FF2B5EF4-FFF2-40B4-BE49-F238E27FC236}">
                <a16:creationId xmlns:a16="http://schemas.microsoft.com/office/drawing/2014/main" id="{6C354498-AED3-4E02-8A3A-26E8FE7D3485}"/>
              </a:ext>
            </a:extLst>
          </p:cNvPr>
          <p:cNvSpPr>
            <a:spLocks xmlns:a="http://schemas.openxmlformats.org/drawingml/2006/main" noGrp="1"/>
          </p:cNvSpPr>
          <p:nvPr/>
        </p:nvSpPr>
        <p:spPr>
          <a:xfrm xmlns:a="http://schemas.openxmlformats.org/drawingml/2006/main">
            <a:off x="868680" y="5943600"/>
            <a:ext cx="10478520" cy="2207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1C3138"/>
                </a:solidFill>
                <a:latin typeface="Arial"/>
                <a:ea typeface="Arial"/>
                <a:cs typeface="Arial"/>
              </a:rPr>
              <a:t>Medication exclusions use training-only counts. Exact patient-ID checks confirm zero overlap across splits.</a:t>
            </a:r>
            <a:endParaRPr sz="115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83053137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8" name="Google Shape;218;p5">
            <a:extLst xmlns:a="http://schemas.openxmlformats.org/drawingml/2006/main">
              <a:ext uri="{FF2B5EF4-FFF2-40B4-BE49-F238E27FC236}">
                <a16:creationId xmlns:a16="http://schemas.microsoft.com/office/drawing/2014/main" id="{117737FB-38F6-4A1C-8DF1-89982BC5A625}"/>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F9F8F5"/>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19" name="Google Shape;219;p5">
            <a:extLst xmlns:a="http://schemas.openxmlformats.org/drawingml/2006/main">
              <a:ext uri="{FF2B5EF4-FFF2-40B4-BE49-F238E27FC236}">
                <a16:creationId xmlns:a16="http://schemas.microsoft.com/office/drawing/2014/main" id="{AD923C5E-7F3D-4A4F-B3D4-2A88322B518E}"/>
              </a:ext>
            </a:extLst>
          </p:cNvPr>
          <p:cNvSpPr>
            <a:spLocks xmlns:a="http://schemas.openxmlformats.org/drawingml/2006/main" noGrp="1"/>
          </p:cNvSpPr>
          <p:nvPr/>
        </p:nvSpPr>
        <p:spPr>
          <a:xfrm xmlns:a="http://schemas.openxmlformats.org/drawingml/2006/main">
            <a:off x="493920" y="365760"/>
            <a:ext cx="109440" cy="109440"/>
          </a:xfrm>
          <a:prstGeom xmlns:a="http://schemas.openxmlformats.org/drawingml/2006/main" prst="ellipse">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32750" rIns="90000" bIns="327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20" name="Google Shape;220;p5">
            <a:extLst xmlns:a="http://schemas.openxmlformats.org/drawingml/2006/main">
              <a:ext uri="{FF2B5EF4-FFF2-40B4-BE49-F238E27FC236}">
                <a16:creationId xmlns:a16="http://schemas.microsoft.com/office/drawing/2014/main" id="{E58FC75F-5BDB-48AE-BCD0-551AB51412F7}"/>
              </a:ext>
            </a:extLst>
          </p:cNvPr>
          <p:cNvSpPr>
            <a:spLocks xmlns:a="http://schemas.openxmlformats.org/drawingml/2006/main" noGrp="1"/>
          </p:cNvSpPr>
          <p:nvPr/>
        </p:nvSpPr>
        <p:spPr>
          <a:xfrm xmlns:a="http://schemas.openxmlformats.org/drawingml/2006/main">
            <a:off x="7434000" y="311040"/>
            <a:ext cx="415116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66757B"/>
                </a:solidFill>
                <a:latin typeface="Arial"/>
                <a:ea typeface="Arial"/>
                <a:cs typeface="Arial"/>
              </a:rPr>
              <a:t>03  /  EXPLORATORY ANALYSIS</a:t>
            </a:r>
            <a:endParaRPr sz="900" b="0" i="0" u="none" strike="noStrike" cap="none">
              <a:solidFill>
                <a:srgbClr val="000000"/>
              </a:solidFill>
              <a:latin typeface="Arial"/>
              <a:ea typeface="Arial"/>
              <a:cs typeface="Arial"/>
            </a:endParaRPr>
          </a:p>
        </p:txBody>
      </p:sp>
      <p:sp>
        <p:nvSpPr>
          <p:cNvPr id="221" name="Google Shape;221;p5">
            <a:extLst xmlns:a="http://schemas.openxmlformats.org/drawingml/2006/main">
              <a:ext uri="{FF2B5EF4-FFF2-40B4-BE49-F238E27FC236}">
                <a16:creationId xmlns:a16="http://schemas.microsoft.com/office/drawing/2014/main" id="{E97F2AC7-9AD1-4488-9559-5BEECAC2CF0F}"/>
              </a:ext>
            </a:extLst>
          </p:cNvPr>
          <p:cNvSpPr>
            <a:spLocks xmlns:a="http://schemas.openxmlformats.org/drawingml/2006/main" noGrp="1"/>
          </p:cNvSpPr>
          <p:nvPr/>
        </p:nvSpPr>
        <p:spPr>
          <a:xfrm xmlns:a="http://schemas.openxmlformats.org/drawingml/2006/main">
            <a:off x="612720" y="713160"/>
            <a:ext cx="10972440" cy="630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900" b="1" i="0" u="none" strike="noStrike" cap="none">
                <a:solidFill>
                  <a:srgbClr val="1C3138"/>
                </a:solidFill>
                <a:latin typeface="Georgia"/>
                <a:ea typeface="Georgia"/>
                <a:cs typeface="Georgia"/>
              </a:rPr>
              <a:t>Discharge destination shows the clearest separation</a:t>
            </a:r>
            <a:endParaRPr sz="2900" b="0" i="0" u="none" strike="noStrike" cap="none">
              <a:solidFill>
                <a:srgbClr val="000000"/>
              </a:solidFill>
              <a:latin typeface="Arial"/>
              <a:ea typeface="Arial"/>
              <a:cs typeface="Arial"/>
            </a:endParaRPr>
          </a:p>
        </p:txBody>
      </p:sp>
      <p:cxnSp>
        <p:nvCxnSpPr>
          <p:cNvPr id="222" name="Google Shape;222;p5">
            <a:extLst xmlns:a="http://schemas.openxmlformats.org/drawingml/2006/main">
              <a:ext uri="{FF2B5EF4-FFF2-40B4-BE49-F238E27FC236}">
                <a16:creationId xmlns:a16="http://schemas.microsoft.com/office/drawing/2014/main" id="{C5B06351-8364-4D21-9E4A-CD096446C715}"/>
              </a:ext>
            </a:extLst>
          </p:cNvPr>
          <p:cNvCxnSpPr/>
          <p:nvPr/>
        </p:nvCxnSpPr>
        <p:spPr>
          <a:xfrm xmlns:a="http://schemas.openxmlformats.org/drawingml/2006/main">
            <a:off x="640080" y="1453680"/>
            <a:ext cx="10918080" cy="360"/>
          </a:xfrm>
          <a:prstGeom xmlns:a="http://schemas.openxmlformats.org/drawingml/2006/main" prst="straightConnector1">
            <a:avLst/>
          </a:prstGeom>
          <a:ln xmlns:a="http://schemas.openxmlformats.org/drawingml/2006/main" w="15875" cap="flat">
            <a:solidFill>
              <a:srgbClr val="1C3138"/>
            </a:solidFill>
            <a:prstDash val="solid"/>
            <a:round/>
            <a:headEnd type="none" w="sm" len="sm"/>
            <a:tailEnd type="none" w="sm" len="sm"/>
          </a:ln>
        </p:spPr>
      </p:cxnSp>
      <p:cxnSp>
        <p:nvCxnSpPr>
          <p:cNvPr id="223" name="Google Shape;223;p5">
            <a:extLst xmlns:a="http://schemas.openxmlformats.org/drawingml/2006/main">
              <a:ext uri="{FF2B5EF4-FFF2-40B4-BE49-F238E27FC236}">
                <a16:creationId xmlns:a16="http://schemas.microsoft.com/office/drawing/2014/main" id="{F824E7CE-6826-4845-8710-49A9B59EFB1B}"/>
              </a:ext>
            </a:extLst>
          </p:cNvPr>
          <p:cNvCxnSpPr/>
          <p:nvPr/>
        </p:nvCxnSpPr>
        <p:spPr>
          <a:xfrm xmlns:a="http://schemas.openxmlformats.org/drawingml/2006/main">
            <a:off x="630720" y="6464520"/>
            <a:ext cx="10927440" cy="360"/>
          </a:xfrm>
          <a:prstGeom xmlns:a="http://schemas.openxmlformats.org/drawingml/2006/main" prst="straightConnector1">
            <a:avLst/>
          </a:prstGeom>
          <a:ln xmlns:a="http://schemas.openxmlformats.org/drawingml/2006/main" w="10150" cap="flat">
            <a:solidFill>
              <a:srgbClr val="D6DEDA"/>
            </a:solidFill>
            <a:prstDash val="solid"/>
            <a:round/>
            <a:headEnd type="none" w="sm" len="sm"/>
            <a:tailEnd type="none" w="sm" len="sm"/>
          </a:ln>
        </p:spPr>
      </p:cxnSp>
      <p:sp>
        <p:nvSpPr>
          <p:cNvPr id="224" name="Google Shape;224;p5">
            <a:extLst xmlns:a="http://schemas.openxmlformats.org/drawingml/2006/main">
              <a:ext uri="{FF2B5EF4-FFF2-40B4-BE49-F238E27FC236}">
                <a16:creationId xmlns:a16="http://schemas.microsoft.com/office/drawing/2014/main" id="{51F59ED7-FDF4-4BE2-8E4A-06842AE2A2D0}"/>
              </a:ext>
            </a:extLst>
          </p:cNvPr>
          <p:cNvSpPr>
            <a:spLocks xmlns:a="http://schemas.openxmlformats.org/drawingml/2006/main" noGrp="1"/>
          </p:cNvSpPr>
          <p:nvPr/>
        </p:nvSpPr>
        <p:spPr>
          <a:xfrm xmlns:a="http://schemas.openxmlformats.org/drawingml/2006/main">
            <a:off x="649080" y="6519600"/>
            <a:ext cx="10496880" cy="200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800" b="0" i="0" u="none" strike="noStrike" cap="none">
                <a:solidFill>
                  <a:srgbClr val="66757B"/>
                </a:solidFill>
                <a:latin typeface="Arial"/>
                <a:ea typeface="Arial"/>
                <a:cs typeface="Arial"/>
              </a:rPr>
              <a:t>Notebook 03 · Training data only (48,978 patients); observed associations, not effects</a:t>
            </a:r>
            <a:endParaRPr sz="800" b="0" i="0" u="none" strike="noStrike" cap="none">
              <a:solidFill>
                <a:srgbClr val="000000"/>
              </a:solidFill>
              <a:latin typeface="Arial"/>
              <a:ea typeface="Arial"/>
              <a:cs typeface="Arial"/>
            </a:endParaRPr>
          </a:p>
        </p:txBody>
      </p:sp>
      <p:sp>
        <p:nvSpPr>
          <p:cNvPr id="225" name="Google Shape;225;p5">
            <a:extLst xmlns:a="http://schemas.openxmlformats.org/drawingml/2006/main">
              <a:ext uri="{FF2B5EF4-FFF2-40B4-BE49-F238E27FC236}">
                <a16:creationId xmlns:a16="http://schemas.microsoft.com/office/drawing/2014/main" id="{6D120DEA-BD60-4BCC-A685-59F3B8470FBF}"/>
              </a:ext>
            </a:extLst>
          </p:cNvPr>
          <p:cNvSpPr>
            <a:spLocks xmlns:a="http://schemas.openxmlformats.org/drawingml/2006/main" noGrp="1"/>
          </p:cNvSpPr>
          <p:nvPr/>
        </p:nvSpPr>
        <p:spPr>
          <a:xfrm xmlns:a="http://schemas.openxmlformats.org/drawingml/2006/main">
            <a:off x="11137320" y="6501240"/>
            <a:ext cx="4384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1C3138"/>
                </a:solidFill>
                <a:latin typeface="Arial"/>
                <a:ea typeface="Arial"/>
                <a:cs typeface="Arial"/>
              </a:rPr>
              <a:t>05</a:t>
            </a:r>
            <a:endParaRPr sz="900" b="0" i="0" u="none" strike="noStrike" cap="none">
              <a:solidFill>
                <a:srgbClr val="000000"/>
              </a:solidFill>
              <a:latin typeface="Arial"/>
              <a:ea typeface="Arial"/>
              <a:cs typeface="Arial"/>
            </a:endParaRPr>
          </a:p>
        </p:txBody>
      </p:sp>
      <p:sp>
        <p:nvSpPr>
          <p:cNvPr id="226" name="Google Shape;226;p5">
            <a:extLst xmlns:a="http://schemas.openxmlformats.org/drawingml/2006/main">
              <a:ext uri="{FF2B5EF4-FFF2-40B4-BE49-F238E27FC236}">
                <a16:creationId xmlns:a16="http://schemas.microsoft.com/office/drawing/2014/main" id="{B85BAE1D-6296-484C-A897-DD0C021CFA2E}"/>
              </a:ext>
            </a:extLst>
          </p:cNvPr>
          <p:cNvSpPr>
            <a:spLocks xmlns:a="http://schemas.openxmlformats.org/drawingml/2006/main" noGrp="1"/>
          </p:cNvSpPr>
          <p:nvPr/>
        </p:nvSpPr>
        <p:spPr>
          <a:xfrm xmlns:a="http://schemas.openxmlformats.org/drawingml/2006/main">
            <a:off x="740520" y="173736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RECORDED READMISSION RATE · SELECTED DISCHARGE DESTINATIONS</a:t>
            </a:r>
            <a:endParaRPr sz="1000" b="0" i="0" u="none" strike="noStrike" cap="none">
              <a:solidFill>
                <a:srgbClr val="000000"/>
              </a:solidFill>
              <a:latin typeface="Arial"/>
              <a:ea typeface="Arial"/>
              <a:cs typeface="Arial"/>
            </a:endParaRPr>
          </a:p>
        </p:txBody>
      </p:sp>
      <p:sp>
        <p:nvSpPr>
          <p:cNvPr id="227" name="Google Shape;227;p5">
            <a:extLst xmlns:a="http://schemas.openxmlformats.org/drawingml/2006/main">
              <a:ext uri="{FF2B5EF4-FFF2-40B4-BE49-F238E27FC236}">
                <a16:creationId xmlns:a16="http://schemas.microsoft.com/office/drawing/2014/main" id="{2B3BFCFA-8E58-47FA-80AC-43473DDDB237}"/>
              </a:ext>
            </a:extLst>
          </p:cNvPr>
          <p:cNvSpPr>
            <a:spLocks xmlns:a="http://schemas.openxmlformats.org/drawingml/2006/main" noGrp="1"/>
          </p:cNvSpPr>
          <p:nvPr/>
        </p:nvSpPr>
        <p:spPr>
          <a:xfrm xmlns:a="http://schemas.openxmlformats.org/drawingml/2006/main">
            <a:off x="740520" y="2112120"/>
            <a:ext cx="246852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0" i="0" u="none" strike="noStrike" cap="none">
                <a:solidFill>
                  <a:srgbClr val="24343B"/>
                </a:solidFill>
                <a:latin typeface="Arial"/>
                <a:ea typeface="Arial"/>
                <a:cs typeface="Arial"/>
              </a:rPr>
              <a:t>Rehabilitation facility</a:t>
            </a:r>
            <a:endParaRPr sz="1200" b="0" i="0" u="none" strike="noStrike" cap="none">
              <a:solidFill>
                <a:srgbClr val="000000"/>
              </a:solidFill>
              <a:latin typeface="Arial"/>
              <a:ea typeface="Arial"/>
              <a:cs typeface="Arial"/>
            </a:endParaRPr>
          </a:p>
        </p:txBody>
      </p:sp>
      <p:sp>
        <p:nvSpPr>
          <p:cNvPr id="228" name="Google Shape;228;p5">
            <a:extLst xmlns:a="http://schemas.openxmlformats.org/drawingml/2006/main">
              <a:ext uri="{FF2B5EF4-FFF2-40B4-BE49-F238E27FC236}">
                <a16:creationId xmlns:a16="http://schemas.microsoft.com/office/drawing/2014/main" id="{C4CF6DFF-5DC3-418F-BE8A-4E1B745C1878}"/>
              </a:ext>
            </a:extLst>
          </p:cNvPr>
          <p:cNvSpPr>
            <a:spLocks xmlns:a="http://schemas.openxmlformats.org/drawingml/2006/main" noGrp="1"/>
          </p:cNvSpPr>
          <p:nvPr/>
        </p:nvSpPr>
        <p:spPr>
          <a:xfrm xmlns:a="http://schemas.openxmlformats.org/drawingml/2006/main">
            <a:off x="3328560" y="2249280"/>
            <a:ext cx="379440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29" name="Google Shape;229;p5">
            <a:extLst xmlns:a="http://schemas.openxmlformats.org/drawingml/2006/main">
              <a:ext uri="{FF2B5EF4-FFF2-40B4-BE49-F238E27FC236}">
                <a16:creationId xmlns:a16="http://schemas.microsoft.com/office/drawing/2014/main" id="{2B5631FC-2103-48D5-8543-28784C154539}"/>
              </a:ext>
            </a:extLst>
          </p:cNvPr>
          <p:cNvSpPr>
            <a:spLocks xmlns:a="http://schemas.openxmlformats.org/drawingml/2006/main" noGrp="1"/>
          </p:cNvSpPr>
          <p:nvPr/>
        </p:nvSpPr>
        <p:spPr>
          <a:xfrm xmlns:a="http://schemas.openxmlformats.org/drawingml/2006/main">
            <a:off x="3328560" y="2249280"/>
            <a:ext cx="3425040" cy="16416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30" name="Google Shape;230;p5">
            <a:extLst xmlns:a="http://schemas.openxmlformats.org/drawingml/2006/main">
              <a:ext uri="{FF2B5EF4-FFF2-40B4-BE49-F238E27FC236}">
                <a16:creationId xmlns:a16="http://schemas.microsoft.com/office/drawing/2014/main" id="{4951D6A5-398B-457D-867D-CDABE08C135C}"/>
              </a:ext>
            </a:extLst>
          </p:cNvPr>
          <p:cNvSpPr>
            <a:spLocks xmlns:a="http://schemas.openxmlformats.org/drawingml/2006/main" noGrp="1"/>
          </p:cNvSpPr>
          <p:nvPr/>
        </p:nvSpPr>
        <p:spPr>
          <a:xfrm xmlns:a="http://schemas.openxmlformats.org/drawingml/2006/main">
            <a:off x="7242120" y="2098440"/>
            <a:ext cx="80424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397A7C"/>
                </a:solidFill>
                <a:latin typeface="Arial"/>
                <a:ea typeface="Arial"/>
                <a:cs typeface="Arial"/>
              </a:rPr>
              <a:t>27.08%</a:t>
            </a:r>
            <a:endParaRPr sz="1300" b="0" i="0" u="none" strike="noStrike" cap="none">
              <a:solidFill>
                <a:srgbClr val="000000"/>
              </a:solidFill>
              <a:latin typeface="Arial"/>
              <a:ea typeface="Arial"/>
              <a:cs typeface="Arial"/>
            </a:endParaRPr>
          </a:p>
        </p:txBody>
      </p:sp>
      <p:sp>
        <p:nvSpPr>
          <p:cNvPr id="231" name="Google Shape;231;p5">
            <a:extLst xmlns:a="http://schemas.openxmlformats.org/drawingml/2006/main">
              <a:ext uri="{FF2B5EF4-FFF2-40B4-BE49-F238E27FC236}">
                <a16:creationId xmlns:a16="http://schemas.microsoft.com/office/drawing/2014/main" id="{8E693FAB-0EEC-4EC7-89EE-CB9C0C0DC485}"/>
              </a:ext>
            </a:extLst>
          </p:cNvPr>
          <p:cNvSpPr>
            <a:spLocks xmlns:a="http://schemas.openxmlformats.org/drawingml/2006/main" noGrp="1"/>
          </p:cNvSpPr>
          <p:nvPr/>
        </p:nvSpPr>
        <p:spPr>
          <a:xfrm xmlns:a="http://schemas.openxmlformats.org/drawingml/2006/main">
            <a:off x="740520" y="2660760"/>
            <a:ext cx="246852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0" i="0" u="none" strike="noStrike" cap="none">
                <a:solidFill>
                  <a:srgbClr val="24343B"/>
                </a:solidFill>
                <a:latin typeface="Arial"/>
                <a:ea typeface="Arial"/>
                <a:cs typeface="Arial"/>
              </a:rPr>
              <a:t>Other inpatient care</a:t>
            </a:r>
            <a:endParaRPr sz="1200" b="0" i="0" u="none" strike="noStrike" cap="none">
              <a:solidFill>
                <a:srgbClr val="000000"/>
              </a:solidFill>
              <a:latin typeface="Arial"/>
              <a:ea typeface="Arial"/>
              <a:cs typeface="Arial"/>
            </a:endParaRPr>
          </a:p>
        </p:txBody>
      </p:sp>
      <p:sp>
        <p:nvSpPr>
          <p:cNvPr id="232" name="Google Shape;232;p5">
            <a:extLst xmlns:a="http://schemas.openxmlformats.org/drawingml/2006/main">
              <a:ext uri="{FF2B5EF4-FFF2-40B4-BE49-F238E27FC236}">
                <a16:creationId xmlns:a16="http://schemas.microsoft.com/office/drawing/2014/main" id="{C511FCF4-8FC3-4AE9-99EE-0D4D006BB111}"/>
              </a:ext>
            </a:extLst>
          </p:cNvPr>
          <p:cNvSpPr>
            <a:spLocks xmlns:a="http://schemas.openxmlformats.org/drawingml/2006/main" noGrp="1"/>
          </p:cNvSpPr>
          <p:nvPr/>
        </p:nvSpPr>
        <p:spPr>
          <a:xfrm xmlns:a="http://schemas.openxmlformats.org/drawingml/2006/main">
            <a:off x="3328560" y="2797920"/>
            <a:ext cx="379440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33" name="Google Shape;233;p5">
            <a:extLst xmlns:a="http://schemas.openxmlformats.org/drawingml/2006/main">
              <a:ext uri="{FF2B5EF4-FFF2-40B4-BE49-F238E27FC236}">
                <a16:creationId xmlns:a16="http://schemas.microsoft.com/office/drawing/2014/main" id="{A91E7203-FC5C-45F9-AC9F-92A978DD4866}"/>
              </a:ext>
            </a:extLst>
          </p:cNvPr>
          <p:cNvSpPr>
            <a:spLocks xmlns:a="http://schemas.openxmlformats.org/drawingml/2006/main" noGrp="1"/>
          </p:cNvSpPr>
          <p:nvPr/>
        </p:nvSpPr>
        <p:spPr>
          <a:xfrm xmlns:a="http://schemas.openxmlformats.org/drawingml/2006/main">
            <a:off x="3328560" y="2797920"/>
            <a:ext cx="2587680" cy="16416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34" name="Google Shape;234;p5">
            <a:extLst xmlns:a="http://schemas.openxmlformats.org/drawingml/2006/main">
              <a:ext uri="{FF2B5EF4-FFF2-40B4-BE49-F238E27FC236}">
                <a16:creationId xmlns:a16="http://schemas.microsoft.com/office/drawing/2014/main" id="{9502635E-69C9-4F70-B646-07F3EBFEFABC}"/>
              </a:ext>
            </a:extLst>
          </p:cNvPr>
          <p:cNvSpPr>
            <a:spLocks xmlns:a="http://schemas.openxmlformats.org/drawingml/2006/main" noGrp="1"/>
          </p:cNvSpPr>
          <p:nvPr/>
        </p:nvSpPr>
        <p:spPr>
          <a:xfrm xmlns:a="http://schemas.openxmlformats.org/drawingml/2006/main">
            <a:off x="7242120" y="2647080"/>
            <a:ext cx="80424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397A7C"/>
                </a:solidFill>
                <a:latin typeface="Arial"/>
                <a:ea typeface="Arial"/>
                <a:cs typeface="Arial"/>
              </a:rPr>
              <a:t>20.46%</a:t>
            </a:r>
            <a:endParaRPr sz="1300" b="0" i="0" u="none" strike="noStrike" cap="none">
              <a:solidFill>
                <a:srgbClr val="000000"/>
              </a:solidFill>
              <a:latin typeface="Arial"/>
              <a:ea typeface="Arial"/>
              <a:cs typeface="Arial"/>
            </a:endParaRPr>
          </a:p>
        </p:txBody>
      </p:sp>
      <p:sp>
        <p:nvSpPr>
          <p:cNvPr id="235" name="Google Shape;235;p5">
            <a:extLst xmlns:a="http://schemas.openxmlformats.org/drawingml/2006/main">
              <a:ext uri="{FF2B5EF4-FFF2-40B4-BE49-F238E27FC236}">
                <a16:creationId xmlns:a16="http://schemas.microsoft.com/office/drawing/2014/main" id="{3CCEF366-628B-480C-AFC9-9AAC04F8855F}"/>
              </a:ext>
            </a:extLst>
          </p:cNvPr>
          <p:cNvSpPr>
            <a:spLocks xmlns:a="http://schemas.openxmlformats.org/drawingml/2006/main" noGrp="1"/>
          </p:cNvSpPr>
          <p:nvPr/>
        </p:nvSpPr>
        <p:spPr>
          <a:xfrm xmlns:a="http://schemas.openxmlformats.org/drawingml/2006/main">
            <a:off x="740520" y="3209400"/>
            <a:ext cx="246852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0" i="0" u="none" strike="noStrike" cap="none">
                <a:solidFill>
                  <a:srgbClr val="24343B"/>
                </a:solidFill>
                <a:latin typeface="Arial"/>
                <a:ea typeface="Arial"/>
                <a:cs typeface="Arial"/>
              </a:rPr>
              <a:t>Skilled nursing facility</a:t>
            </a:r>
            <a:endParaRPr sz="1200" b="0" i="0" u="none" strike="noStrike" cap="none">
              <a:solidFill>
                <a:srgbClr val="000000"/>
              </a:solidFill>
              <a:latin typeface="Arial"/>
              <a:ea typeface="Arial"/>
              <a:cs typeface="Arial"/>
            </a:endParaRPr>
          </a:p>
        </p:txBody>
      </p:sp>
      <p:sp>
        <p:nvSpPr>
          <p:cNvPr id="236" name="Google Shape;236;p5">
            <a:extLst xmlns:a="http://schemas.openxmlformats.org/drawingml/2006/main">
              <a:ext uri="{FF2B5EF4-FFF2-40B4-BE49-F238E27FC236}">
                <a16:creationId xmlns:a16="http://schemas.microsoft.com/office/drawing/2014/main" id="{F52C3382-7C59-433F-A10C-9E86F9C71ABC}"/>
              </a:ext>
            </a:extLst>
          </p:cNvPr>
          <p:cNvSpPr>
            <a:spLocks xmlns:a="http://schemas.openxmlformats.org/drawingml/2006/main" noGrp="1"/>
          </p:cNvSpPr>
          <p:nvPr/>
        </p:nvSpPr>
        <p:spPr>
          <a:xfrm xmlns:a="http://schemas.openxmlformats.org/drawingml/2006/main">
            <a:off x="3328560" y="3346560"/>
            <a:ext cx="379440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37" name="Google Shape;237;p5">
            <a:extLst xmlns:a="http://schemas.openxmlformats.org/drawingml/2006/main">
              <a:ext uri="{FF2B5EF4-FFF2-40B4-BE49-F238E27FC236}">
                <a16:creationId xmlns:a16="http://schemas.microsoft.com/office/drawing/2014/main" id="{5CB31472-5FF1-4C65-8A4B-2120BCBF85FB}"/>
              </a:ext>
            </a:extLst>
          </p:cNvPr>
          <p:cNvSpPr>
            <a:spLocks xmlns:a="http://schemas.openxmlformats.org/drawingml/2006/main" noGrp="1"/>
          </p:cNvSpPr>
          <p:nvPr/>
        </p:nvSpPr>
        <p:spPr>
          <a:xfrm xmlns:a="http://schemas.openxmlformats.org/drawingml/2006/main">
            <a:off x="3328560" y="3346560"/>
            <a:ext cx="1746360" cy="16416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38" name="Google Shape;238;p5">
            <a:extLst xmlns:a="http://schemas.openxmlformats.org/drawingml/2006/main">
              <a:ext uri="{FF2B5EF4-FFF2-40B4-BE49-F238E27FC236}">
                <a16:creationId xmlns:a16="http://schemas.microsoft.com/office/drawing/2014/main" id="{44A9DFC4-0065-4DBB-9656-4F24EB904242}"/>
              </a:ext>
            </a:extLst>
          </p:cNvPr>
          <p:cNvSpPr>
            <a:spLocks xmlns:a="http://schemas.openxmlformats.org/drawingml/2006/main" noGrp="1"/>
          </p:cNvSpPr>
          <p:nvPr/>
        </p:nvSpPr>
        <p:spPr>
          <a:xfrm xmlns:a="http://schemas.openxmlformats.org/drawingml/2006/main">
            <a:off x="7242120" y="3195720"/>
            <a:ext cx="80424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56869F"/>
                </a:solidFill>
                <a:latin typeface="Arial"/>
                <a:ea typeface="Arial"/>
                <a:cs typeface="Arial"/>
              </a:rPr>
              <a:t>13.81%</a:t>
            </a:r>
            <a:endParaRPr sz="1300" b="0" i="0" u="none" strike="noStrike" cap="none">
              <a:solidFill>
                <a:srgbClr val="000000"/>
              </a:solidFill>
              <a:latin typeface="Arial"/>
              <a:ea typeface="Arial"/>
              <a:cs typeface="Arial"/>
            </a:endParaRPr>
          </a:p>
        </p:txBody>
      </p:sp>
      <p:sp>
        <p:nvSpPr>
          <p:cNvPr id="239" name="Google Shape;239;p5">
            <a:extLst xmlns:a="http://schemas.openxmlformats.org/drawingml/2006/main">
              <a:ext uri="{FF2B5EF4-FFF2-40B4-BE49-F238E27FC236}">
                <a16:creationId xmlns:a16="http://schemas.microsoft.com/office/drawing/2014/main" id="{588E6D94-CAB4-457D-8115-A707CB5990E9}"/>
              </a:ext>
            </a:extLst>
          </p:cNvPr>
          <p:cNvSpPr>
            <a:spLocks xmlns:a="http://schemas.openxmlformats.org/drawingml/2006/main" noGrp="1"/>
          </p:cNvSpPr>
          <p:nvPr/>
        </p:nvSpPr>
        <p:spPr>
          <a:xfrm xmlns:a="http://schemas.openxmlformats.org/drawingml/2006/main">
            <a:off x="740520" y="3758040"/>
            <a:ext cx="246852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0" i="0" u="none" strike="noStrike" cap="none">
                <a:solidFill>
                  <a:srgbClr val="24343B"/>
                </a:solidFill>
                <a:latin typeface="Arial"/>
                <a:ea typeface="Arial"/>
                <a:cs typeface="Arial"/>
              </a:rPr>
              <a:t>Home health service</a:t>
            </a:r>
            <a:endParaRPr sz="1200" b="0" i="0" u="none" strike="noStrike" cap="none">
              <a:solidFill>
                <a:srgbClr val="000000"/>
              </a:solidFill>
              <a:latin typeface="Arial"/>
              <a:ea typeface="Arial"/>
              <a:cs typeface="Arial"/>
            </a:endParaRPr>
          </a:p>
        </p:txBody>
      </p:sp>
      <p:sp>
        <p:nvSpPr>
          <p:cNvPr id="240" name="Google Shape;240;p5">
            <a:extLst xmlns:a="http://schemas.openxmlformats.org/drawingml/2006/main">
              <a:ext uri="{FF2B5EF4-FFF2-40B4-BE49-F238E27FC236}">
                <a16:creationId xmlns:a16="http://schemas.microsoft.com/office/drawing/2014/main" id="{F6CEA599-C2D5-4EC2-86E7-A42289AACA74}"/>
              </a:ext>
            </a:extLst>
          </p:cNvPr>
          <p:cNvSpPr>
            <a:spLocks xmlns:a="http://schemas.openxmlformats.org/drawingml/2006/main" noGrp="1"/>
          </p:cNvSpPr>
          <p:nvPr/>
        </p:nvSpPr>
        <p:spPr>
          <a:xfrm xmlns:a="http://schemas.openxmlformats.org/drawingml/2006/main">
            <a:off x="3328560" y="3895200"/>
            <a:ext cx="379440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41" name="Google Shape;241;p5">
            <a:extLst xmlns:a="http://schemas.openxmlformats.org/drawingml/2006/main">
              <a:ext uri="{FF2B5EF4-FFF2-40B4-BE49-F238E27FC236}">
                <a16:creationId xmlns:a16="http://schemas.microsoft.com/office/drawing/2014/main" id="{F53AF7A1-A97D-4F31-A880-E5E575AF4CD5}"/>
              </a:ext>
            </a:extLst>
          </p:cNvPr>
          <p:cNvSpPr>
            <a:spLocks xmlns:a="http://schemas.openxmlformats.org/drawingml/2006/main" noGrp="1"/>
          </p:cNvSpPr>
          <p:nvPr/>
        </p:nvSpPr>
        <p:spPr>
          <a:xfrm xmlns:a="http://schemas.openxmlformats.org/drawingml/2006/main">
            <a:off x="3328560" y="3895200"/>
            <a:ext cx="1221480" cy="16416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42" name="Google Shape;242;p5">
            <a:extLst xmlns:a="http://schemas.openxmlformats.org/drawingml/2006/main">
              <a:ext uri="{FF2B5EF4-FFF2-40B4-BE49-F238E27FC236}">
                <a16:creationId xmlns:a16="http://schemas.microsoft.com/office/drawing/2014/main" id="{5A428CEF-989F-4333-8C59-55E53787E3D2}"/>
              </a:ext>
            </a:extLst>
          </p:cNvPr>
          <p:cNvSpPr>
            <a:spLocks xmlns:a="http://schemas.openxmlformats.org/drawingml/2006/main" noGrp="1"/>
          </p:cNvSpPr>
          <p:nvPr/>
        </p:nvSpPr>
        <p:spPr>
          <a:xfrm xmlns:a="http://schemas.openxmlformats.org/drawingml/2006/main">
            <a:off x="7242120" y="3744360"/>
            <a:ext cx="80424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56869F"/>
                </a:solidFill>
                <a:latin typeface="Arial"/>
                <a:ea typeface="Arial"/>
                <a:cs typeface="Arial"/>
              </a:rPr>
              <a:t>9.66%</a:t>
            </a:r>
            <a:endParaRPr sz="1300" b="0" i="0" u="none" strike="noStrike" cap="none">
              <a:solidFill>
                <a:srgbClr val="000000"/>
              </a:solidFill>
              <a:latin typeface="Arial"/>
              <a:ea typeface="Arial"/>
              <a:cs typeface="Arial"/>
            </a:endParaRPr>
          </a:p>
        </p:txBody>
      </p:sp>
      <p:sp>
        <p:nvSpPr>
          <p:cNvPr id="243" name="Google Shape;243;p5">
            <a:extLst xmlns:a="http://schemas.openxmlformats.org/drawingml/2006/main">
              <a:ext uri="{FF2B5EF4-FFF2-40B4-BE49-F238E27FC236}">
                <a16:creationId xmlns:a16="http://schemas.microsoft.com/office/drawing/2014/main" id="{0329915D-3342-4EC9-AE63-A5FEB20B619B}"/>
              </a:ext>
            </a:extLst>
          </p:cNvPr>
          <p:cNvSpPr>
            <a:spLocks xmlns:a="http://schemas.openxmlformats.org/drawingml/2006/main" noGrp="1"/>
          </p:cNvSpPr>
          <p:nvPr/>
        </p:nvSpPr>
        <p:spPr>
          <a:xfrm xmlns:a="http://schemas.openxmlformats.org/drawingml/2006/main">
            <a:off x="740520" y="4306680"/>
            <a:ext cx="246852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0" i="0" u="none" strike="noStrike" cap="none">
                <a:solidFill>
                  <a:srgbClr val="24343B"/>
                </a:solidFill>
                <a:latin typeface="Arial"/>
                <a:ea typeface="Arial"/>
                <a:cs typeface="Arial"/>
              </a:rPr>
              <a:t>Discharged home</a:t>
            </a:r>
            <a:endParaRPr sz="1200" b="0" i="0" u="none" strike="noStrike" cap="none">
              <a:solidFill>
                <a:srgbClr val="000000"/>
              </a:solidFill>
              <a:latin typeface="Arial"/>
              <a:ea typeface="Arial"/>
              <a:cs typeface="Arial"/>
            </a:endParaRPr>
          </a:p>
        </p:txBody>
      </p:sp>
      <p:sp>
        <p:nvSpPr>
          <p:cNvPr id="244" name="Google Shape;244;p5">
            <a:extLst xmlns:a="http://schemas.openxmlformats.org/drawingml/2006/main">
              <a:ext uri="{FF2B5EF4-FFF2-40B4-BE49-F238E27FC236}">
                <a16:creationId xmlns:a16="http://schemas.microsoft.com/office/drawing/2014/main" id="{3ADF8E77-B1A6-45FC-89A9-97092F48D3E0}"/>
              </a:ext>
            </a:extLst>
          </p:cNvPr>
          <p:cNvSpPr>
            <a:spLocks xmlns:a="http://schemas.openxmlformats.org/drawingml/2006/main" noGrp="1"/>
          </p:cNvSpPr>
          <p:nvPr/>
        </p:nvSpPr>
        <p:spPr>
          <a:xfrm xmlns:a="http://schemas.openxmlformats.org/drawingml/2006/main">
            <a:off x="3328560" y="4443840"/>
            <a:ext cx="379440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45" name="Google Shape;245;p5">
            <a:extLst xmlns:a="http://schemas.openxmlformats.org/drawingml/2006/main">
              <a:ext uri="{FF2B5EF4-FFF2-40B4-BE49-F238E27FC236}">
                <a16:creationId xmlns:a16="http://schemas.microsoft.com/office/drawing/2014/main" id="{E2DCA126-0B04-4B57-B5B5-A6D99D7706F1}"/>
              </a:ext>
            </a:extLst>
          </p:cNvPr>
          <p:cNvSpPr>
            <a:spLocks xmlns:a="http://schemas.openxmlformats.org/drawingml/2006/main" noGrp="1"/>
          </p:cNvSpPr>
          <p:nvPr/>
        </p:nvSpPr>
        <p:spPr>
          <a:xfrm xmlns:a="http://schemas.openxmlformats.org/drawingml/2006/main">
            <a:off x="3328560" y="4443840"/>
            <a:ext cx="862200" cy="16416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46" name="Google Shape;246;p5">
            <a:extLst xmlns:a="http://schemas.openxmlformats.org/drawingml/2006/main">
              <a:ext uri="{FF2B5EF4-FFF2-40B4-BE49-F238E27FC236}">
                <a16:creationId xmlns:a16="http://schemas.microsoft.com/office/drawing/2014/main" id="{B13B1C85-D0C9-463D-8101-C18B6E398605}"/>
              </a:ext>
            </a:extLst>
          </p:cNvPr>
          <p:cNvSpPr>
            <a:spLocks xmlns:a="http://schemas.openxmlformats.org/drawingml/2006/main" noGrp="1"/>
          </p:cNvSpPr>
          <p:nvPr/>
        </p:nvSpPr>
        <p:spPr>
          <a:xfrm xmlns:a="http://schemas.openxmlformats.org/drawingml/2006/main">
            <a:off x="7242120" y="4293000"/>
            <a:ext cx="80424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56869F"/>
                </a:solidFill>
                <a:latin typeface="Arial"/>
                <a:ea typeface="Arial"/>
                <a:cs typeface="Arial"/>
              </a:rPr>
              <a:t>6.82%</a:t>
            </a:r>
            <a:endParaRPr sz="1300" b="0" i="0" u="none" strike="noStrike" cap="none">
              <a:solidFill>
                <a:srgbClr val="000000"/>
              </a:solidFill>
              <a:latin typeface="Arial"/>
              <a:ea typeface="Arial"/>
              <a:cs typeface="Arial"/>
            </a:endParaRPr>
          </a:p>
        </p:txBody>
      </p:sp>
      <p:cxnSp>
        <p:nvCxnSpPr>
          <p:cNvPr id="247" name="Google Shape;247;p5">
            <a:extLst xmlns:a="http://schemas.openxmlformats.org/drawingml/2006/main">
              <a:ext uri="{FF2B5EF4-FFF2-40B4-BE49-F238E27FC236}">
                <a16:creationId xmlns:a16="http://schemas.microsoft.com/office/drawing/2014/main" id="{371B8C13-F44A-43DE-A98A-F22C87254EEC}"/>
              </a:ext>
            </a:extLst>
          </p:cNvPr>
          <p:cNvCxnSpPr/>
          <p:nvPr/>
        </p:nvCxnSpPr>
        <p:spPr>
          <a:xfrm xmlns:a="http://schemas.openxmlformats.org/drawingml/2006/main">
            <a:off x="8394120" y="1920240"/>
            <a:ext cx="360" cy="331020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248" name="Google Shape;248;p5">
            <a:extLst xmlns:a="http://schemas.openxmlformats.org/drawingml/2006/main">
              <a:ext uri="{FF2B5EF4-FFF2-40B4-BE49-F238E27FC236}">
                <a16:creationId xmlns:a16="http://schemas.microsoft.com/office/drawing/2014/main" id="{CCB0FE12-3674-4D5C-9D3A-E9AD8018986B}"/>
              </a:ext>
            </a:extLst>
          </p:cNvPr>
          <p:cNvSpPr>
            <a:spLocks xmlns:a="http://schemas.openxmlformats.org/drawingml/2006/main" noGrp="1"/>
          </p:cNvSpPr>
          <p:nvPr/>
        </p:nvSpPr>
        <p:spPr>
          <a:xfrm xmlns:a="http://schemas.openxmlformats.org/drawingml/2006/main">
            <a:off x="8714160" y="1856160"/>
            <a:ext cx="309312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OTHER SIGNALS</a:t>
            </a:r>
            <a:endParaRPr sz="1000" b="0" i="0" u="none" strike="noStrike" cap="none">
              <a:solidFill>
                <a:srgbClr val="000000"/>
              </a:solidFill>
              <a:latin typeface="Arial"/>
              <a:ea typeface="Arial"/>
              <a:cs typeface="Arial"/>
            </a:endParaRPr>
          </a:p>
        </p:txBody>
      </p:sp>
      <p:sp>
        <p:nvSpPr>
          <p:cNvPr id="249" name="Google Shape;249;p5">
            <a:extLst xmlns:a="http://schemas.openxmlformats.org/drawingml/2006/main">
              <a:ext uri="{FF2B5EF4-FFF2-40B4-BE49-F238E27FC236}">
                <a16:creationId xmlns:a16="http://schemas.microsoft.com/office/drawing/2014/main" id="{534559C1-8338-4267-803F-8AE8A83AD0A9}"/>
              </a:ext>
            </a:extLst>
          </p:cNvPr>
          <p:cNvSpPr>
            <a:spLocks xmlns:a="http://schemas.openxmlformats.org/drawingml/2006/main" noGrp="1"/>
          </p:cNvSpPr>
          <p:nvPr/>
        </p:nvSpPr>
        <p:spPr>
          <a:xfrm xmlns:a="http://schemas.openxmlformats.org/drawingml/2006/main">
            <a:off x="8695800" y="2221920"/>
            <a:ext cx="2614680" cy="411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200" b="1" i="0" u="none" strike="noStrike" cap="none">
                <a:solidFill>
                  <a:srgbClr val="BE7E5B"/>
                </a:solidFill>
                <a:latin typeface="Arial"/>
                <a:ea typeface="Arial"/>
                <a:cs typeface="Arial"/>
              </a:rPr>
              <a:t>0.36 vs 0.16</a:t>
            </a:r>
            <a:endParaRPr sz="2200" b="0" i="0" u="none" strike="noStrike" cap="none">
              <a:solidFill>
                <a:srgbClr val="000000"/>
              </a:solidFill>
              <a:latin typeface="Arial"/>
              <a:ea typeface="Arial"/>
              <a:cs typeface="Arial"/>
            </a:endParaRPr>
          </a:p>
        </p:txBody>
      </p:sp>
      <p:sp>
        <p:nvSpPr>
          <p:cNvPr id="250" name="Google Shape;250;p5">
            <a:extLst xmlns:a="http://schemas.openxmlformats.org/drawingml/2006/main">
              <a:ext uri="{FF2B5EF4-FFF2-40B4-BE49-F238E27FC236}">
                <a16:creationId xmlns:a16="http://schemas.microsoft.com/office/drawing/2014/main" id="{DCB456FB-866C-4AC4-84CB-F3DE5A74A0E9}"/>
              </a:ext>
            </a:extLst>
          </p:cNvPr>
          <p:cNvSpPr>
            <a:spLocks xmlns:a="http://schemas.openxmlformats.org/drawingml/2006/main" noGrp="1"/>
          </p:cNvSpPr>
          <p:nvPr/>
        </p:nvSpPr>
        <p:spPr>
          <a:xfrm xmlns:a="http://schemas.openxmlformats.org/drawingml/2006/main">
            <a:off x="8695800" y="2688480"/>
            <a:ext cx="2605680" cy="804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66757B"/>
                </a:solidFill>
                <a:latin typeface="Arial"/>
                <a:ea typeface="Arial"/>
                <a:cs typeface="Arial"/>
              </a:rPr>
              <a:t>Mean previous inpatient visits: readmitted vs others</a:t>
            </a:r>
            <a:endParaRPr sz="1150" b="0" i="0" u="none" strike="noStrike" cap="none">
              <a:solidFill>
                <a:srgbClr val="000000"/>
              </a:solidFill>
              <a:latin typeface="Arial"/>
              <a:ea typeface="Arial"/>
              <a:cs typeface="Arial"/>
            </a:endParaRPr>
          </a:p>
        </p:txBody>
      </p:sp>
      <p:cxnSp>
        <p:nvCxnSpPr>
          <p:cNvPr id="251" name="Google Shape;251;p5">
            <a:extLst xmlns:a="http://schemas.openxmlformats.org/drawingml/2006/main">
              <a:ext uri="{FF2B5EF4-FFF2-40B4-BE49-F238E27FC236}">
                <a16:creationId xmlns:a16="http://schemas.microsoft.com/office/drawing/2014/main" id="{8C6813F4-EE9F-405F-B771-76D47FD5A774}"/>
              </a:ext>
            </a:extLst>
          </p:cNvPr>
          <p:cNvCxnSpPr/>
          <p:nvPr/>
        </p:nvCxnSpPr>
        <p:spPr>
          <a:xfrm xmlns:a="http://schemas.openxmlformats.org/drawingml/2006/main">
            <a:off x="8704800" y="3730680"/>
            <a:ext cx="259740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252" name="Google Shape;252;p5">
            <a:extLst xmlns:a="http://schemas.openxmlformats.org/drawingml/2006/main">
              <a:ext uri="{FF2B5EF4-FFF2-40B4-BE49-F238E27FC236}">
                <a16:creationId xmlns:a16="http://schemas.microsoft.com/office/drawing/2014/main" id="{36499BAB-F6FC-41B8-9710-C094BBB84C8F}"/>
              </a:ext>
            </a:extLst>
          </p:cNvPr>
          <p:cNvSpPr>
            <a:spLocks xmlns:a="http://schemas.openxmlformats.org/drawingml/2006/main" noGrp="1"/>
          </p:cNvSpPr>
          <p:nvPr/>
        </p:nvSpPr>
        <p:spPr>
          <a:xfrm xmlns:a="http://schemas.openxmlformats.org/drawingml/2006/main">
            <a:off x="8695800" y="3931920"/>
            <a:ext cx="2660400" cy="42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400" b="1" i="0" u="none" strike="noStrike" cap="none">
                <a:solidFill>
                  <a:srgbClr val="397A7C"/>
                </a:solidFill>
                <a:latin typeface="Arial"/>
                <a:ea typeface="Arial"/>
                <a:cs typeface="Arial"/>
              </a:rPr>
              <a:t>10.80%</a:t>
            </a:r>
            <a:endParaRPr sz="2400" b="0" i="0" u="none" strike="noStrike" cap="none">
              <a:solidFill>
                <a:srgbClr val="000000"/>
              </a:solidFill>
              <a:latin typeface="Arial"/>
              <a:ea typeface="Arial"/>
              <a:cs typeface="Arial"/>
            </a:endParaRPr>
          </a:p>
        </p:txBody>
      </p:sp>
      <p:sp>
        <p:nvSpPr>
          <p:cNvPr id="253" name="Google Shape;253;p5">
            <a:extLst xmlns:a="http://schemas.openxmlformats.org/drawingml/2006/main">
              <a:ext uri="{FF2B5EF4-FFF2-40B4-BE49-F238E27FC236}">
                <a16:creationId xmlns:a16="http://schemas.microsoft.com/office/drawing/2014/main" id="{EA8D8C53-74E4-4DA1-BB91-5840C95A81AF}"/>
              </a:ext>
            </a:extLst>
          </p:cNvPr>
          <p:cNvSpPr>
            <a:spLocks xmlns:a="http://schemas.openxmlformats.org/drawingml/2006/main" noGrp="1"/>
          </p:cNvSpPr>
          <p:nvPr/>
        </p:nvSpPr>
        <p:spPr>
          <a:xfrm xmlns:a="http://schemas.openxmlformats.org/drawingml/2006/main">
            <a:off x="8695800" y="4443840"/>
            <a:ext cx="2660400" cy="69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66757B"/>
                </a:solidFill>
                <a:latin typeface="Arial"/>
                <a:ea typeface="Arial"/>
                <a:cs typeface="Arial"/>
              </a:rPr>
              <a:t>Rate at age 80–90, versus 8.97% overall</a:t>
            </a:r>
            <a:endParaRPr sz="1150" b="0" i="0" u="none" strike="noStrike" cap="none">
              <a:solidFill>
                <a:srgbClr val="000000"/>
              </a:solidFill>
              <a:latin typeface="Arial"/>
              <a:ea typeface="Arial"/>
              <a:cs typeface="Arial"/>
            </a:endParaRPr>
          </a:p>
        </p:txBody>
      </p:sp>
      <p:sp>
        <p:nvSpPr>
          <p:cNvPr id="254" name="Google Shape;254;p5">
            <a:extLst xmlns:a="http://schemas.openxmlformats.org/drawingml/2006/main">
              <a:ext uri="{FF2B5EF4-FFF2-40B4-BE49-F238E27FC236}">
                <a16:creationId xmlns:a16="http://schemas.microsoft.com/office/drawing/2014/main" id="{4DCF855E-EE19-4BC5-B164-F1351424F372}"/>
              </a:ext>
            </a:extLst>
          </p:cNvPr>
          <p:cNvSpPr>
            <a:spLocks xmlns:a="http://schemas.openxmlformats.org/drawingml/2006/main" noGrp="1"/>
          </p:cNvSpPr>
          <p:nvPr/>
        </p:nvSpPr>
        <p:spPr>
          <a:xfrm xmlns:a="http://schemas.openxmlformats.org/drawingml/2006/main">
            <a:off x="667440" y="5806440"/>
            <a:ext cx="10899360" cy="42012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55" name="Google Shape;255;p5">
            <a:extLst xmlns:a="http://schemas.openxmlformats.org/drawingml/2006/main">
              <a:ext uri="{FF2B5EF4-FFF2-40B4-BE49-F238E27FC236}">
                <a16:creationId xmlns:a16="http://schemas.microsoft.com/office/drawing/2014/main" id="{7889F8B0-CEDF-43BB-8A07-6A5AE362EC4F}"/>
              </a:ext>
            </a:extLst>
          </p:cNvPr>
          <p:cNvSpPr>
            <a:spLocks xmlns:a="http://schemas.openxmlformats.org/drawingml/2006/main" noGrp="1"/>
          </p:cNvSpPr>
          <p:nvPr/>
        </p:nvSpPr>
        <p:spPr>
          <a:xfrm xmlns:a="http://schemas.openxmlformats.org/drawingml/2006/main">
            <a:off x="667440" y="5806440"/>
            <a:ext cx="50040" cy="42012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56" name="Google Shape;256;p5">
            <a:extLst xmlns:a="http://schemas.openxmlformats.org/drawingml/2006/main">
              <a:ext uri="{FF2B5EF4-FFF2-40B4-BE49-F238E27FC236}">
                <a16:creationId xmlns:a16="http://schemas.microsoft.com/office/drawing/2014/main" id="{20B272D7-494B-4B37-8F64-139169F3B38C}"/>
              </a:ext>
            </a:extLst>
          </p:cNvPr>
          <p:cNvSpPr>
            <a:spLocks xmlns:a="http://schemas.openxmlformats.org/drawingml/2006/main" noGrp="1"/>
          </p:cNvSpPr>
          <p:nvPr/>
        </p:nvSpPr>
        <p:spPr>
          <a:xfrm xmlns:a="http://schemas.openxmlformats.org/drawingml/2006/main">
            <a:off x="868680" y="5879520"/>
            <a:ext cx="10478520" cy="28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1C3138"/>
                </a:solidFill>
                <a:latin typeface="Arial"/>
                <a:ea typeface="Arial"/>
                <a:cs typeface="Arial"/>
              </a:rPr>
              <a:t>Interpretation: context predicts risk; changing a discharge category does not necessarily change outcomes.</a:t>
            </a:r>
            <a:endParaRPr sz="115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47683129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62" name="Google Shape;262;p6">
            <a:extLst xmlns:a="http://schemas.openxmlformats.org/drawingml/2006/main">
              <a:ext uri="{FF2B5EF4-FFF2-40B4-BE49-F238E27FC236}">
                <a16:creationId xmlns:a16="http://schemas.microsoft.com/office/drawing/2014/main" id="{C6C11ADD-7444-4DCB-A471-E9414F065FAE}"/>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F9F8F5"/>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63" name="Google Shape;263;p6">
            <a:extLst xmlns:a="http://schemas.openxmlformats.org/drawingml/2006/main">
              <a:ext uri="{FF2B5EF4-FFF2-40B4-BE49-F238E27FC236}">
                <a16:creationId xmlns:a16="http://schemas.microsoft.com/office/drawing/2014/main" id="{BCE70B27-C1A7-4217-B267-F73FA86D135B}"/>
              </a:ext>
            </a:extLst>
          </p:cNvPr>
          <p:cNvSpPr>
            <a:spLocks xmlns:a="http://schemas.openxmlformats.org/drawingml/2006/main" noGrp="1"/>
          </p:cNvSpPr>
          <p:nvPr/>
        </p:nvSpPr>
        <p:spPr>
          <a:xfrm xmlns:a="http://schemas.openxmlformats.org/drawingml/2006/main">
            <a:off x="493920" y="365760"/>
            <a:ext cx="109440" cy="109440"/>
          </a:xfrm>
          <a:prstGeom xmlns:a="http://schemas.openxmlformats.org/drawingml/2006/main" prst="ellipse">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32750" rIns="90000" bIns="327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64" name="Google Shape;264;p6">
            <a:extLst xmlns:a="http://schemas.openxmlformats.org/drawingml/2006/main">
              <a:ext uri="{FF2B5EF4-FFF2-40B4-BE49-F238E27FC236}">
                <a16:creationId xmlns:a16="http://schemas.microsoft.com/office/drawing/2014/main" id="{B90AE20F-7ECF-4188-A06E-3BE60A8480A4}"/>
              </a:ext>
            </a:extLst>
          </p:cNvPr>
          <p:cNvSpPr>
            <a:spLocks xmlns:a="http://schemas.openxmlformats.org/drawingml/2006/main" noGrp="1"/>
          </p:cNvSpPr>
          <p:nvPr/>
        </p:nvSpPr>
        <p:spPr>
          <a:xfrm xmlns:a="http://schemas.openxmlformats.org/drawingml/2006/main">
            <a:off x="7434000" y="311040"/>
            <a:ext cx="415116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66757B"/>
                </a:solidFill>
                <a:latin typeface="Arial"/>
                <a:ea typeface="Arial"/>
                <a:cs typeface="Arial"/>
              </a:rPr>
              <a:t>03  /  FEATURE ENGINEERING</a:t>
            </a:r>
            <a:endParaRPr sz="900" b="0" i="0" u="none" strike="noStrike" cap="none">
              <a:solidFill>
                <a:srgbClr val="000000"/>
              </a:solidFill>
              <a:latin typeface="Arial"/>
              <a:ea typeface="Arial"/>
              <a:cs typeface="Arial"/>
            </a:endParaRPr>
          </a:p>
        </p:txBody>
      </p:sp>
      <p:sp>
        <p:nvSpPr>
          <p:cNvPr id="265" name="Google Shape;265;p6">
            <a:extLst xmlns:a="http://schemas.openxmlformats.org/drawingml/2006/main">
              <a:ext uri="{FF2B5EF4-FFF2-40B4-BE49-F238E27FC236}">
                <a16:creationId xmlns:a16="http://schemas.microsoft.com/office/drawing/2014/main" id="{56700043-5A6D-4469-9EF9-6D78EEDF40A7}"/>
              </a:ext>
            </a:extLst>
          </p:cNvPr>
          <p:cNvSpPr>
            <a:spLocks xmlns:a="http://schemas.openxmlformats.org/drawingml/2006/main" noGrp="1"/>
          </p:cNvSpPr>
          <p:nvPr/>
        </p:nvSpPr>
        <p:spPr>
          <a:xfrm xmlns:a="http://schemas.openxmlformats.org/drawingml/2006/main">
            <a:off x="612720" y="713160"/>
            <a:ext cx="10972440" cy="630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900" b="1" i="0" u="none" strike="noStrike" cap="none">
                <a:solidFill>
                  <a:srgbClr val="1C3138"/>
                </a:solidFill>
                <a:latin typeface="Georgia"/>
                <a:ea typeface="Georgia"/>
                <a:cs typeface="Georgia"/>
              </a:rPr>
              <a:t>Six new features feed a training-fitted pipeline</a:t>
            </a:r>
            <a:endParaRPr sz="2900" b="0" i="0" u="none" strike="noStrike" cap="none">
              <a:solidFill>
                <a:srgbClr val="000000"/>
              </a:solidFill>
              <a:latin typeface="Arial"/>
              <a:ea typeface="Arial"/>
              <a:cs typeface="Arial"/>
            </a:endParaRPr>
          </a:p>
        </p:txBody>
      </p:sp>
      <p:cxnSp>
        <p:nvCxnSpPr>
          <p:cNvPr id="266" name="Google Shape;266;p6">
            <a:extLst xmlns:a="http://schemas.openxmlformats.org/drawingml/2006/main">
              <a:ext uri="{FF2B5EF4-FFF2-40B4-BE49-F238E27FC236}">
                <a16:creationId xmlns:a16="http://schemas.microsoft.com/office/drawing/2014/main" id="{EF2E9240-D959-4C9E-9F42-F63DE82F2C22}"/>
              </a:ext>
            </a:extLst>
          </p:cNvPr>
          <p:cNvCxnSpPr/>
          <p:nvPr/>
        </p:nvCxnSpPr>
        <p:spPr>
          <a:xfrm xmlns:a="http://schemas.openxmlformats.org/drawingml/2006/main">
            <a:off x="640080" y="1453680"/>
            <a:ext cx="10918080" cy="360"/>
          </a:xfrm>
          <a:prstGeom xmlns:a="http://schemas.openxmlformats.org/drawingml/2006/main" prst="straightConnector1">
            <a:avLst/>
          </a:prstGeom>
          <a:ln xmlns:a="http://schemas.openxmlformats.org/drawingml/2006/main" w="15875" cap="flat">
            <a:solidFill>
              <a:srgbClr val="1C3138"/>
            </a:solidFill>
            <a:prstDash val="solid"/>
            <a:round/>
            <a:headEnd type="none" w="sm" len="sm"/>
            <a:tailEnd type="none" w="sm" len="sm"/>
          </a:ln>
        </p:spPr>
      </p:cxnSp>
      <p:cxnSp>
        <p:nvCxnSpPr>
          <p:cNvPr id="267" name="Google Shape;267;p6">
            <a:extLst xmlns:a="http://schemas.openxmlformats.org/drawingml/2006/main">
              <a:ext uri="{FF2B5EF4-FFF2-40B4-BE49-F238E27FC236}">
                <a16:creationId xmlns:a16="http://schemas.microsoft.com/office/drawing/2014/main" id="{F409EE0C-52F2-4AC8-9640-57BEBA52C668}"/>
              </a:ext>
            </a:extLst>
          </p:cNvPr>
          <p:cNvCxnSpPr/>
          <p:nvPr/>
        </p:nvCxnSpPr>
        <p:spPr>
          <a:xfrm xmlns:a="http://schemas.openxmlformats.org/drawingml/2006/main">
            <a:off x="630720" y="6464520"/>
            <a:ext cx="10927440" cy="360"/>
          </a:xfrm>
          <a:prstGeom xmlns:a="http://schemas.openxmlformats.org/drawingml/2006/main" prst="straightConnector1">
            <a:avLst/>
          </a:prstGeom>
          <a:ln xmlns:a="http://schemas.openxmlformats.org/drawingml/2006/main" w="10150" cap="flat">
            <a:solidFill>
              <a:srgbClr val="D6DEDA"/>
            </a:solidFill>
            <a:prstDash val="solid"/>
            <a:round/>
            <a:headEnd type="none" w="sm" len="sm"/>
            <a:tailEnd type="none" w="sm" len="sm"/>
          </a:ln>
        </p:spPr>
      </p:cxnSp>
      <p:sp>
        <p:nvSpPr>
          <p:cNvPr id="268" name="Google Shape;268;p6">
            <a:extLst xmlns:a="http://schemas.openxmlformats.org/drawingml/2006/main">
              <a:ext uri="{FF2B5EF4-FFF2-40B4-BE49-F238E27FC236}">
                <a16:creationId xmlns:a16="http://schemas.microsoft.com/office/drawing/2014/main" id="{D83DE228-2830-4606-9AD3-F91A19637C4F}"/>
              </a:ext>
            </a:extLst>
          </p:cNvPr>
          <p:cNvSpPr>
            <a:spLocks xmlns:a="http://schemas.openxmlformats.org/drawingml/2006/main" noGrp="1"/>
          </p:cNvSpPr>
          <p:nvPr/>
        </p:nvSpPr>
        <p:spPr>
          <a:xfrm xmlns:a="http://schemas.openxmlformats.org/drawingml/2006/main">
            <a:off x="649080" y="6519600"/>
            <a:ext cx="10496880" cy="200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800" b="0" i="0" u="none" strike="noStrike" cap="none">
                <a:solidFill>
                  <a:srgbClr val="66757B"/>
                </a:solidFill>
                <a:latin typeface="Arial"/>
                <a:ea typeface="Arial"/>
                <a:cs typeface="Arial"/>
              </a:rPr>
              <a:t>Notebooks 04–05 · Feature engineering and reproducible preprocessing</a:t>
            </a:r>
            <a:endParaRPr sz="800" b="0" i="0" u="none" strike="noStrike" cap="none">
              <a:solidFill>
                <a:srgbClr val="000000"/>
              </a:solidFill>
              <a:latin typeface="Arial"/>
              <a:ea typeface="Arial"/>
              <a:cs typeface="Arial"/>
            </a:endParaRPr>
          </a:p>
        </p:txBody>
      </p:sp>
      <p:sp>
        <p:nvSpPr>
          <p:cNvPr id="269" name="Google Shape;269;p6">
            <a:extLst xmlns:a="http://schemas.openxmlformats.org/drawingml/2006/main">
              <a:ext uri="{FF2B5EF4-FFF2-40B4-BE49-F238E27FC236}">
                <a16:creationId xmlns:a16="http://schemas.microsoft.com/office/drawing/2014/main" id="{97981B73-D2A4-4715-AC37-9D0AC9F7D248}"/>
              </a:ext>
            </a:extLst>
          </p:cNvPr>
          <p:cNvSpPr>
            <a:spLocks xmlns:a="http://schemas.openxmlformats.org/drawingml/2006/main" noGrp="1"/>
          </p:cNvSpPr>
          <p:nvPr/>
        </p:nvSpPr>
        <p:spPr>
          <a:xfrm xmlns:a="http://schemas.openxmlformats.org/drawingml/2006/main">
            <a:off x="11137320" y="6501240"/>
            <a:ext cx="4384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1C3138"/>
                </a:solidFill>
                <a:latin typeface="Arial"/>
                <a:ea typeface="Arial"/>
                <a:cs typeface="Arial"/>
              </a:rPr>
              <a:t>06</a:t>
            </a:r>
            <a:endParaRPr sz="900" b="0" i="0" u="none" strike="noStrike" cap="none">
              <a:solidFill>
                <a:srgbClr val="000000"/>
              </a:solidFill>
              <a:latin typeface="Arial"/>
              <a:ea typeface="Arial"/>
              <a:cs typeface="Arial"/>
            </a:endParaRPr>
          </a:p>
        </p:txBody>
      </p:sp>
      <p:cxnSp>
        <p:nvCxnSpPr>
          <p:cNvPr id="270" name="Google Shape;270;p6">
            <a:extLst xmlns:a="http://schemas.openxmlformats.org/drawingml/2006/main">
              <a:ext uri="{FF2B5EF4-FFF2-40B4-BE49-F238E27FC236}">
                <a16:creationId xmlns:a16="http://schemas.microsoft.com/office/drawing/2014/main" id="{6C49BE08-1217-4E5E-81A2-5E92C0E4AB40}"/>
              </a:ext>
            </a:extLst>
          </p:cNvPr>
          <p:cNvCxnSpPr/>
          <p:nvPr/>
        </p:nvCxnSpPr>
        <p:spPr>
          <a:xfrm xmlns:a="http://schemas.openxmlformats.org/drawingml/2006/main">
            <a:off x="713160" y="1938240"/>
            <a:ext cx="345672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271" name="Google Shape;271;p6">
            <a:extLst xmlns:a="http://schemas.openxmlformats.org/drawingml/2006/main">
              <a:ext uri="{FF2B5EF4-FFF2-40B4-BE49-F238E27FC236}">
                <a16:creationId xmlns:a16="http://schemas.microsoft.com/office/drawing/2014/main" id="{50A98E0C-3FDD-44C4-A442-620FFBBF12D8}"/>
              </a:ext>
            </a:extLst>
          </p:cNvPr>
          <p:cNvSpPr>
            <a:spLocks xmlns:a="http://schemas.openxmlformats.org/drawingml/2006/main" noGrp="1"/>
          </p:cNvSpPr>
          <p:nvPr/>
        </p:nvSpPr>
        <p:spPr>
          <a:xfrm xmlns:a="http://schemas.openxmlformats.org/drawingml/2006/main">
            <a:off x="713160" y="2112120"/>
            <a:ext cx="39276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01</a:t>
            </a:r>
            <a:endParaRPr sz="1200" b="0" i="0" u="none" strike="noStrike" cap="none">
              <a:solidFill>
                <a:srgbClr val="000000"/>
              </a:solidFill>
              <a:latin typeface="Arial"/>
              <a:ea typeface="Arial"/>
              <a:cs typeface="Arial"/>
            </a:endParaRPr>
          </a:p>
        </p:txBody>
      </p:sp>
      <p:sp>
        <p:nvSpPr>
          <p:cNvPr id="272" name="Google Shape;272;p6">
            <a:extLst xmlns:a="http://schemas.openxmlformats.org/drawingml/2006/main">
              <a:ext uri="{FF2B5EF4-FFF2-40B4-BE49-F238E27FC236}">
                <a16:creationId xmlns:a16="http://schemas.microsoft.com/office/drawing/2014/main" id="{2F41388D-AEC3-4F7B-881B-F061264390BB}"/>
              </a:ext>
            </a:extLst>
          </p:cNvPr>
          <p:cNvSpPr>
            <a:spLocks xmlns:a="http://schemas.openxmlformats.org/drawingml/2006/main" noGrp="1"/>
          </p:cNvSpPr>
          <p:nvPr/>
        </p:nvSpPr>
        <p:spPr>
          <a:xfrm xmlns:a="http://schemas.openxmlformats.org/drawingml/2006/main">
            <a:off x="1134000" y="2094120"/>
            <a:ext cx="3017160" cy="347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500" b="1" i="0" u="none" strike="noStrike" cap="none">
                <a:solidFill>
                  <a:srgbClr val="1C3138"/>
                </a:solidFill>
                <a:latin typeface="Arial"/>
                <a:ea typeface="Arial"/>
                <a:cs typeface="Arial"/>
              </a:rPr>
              <a:t>age_numeric</a:t>
            </a:r>
            <a:endParaRPr sz="1500" b="0" i="0" u="none" strike="noStrike" cap="none">
              <a:solidFill>
                <a:srgbClr val="000000"/>
              </a:solidFill>
              <a:latin typeface="Arial"/>
              <a:ea typeface="Arial"/>
              <a:cs typeface="Arial"/>
            </a:endParaRPr>
          </a:p>
        </p:txBody>
      </p:sp>
      <p:sp>
        <p:nvSpPr>
          <p:cNvPr id="273" name="Google Shape;273;p6">
            <a:extLst xmlns:a="http://schemas.openxmlformats.org/drawingml/2006/main">
              <a:ext uri="{FF2B5EF4-FFF2-40B4-BE49-F238E27FC236}">
                <a16:creationId xmlns:a16="http://schemas.microsoft.com/office/drawing/2014/main" id="{9142B830-9B6E-4DF5-B12D-97A08ACBED61}"/>
              </a:ext>
            </a:extLst>
          </p:cNvPr>
          <p:cNvSpPr>
            <a:spLocks xmlns:a="http://schemas.openxmlformats.org/drawingml/2006/main" noGrp="1"/>
          </p:cNvSpPr>
          <p:nvPr/>
        </p:nvSpPr>
        <p:spPr>
          <a:xfrm xmlns:a="http://schemas.openxmlformats.org/drawingml/2006/main">
            <a:off x="1134000" y="2496240"/>
            <a:ext cx="3017160" cy="59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Midpoint of age category</a:t>
            </a:r>
            <a:endParaRPr sz="1100" b="0" i="0" u="none" strike="noStrike" cap="none">
              <a:solidFill>
                <a:srgbClr val="000000"/>
              </a:solidFill>
              <a:latin typeface="Arial"/>
              <a:ea typeface="Arial"/>
              <a:cs typeface="Arial"/>
            </a:endParaRPr>
          </a:p>
        </p:txBody>
      </p:sp>
      <p:cxnSp>
        <p:nvCxnSpPr>
          <p:cNvPr id="274" name="Google Shape;274;p6">
            <a:extLst xmlns:a="http://schemas.openxmlformats.org/drawingml/2006/main">
              <a:ext uri="{FF2B5EF4-FFF2-40B4-BE49-F238E27FC236}">
                <a16:creationId xmlns:a16="http://schemas.microsoft.com/office/drawing/2014/main" id="{8C075CC4-9E04-4DF4-8F22-0BD1E1C94AA5}"/>
              </a:ext>
            </a:extLst>
          </p:cNvPr>
          <p:cNvCxnSpPr/>
          <p:nvPr/>
        </p:nvCxnSpPr>
        <p:spPr>
          <a:xfrm xmlns:a="http://schemas.openxmlformats.org/drawingml/2006/main">
            <a:off x="4462200" y="1938240"/>
            <a:ext cx="345672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275" name="Google Shape;275;p6">
            <a:extLst xmlns:a="http://schemas.openxmlformats.org/drawingml/2006/main">
              <a:ext uri="{FF2B5EF4-FFF2-40B4-BE49-F238E27FC236}">
                <a16:creationId xmlns:a16="http://schemas.microsoft.com/office/drawing/2014/main" id="{A1FE5D06-DCC6-414C-B0DB-5096E706AAAC}"/>
              </a:ext>
            </a:extLst>
          </p:cNvPr>
          <p:cNvSpPr>
            <a:spLocks xmlns:a="http://schemas.openxmlformats.org/drawingml/2006/main" noGrp="1"/>
          </p:cNvSpPr>
          <p:nvPr/>
        </p:nvSpPr>
        <p:spPr>
          <a:xfrm xmlns:a="http://schemas.openxmlformats.org/drawingml/2006/main">
            <a:off x="4462200" y="2112120"/>
            <a:ext cx="39276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02</a:t>
            </a:r>
            <a:endParaRPr sz="1200" b="0" i="0" u="none" strike="noStrike" cap="none">
              <a:solidFill>
                <a:srgbClr val="000000"/>
              </a:solidFill>
              <a:latin typeface="Arial"/>
              <a:ea typeface="Arial"/>
              <a:cs typeface="Arial"/>
            </a:endParaRPr>
          </a:p>
        </p:txBody>
      </p:sp>
      <p:sp>
        <p:nvSpPr>
          <p:cNvPr id="276" name="Google Shape;276;p6">
            <a:extLst xmlns:a="http://schemas.openxmlformats.org/drawingml/2006/main">
              <a:ext uri="{FF2B5EF4-FFF2-40B4-BE49-F238E27FC236}">
                <a16:creationId xmlns:a16="http://schemas.microsoft.com/office/drawing/2014/main" id="{AD256431-C86A-4056-8212-345AEB278412}"/>
              </a:ext>
            </a:extLst>
          </p:cNvPr>
          <p:cNvSpPr>
            <a:spLocks xmlns:a="http://schemas.openxmlformats.org/drawingml/2006/main" noGrp="1"/>
          </p:cNvSpPr>
          <p:nvPr/>
        </p:nvSpPr>
        <p:spPr>
          <a:xfrm xmlns:a="http://schemas.openxmlformats.org/drawingml/2006/main">
            <a:off x="4883040" y="2094120"/>
            <a:ext cx="3017160" cy="347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500" b="1" i="0" u="none" strike="noStrike" cap="none">
                <a:solidFill>
                  <a:srgbClr val="1C3138"/>
                </a:solidFill>
                <a:latin typeface="Arial"/>
                <a:ea typeface="Arial"/>
                <a:cs typeface="Arial"/>
              </a:rPr>
              <a:t>prior_utilization</a:t>
            </a:r>
            <a:endParaRPr sz="1500" b="0" i="0" u="none" strike="noStrike" cap="none">
              <a:solidFill>
                <a:srgbClr val="000000"/>
              </a:solidFill>
              <a:latin typeface="Arial"/>
              <a:ea typeface="Arial"/>
              <a:cs typeface="Arial"/>
            </a:endParaRPr>
          </a:p>
        </p:txBody>
      </p:sp>
      <p:sp>
        <p:nvSpPr>
          <p:cNvPr id="277" name="Google Shape;277;p6">
            <a:extLst xmlns:a="http://schemas.openxmlformats.org/drawingml/2006/main">
              <a:ext uri="{FF2B5EF4-FFF2-40B4-BE49-F238E27FC236}">
                <a16:creationId xmlns:a16="http://schemas.microsoft.com/office/drawing/2014/main" id="{1D37EF20-5CB9-4FFE-B4A7-047EC57680F5}"/>
              </a:ext>
            </a:extLst>
          </p:cNvPr>
          <p:cNvSpPr>
            <a:spLocks xmlns:a="http://schemas.openxmlformats.org/drawingml/2006/main" noGrp="1"/>
          </p:cNvSpPr>
          <p:nvPr/>
        </p:nvSpPr>
        <p:spPr>
          <a:xfrm xmlns:a="http://schemas.openxmlformats.org/drawingml/2006/main">
            <a:off x="4883040" y="2496240"/>
            <a:ext cx="3017160" cy="59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Prior outpatient + emergency + inpatient</a:t>
            </a:r>
            <a:endParaRPr sz="1100" b="0" i="0" u="none" strike="noStrike" cap="none">
              <a:solidFill>
                <a:srgbClr val="000000"/>
              </a:solidFill>
              <a:latin typeface="Arial"/>
              <a:ea typeface="Arial"/>
              <a:cs typeface="Arial"/>
            </a:endParaRPr>
          </a:p>
        </p:txBody>
      </p:sp>
      <p:cxnSp>
        <p:nvCxnSpPr>
          <p:cNvPr id="278" name="Google Shape;278;p6">
            <a:extLst xmlns:a="http://schemas.openxmlformats.org/drawingml/2006/main">
              <a:ext uri="{FF2B5EF4-FFF2-40B4-BE49-F238E27FC236}">
                <a16:creationId xmlns:a16="http://schemas.microsoft.com/office/drawing/2014/main" id="{348D5E9B-B310-4EF3-B0B7-6ED43953F448}"/>
              </a:ext>
            </a:extLst>
          </p:cNvPr>
          <p:cNvCxnSpPr/>
          <p:nvPr/>
        </p:nvCxnSpPr>
        <p:spPr>
          <a:xfrm xmlns:a="http://schemas.openxmlformats.org/drawingml/2006/main">
            <a:off x="8211240" y="1938240"/>
            <a:ext cx="345672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279" name="Google Shape;279;p6">
            <a:extLst xmlns:a="http://schemas.openxmlformats.org/drawingml/2006/main">
              <a:ext uri="{FF2B5EF4-FFF2-40B4-BE49-F238E27FC236}">
                <a16:creationId xmlns:a16="http://schemas.microsoft.com/office/drawing/2014/main" id="{83D7EA83-F0FC-47E5-B273-2873E0ECE2A2}"/>
              </a:ext>
            </a:extLst>
          </p:cNvPr>
          <p:cNvSpPr>
            <a:spLocks xmlns:a="http://schemas.openxmlformats.org/drawingml/2006/main" noGrp="1"/>
          </p:cNvSpPr>
          <p:nvPr/>
        </p:nvSpPr>
        <p:spPr>
          <a:xfrm xmlns:a="http://schemas.openxmlformats.org/drawingml/2006/main">
            <a:off x="8211240" y="2112120"/>
            <a:ext cx="39276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03</a:t>
            </a:r>
            <a:endParaRPr sz="1200" b="0" i="0" u="none" strike="noStrike" cap="none">
              <a:solidFill>
                <a:srgbClr val="000000"/>
              </a:solidFill>
              <a:latin typeface="Arial"/>
              <a:ea typeface="Arial"/>
              <a:cs typeface="Arial"/>
            </a:endParaRPr>
          </a:p>
        </p:txBody>
      </p:sp>
      <p:sp>
        <p:nvSpPr>
          <p:cNvPr id="280" name="Google Shape;280;p6">
            <a:extLst xmlns:a="http://schemas.openxmlformats.org/drawingml/2006/main">
              <a:ext uri="{FF2B5EF4-FFF2-40B4-BE49-F238E27FC236}">
                <a16:creationId xmlns:a16="http://schemas.microsoft.com/office/drawing/2014/main" id="{68258BA6-C2D0-4E50-81EB-EF23B4741C59}"/>
              </a:ext>
            </a:extLst>
          </p:cNvPr>
          <p:cNvSpPr>
            <a:spLocks xmlns:a="http://schemas.openxmlformats.org/drawingml/2006/main" noGrp="1"/>
          </p:cNvSpPr>
          <p:nvPr/>
        </p:nvSpPr>
        <p:spPr>
          <a:xfrm xmlns:a="http://schemas.openxmlformats.org/drawingml/2006/main">
            <a:off x="8632080" y="2094120"/>
            <a:ext cx="3017160" cy="347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500" b="1" i="0" u="none" strike="noStrike" cap="none">
                <a:solidFill>
                  <a:srgbClr val="1C3138"/>
                </a:solidFill>
                <a:latin typeface="Arial"/>
                <a:ea typeface="Arial"/>
                <a:cs typeface="Arial"/>
              </a:rPr>
              <a:t>prior_inpatient</a:t>
            </a:r>
            <a:endParaRPr sz="1500" b="0" i="0" u="none" strike="noStrike" cap="none">
              <a:solidFill>
                <a:srgbClr val="000000"/>
              </a:solidFill>
              <a:latin typeface="Arial"/>
              <a:ea typeface="Arial"/>
              <a:cs typeface="Arial"/>
            </a:endParaRPr>
          </a:p>
        </p:txBody>
      </p:sp>
      <p:sp>
        <p:nvSpPr>
          <p:cNvPr id="281" name="Google Shape;281;p6">
            <a:extLst xmlns:a="http://schemas.openxmlformats.org/drawingml/2006/main">
              <a:ext uri="{FF2B5EF4-FFF2-40B4-BE49-F238E27FC236}">
                <a16:creationId xmlns:a16="http://schemas.microsoft.com/office/drawing/2014/main" id="{97B7F9B8-93F3-4AB0-8531-164CA2BDBAF9}"/>
              </a:ext>
            </a:extLst>
          </p:cNvPr>
          <p:cNvSpPr>
            <a:spLocks xmlns:a="http://schemas.openxmlformats.org/drawingml/2006/main" noGrp="1"/>
          </p:cNvSpPr>
          <p:nvPr/>
        </p:nvSpPr>
        <p:spPr>
          <a:xfrm xmlns:a="http://schemas.openxmlformats.org/drawingml/2006/main">
            <a:off x="8632080" y="2496240"/>
            <a:ext cx="3017160" cy="59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Flag of prior inpatient use</a:t>
            </a:r>
            <a:endParaRPr sz="1100" b="0" i="0" u="none" strike="noStrike" cap="none">
              <a:solidFill>
                <a:srgbClr val="000000"/>
              </a:solidFill>
              <a:latin typeface="Arial"/>
              <a:ea typeface="Arial"/>
              <a:cs typeface="Arial"/>
            </a:endParaRPr>
          </a:p>
        </p:txBody>
      </p:sp>
      <p:cxnSp>
        <p:nvCxnSpPr>
          <p:cNvPr id="282" name="Google Shape;282;p6">
            <a:extLst xmlns:a="http://schemas.openxmlformats.org/drawingml/2006/main">
              <a:ext uri="{FF2B5EF4-FFF2-40B4-BE49-F238E27FC236}">
                <a16:creationId xmlns:a16="http://schemas.microsoft.com/office/drawing/2014/main" id="{E5CABC74-98C4-4E90-BBFC-DC4CD19DC9D1}"/>
              </a:ext>
            </a:extLst>
          </p:cNvPr>
          <p:cNvCxnSpPr/>
          <p:nvPr/>
        </p:nvCxnSpPr>
        <p:spPr>
          <a:xfrm xmlns:a="http://schemas.openxmlformats.org/drawingml/2006/main">
            <a:off x="713160" y="3236760"/>
            <a:ext cx="345672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283" name="Google Shape;283;p6">
            <a:extLst xmlns:a="http://schemas.openxmlformats.org/drawingml/2006/main">
              <a:ext uri="{FF2B5EF4-FFF2-40B4-BE49-F238E27FC236}">
                <a16:creationId xmlns:a16="http://schemas.microsoft.com/office/drawing/2014/main" id="{9BB14366-C971-4430-9870-B25F4F9AFFC2}"/>
              </a:ext>
            </a:extLst>
          </p:cNvPr>
          <p:cNvSpPr>
            <a:spLocks xmlns:a="http://schemas.openxmlformats.org/drawingml/2006/main" noGrp="1"/>
          </p:cNvSpPr>
          <p:nvPr/>
        </p:nvSpPr>
        <p:spPr>
          <a:xfrm xmlns:a="http://schemas.openxmlformats.org/drawingml/2006/main">
            <a:off x="713160" y="3410640"/>
            <a:ext cx="39276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04</a:t>
            </a:r>
            <a:endParaRPr sz="1200" b="0" i="0" u="none" strike="noStrike" cap="none">
              <a:solidFill>
                <a:srgbClr val="000000"/>
              </a:solidFill>
              <a:latin typeface="Arial"/>
              <a:ea typeface="Arial"/>
              <a:cs typeface="Arial"/>
            </a:endParaRPr>
          </a:p>
        </p:txBody>
      </p:sp>
      <p:sp>
        <p:nvSpPr>
          <p:cNvPr id="284" name="Google Shape;284;p6">
            <a:extLst xmlns:a="http://schemas.openxmlformats.org/drawingml/2006/main">
              <a:ext uri="{FF2B5EF4-FFF2-40B4-BE49-F238E27FC236}">
                <a16:creationId xmlns:a16="http://schemas.microsoft.com/office/drawing/2014/main" id="{D56F1CD4-8AE2-4CE5-BB28-66EBAEEC27BA}"/>
              </a:ext>
            </a:extLst>
          </p:cNvPr>
          <p:cNvSpPr>
            <a:spLocks xmlns:a="http://schemas.openxmlformats.org/drawingml/2006/main" noGrp="1"/>
          </p:cNvSpPr>
          <p:nvPr/>
        </p:nvSpPr>
        <p:spPr>
          <a:xfrm xmlns:a="http://schemas.openxmlformats.org/drawingml/2006/main">
            <a:off x="1134000" y="3392280"/>
            <a:ext cx="3017160" cy="347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500" b="1" i="0" u="none" strike="noStrike" cap="none">
                <a:solidFill>
                  <a:srgbClr val="1C3138"/>
                </a:solidFill>
                <a:latin typeface="Arial"/>
                <a:ea typeface="Arial"/>
                <a:cs typeface="Arial"/>
              </a:rPr>
              <a:t>num_diabetes_meds</a:t>
            </a:r>
            <a:endParaRPr sz="1500" b="0" i="0" u="none" strike="noStrike" cap="none">
              <a:solidFill>
                <a:srgbClr val="000000"/>
              </a:solidFill>
              <a:latin typeface="Arial"/>
              <a:ea typeface="Arial"/>
              <a:cs typeface="Arial"/>
            </a:endParaRPr>
          </a:p>
        </p:txBody>
      </p:sp>
      <p:sp>
        <p:nvSpPr>
          <p:cNvPr id="285" name="Google Shape;285;p6">
            <a:extLst xmlns:a="http://schemas.openxmlformats.org/drawingml/2006/main">
              <a:ext uri="{FF2B5EF4-FFF2-40B4-BE49-F238E27FC236}">
                <a16:creationId xmlns:a16="http://schemas.microsoft.com/office/drawing/2014/main" id="{3420C95D-3995-413D-AC83-8F285ABB4987}"/>
              </a:ext>
            </a:extLst>
          </p:cNvPr>
          <p:cNvSpPr>
            <a:spLocks xmlns:a="http://schemas.openxmlformats.org/drawingml/2006/main" noGrp="1"/>
          </p:cNvSpPr>
          <p:nvPr/>
        </p:nvSpPr>
        <p:spPr>
          <a:xfrm xmlns:a="http://schemas.openxmlformats.org/drawingml/2006/main">
            <a:off x="1134000" y="3794760"/>
            <a:ext cx="3017160" cy="59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Active diabetes medication count</a:t>
            </a:r>
            <a:endParaRPr sz="1100" b="0" i="0" u="none" strike="noStrike" cap="none">
              <a:solidFill>
                <a:srgbClr val="000000"/>
              </a:solidFill>
              <a:latin typeface="Arial"/>
              <a:ea typeface="Arial"/>
              <a:cs typeface="Arial"/>
            </a:endParaRPr>
          </a:p>
        </p:txBody>
      </p:sp>
      <p:cxnSp>
        <p:nvCxnSpPr>
          <p:cNvPr id="286" name="Google Shape;286;p6">
            <a:extLst xmlns:a="http://schemas.openxmlformats.org/drawingml/2006/main">
              <a:ext uri="{FF2B5EF4-FFF2-40B4-BE49-F238E27FC236}">
                <a16:creationId xmlns:a16="http://schemas.microsoft.com/office/drawing/2014/main" id="{A8D4FD95-AFFA-4C4E-84F9-3D315EE56D2F}"/>
              </a:ext>
            </a:extLst>
          </p:cNvPr>
          <p:cNvCxnSpPr/>
          <p:nvPr/>
        </p:nvCxnSpPr>
        <p:spPr>
          <a:xfrm xmlns:a="http://schemas.openxmlformats.org/drawingml/2006/main">
            <a:off x="4462200" y="3236760"/>
            <a:ext cx="345672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287" name="Google Shape;287;p6">
            <a:extLst xmlns:a="http://schemas.openxmlformats.org/drawingml/2006/main">
              <a:ext uri="{FF2B5EF4-FFF2-40B4-BE49-F238E27FC236}">
                <a16:creationId xmlns:a16="http://schemas.microsoft.com/office/drawing/2014/main" id="{3F3A47BA-5262-4662-AFBC-A7E30315FB2D}"/>
              </a:ext>
            </a:extLst>
          </p:cNvPr>
          <p:cNvSpPr>
            <a:spLocks xmlns:a="http://schemas.openxmlformats.org/drawingml/2006/main" noGrp="1"/>
          </p:cNvSpPr>
          <p:nvPr/>
        </p:nvSpPr>
        <p:spPr>
          <a:xfrm xmlns:a="http://schemas.openxmlformats.org/drawingml/2006/main">
            <a:off x="4462200" y="3410640"/>
            <a:ext cx="39276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05</a:t>
            </a:r>
            <a:endParaRPr sz="1200" b="0" i="0" u="none" strike="noStrike" cap="none">
              <a:solidFill>
                <a:srgbClr val="000000"/>
              </a:solidFill>
              <a:latin typeface="Arial"/>
              <a:ea typeface="Arial"/>
              <a:cs typeface="Arial"/>
            </a:endParaRPr>
          </a:p>
        </p:txBody>
      </p:sp>
      <p:sp>
        <p:nvSpPr>
          <p:cNvPr id="288" name="Google Shape;288;p6">
            <a:extLst xmlns:a="http://schemas.openxmlformats.org/drawingml/2006/main">
              <a:ext uri="{FF2B5EF4-FFF2-40B4-BE49-F238E27FC236}">
                <a16:creationId xmlns:a16="http://schemas.microsoft.com/office/drawing/2014/main" id="{B63CC906-C436-408A-90F9-0736E2CE47CE}"/>
              </a:ext>
            </a:extLst>
          </p:cNvPr>
          <p:cNvSpPr>
            <a:spLocks xmlns:a="http://schemas.openxmlformats.org/drawingml/2006/main" noGrp="1"/>
          </p:cNvSpPr>
          <p:nvPr/>
        </p:nvSpPr>
        <p:spPr>
          <a:xfrm xmlns:a="http://schemas.openxmlformats.org/drawingml/2006/main">
            <a:off x="4883040" y="3392280"/>
            <a:ext cx="3017160" cy="347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500" b="1" i="0" u="none" strike="noStrike" cap="none">
                <a:solidFill>
                  <a:srgbClr val="1C3138"/>
                </a:solidFill>
                <a:latin typeface="Arial"/>
                <a:ea typeface="Arial"/>
                <a:cs typeface="Arial"/>
              </a:rPr>
              <a:t>insulin_used</a:t>
            </a:r>
            <a:endParaRPr sz="1500" b="0" i="0" u="none" strike="noStrike" cap="none">
              <a:solidFill>
                <a:srgbClr val="000000"/>
              </a:solidFill>
              <a:latin typeface="Arial"/>
              <a:ea typeface="Arial"/>
              <a:cs typeface="Arial"/>
            </a:endParaRPr>
          </a:p>
        </p:txBody>
      </p:sp>
      <p:sp>
        <p:nvSpPr>
          <p:cNvPr id="289" name="Google Shape;289;p6">
            <a:extLst xmlns:a="http://schemas.openxmlformats.org/drawingml/2006/main">
              <a:ext uri="{FF2B5EF4-FFF2-40B4-BE49-F238E27FC236}">
                <a16:creationId xmlns:a16="http://schemas.microsoft.com/office/drawing/2014/main" id="{76CABB67-4B35-4852-A3E7-0960CA410604}"/>
              </a:ext>
            </a:extLst>
          </p:cNvPr>
          <p:cNvSpPr>
            <a:spLocks xmlns:a="http://schemas.openxmlformats.org/drawingml/2006/main" noGrp="1"/>
          </p:cNvSpPr>
          <p:nvPr/>
        </p:nvSpPr>
        <p:spPr>
          <a:xfrm xmlns:a="http://schemas.openxmlformats.org/drawingml/2006/main">
            <a:off x="4883040" y="3794760"/>
            <a:ext cx="3017160" cy="59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Whether insulin was recorded</a:t>
            </a:r>
            <a:endParaRPr sz="1100" b="0" i="0" u="none" strike="noStrike" cap="none">
              <a:solidFill>
                <a:srgbClr val="000000"/>
              </a:solidFill>
              <a:latin typeface="Arial"/>
              <a:ea typeface="Arial"/>
              <a:cs typeface="Arial"/>
            </a:endParaRPr>
          </a:p>
        </p:txBody>
      </p:sp>
      <p:cxnSp>
        <p:nvCxnSpPr>
          <p:cNvPr id="290" name="Google Shape;290;p6">
            <a:extLst xmlns:a="http://schemas.openxmlformats.org/drawingml/2006/main">
              <a:ext uri="{FF2B5EF4-FFF2-40B4-BE49-F238E27FC236}">
                <a16:creationId xmlns:a16="http://schemas.microsoft.com/office/drawing/2014/main" id="{9D3176D7-0C45-42A3-829E-CA2B51C78AAE}"/>
              </a:ext>
            </a:extLst>
          </p:cNvPr>
          <p:cNvCxnSpPr/>
          <p:nvPr/>
        </p:nvCxnSpPr>
        <p:spPr>
          <a:xfrm xmlns:a="http://schemas.openxmlformats.org/drawingml/2006/main">
            <a:off x="8211240" y="3236760"/>
            <a:ext cx="345672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291" name="Google Shape;291;p6">
            <a:extLst xmlns:a="http://schemas.openxmlformats.org/drawingml/2006/main">
              <a:ext uri="{FF2B5EF4-FFF2-40B4-BE49-F238E27FC236}">
                <a16:creationId xmlns:a16="http://schemas.microsoft.com/office/drawing/2014/main" id="{43CC8E10-E0C0-42D7-99B3-69117B307EA4}"/>
              </a:ext>
            </a:extLst>
          </p:cNvPr>
          <p:cNvSpPr>
            <a:spLocks xmlns:a="http://schemas.openxmlformats.org/drawingml/2006/main" noGrp="1"/>
          </p:cNvSpPr>
          <p:nvPr/>
        </p:nvSpPr>
        <p:spPr>
          <a:xfrm xmlns:a="http://schemas.openxmlformats.org/drawingml/2006/main">
            <a:off x="8211240" y="3410640"/>
            <a:ext cx="39276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06</a:t>
            </a:r>
            <a:endParaRPr sz="1200" b="0" i="0" u="none" strike="noStrike" cap="none">
              <a:solidFill>
                <a:srgbClr val="000000"/>
              </a:solidFill>
              <a:latin typeface="Arial"/>
              <a:ea typeface="Arial"/>
              <a:cs typeface="Arial"/>
            </a:endParaRPr>
          </a:p>
        </p:txBody>
      </p:sp>
      <p:sp>
        <p:nvSpPr>
          <p:cNvPr id="292" name="Google Shape;292;p6">
            <a:extLst xmlns:a="http://schemas.openxmlformats.org/drawingml/2006/main">
              <a:ext uri="{FF2B5EF4-FFF2-40B4-BE49-F238E27FC236}">
                <a16:creationId xmlns:a16="http://schemas.microsoft.com/office/drawing/2014/main" id="{F223DC17-4338-4F96-9C13-2583AB328382}"/>
              </a:ext>
            </a:extLst>
          </p:cNvPr>
          <p:cNvSpPr>
            <a:spLocks xmlns:a="http://schemas.openxmlformats.org/drawingml/2006/main" noGrp="1"/>
          </p:cNvSpPr>
          <p:nvPr/>
        </p:nvSpPr>
        <p:spPr>
          <a:xfrm xmlns:a="http://schemas.openxmlformats.org/drawingml/2006/main">
            <a:off x="8632080" y="3392280"/>
            <a:ext cx="3017160" cy="347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500" b="1" i="0" u="none" strike="noStrike" cap="none">
                <a:solidFill>
                  <a:srgbClr val="1C3138"/>
                </a:solidFill>
                <a:latin typeface="Arial"/>
                <a:ea typeface="Arial"/>
                <a:cs typeface="Arial"/>
              </a:rPr>
              <a:t>diabetes_diag_count</a:t>
            </a:r>
            <a:endParaRPr sz="1500" b="0" i="0" u="none" strike="noStrike" cap="none">
              <a:solidFill>
                <a:srgbClr val="000000"/>
              </a:solidFill>
              <a:latin typeface="Arial"/>
              <a:ea typeface="Arial"/>
              <a:cs typeface="Arial"/>
            </a:endParaRPr>
          </a:p>
        </p:txBody>
      </p:sp>
      <p:sp>
        <p:nvSpPr>
          <p:cNvPr id="293" name="Google Shape;293;p6">
            <a:extLst xmlns:a="http://schemas.openxmlformats.org/drawingml/2006/main">
              <a:ext uri="{FF2B5EF4-FFF2-40B4-BE49-F238E27FC236}">
                <a16:creationId xmlns:a16="http://schemas.microsoft.com/office/drawing/2014/main" id="{DBCE618D-8826-42E7-BF63-EA92CD837A43}"/>
              </a:ext>
            </a:extLst>
          </p:cNvPr>
          <p:cNvSpPr>
            <a:spLocks xmlns:a="http://schemas.openxmlformats.org/drawingml/2006/main" noGrp="1"/>
          </p:cNvSpPr>
          <p:nvPr/>
        </p:nvSpPr>
        <p:spPr>
          <a:xfrm xmlns:a="http://schemas.openxmlformats.org/drawingml/2006/main">
            <a:off x="8632080" y="3794760"/>
            <a:ext cx="3017160" cy="59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Diabetes-coded diagnosis slots</a:t>
            </a:r>
            <a:endParaRPr sz="1100" b="0" i="0" u="none" strike="noStrike" cap="none">
              <a:solidFill>
                <a:srgbClr val="000000"/>
              </a:solidFill>
              <a:latin typeface="Arial"/>
              <a:ea typeface="Arial"/>
              <a:cs typeface="Arial"/>
            </a:endParaRPr>
          </a:p>
        </p:txBody>
      </p:sp>
      <p:sp>
        <p:nvSpPr>
          <p:cNvPr id="294" name="Google Shape;294;p6">
            <a:extLst xmlns:a="http://schemas.openxmlformats.org/drawingml/2006/main">
              <a:ext uri="{FF2B5EF4-FFF2-40B4-BE49-F238E27FC236}">
                <a16:creationId xmlns:a16="http://schemas.microsoft.com/office/drawing/2014/main" id="{C710326B-A5C5-4B6F-8BEC-1FA08875D420}"/>
              </a:ext>
            </a:extLst>
          </p:cNvPr>
          <p:cNvSpPr>
            <a:spLocks xmlns:a="http://schemas.openxmlformats.org/drawingml/2006/main" noGrp="1"/>
          </p:cNvSpPr>
          <p:nvPr/>
        </p:nvSpPr>
        <p:spPr>
          <a:xfrm xmlns:a="http://schemas.openxmlformats.org/drawingml/2006/main">
            <a:off x="731520" y="4837320"/>
            <a:ext cx="10743840" cy="712800"/>
          </a:xfrm>
          <a:prstGeom xmlns:a="http://schemas.openxmlformats.org/drawingml/2006/main" prst="rect">
            <a:avLst/>
          </a:prstGeom>
          <a:solidFill xmlns:a="http://schemas.openxmlformats.org/drawingml/2006/main">
            <a:srgbClr val="1C3138"/>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95" name="Google Shape;295;p6">
            <a:extLst xmlns:a="http://schemas.openxmlformats.org/drawingml/2006/main">
              <a:ext uri="{FF2B5EF4-FFF2-40B4-BE49-F238E27FC236}">
                <a16:creationId xmlns:a16="http://schemas.microsoft.com/office/drawing/2014/main" id="{9C72AD80-893F-45B0-ACCF-E8CB76324561}"/>
              </a:ext>
            </a:extLst>
          </p:cNvPr>
          <p:cNvSpPr>
            <a:spLocks xmlns:a="http://schemas.openxmlformats.org/drawingml/2006/main" noGrp="1"/>
          </p:cNvSpPr>
          <p:nvPr/>
        </p:nvSpPr>
        <p:spPr>
          <a:xfrm xmlns:a="http://schemas.openxmlformats.org/drawingml/2006/main">
            <a:off x="1014840" y="5065920"/>
            <a:ext cx="297144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1" i="0" u="none" strike="noStrike" cap="none">
                <a:solidFill>
                  <a:srgbClr val="FFFFFF"/>
                </a:solidFill>
                <a:latin typeface="Arial"/>
                <a:ea typeface="Arial"/>
                <a:cs typeface="Arial"/>
              </a:rPr>
              <a:t>1  Numeric: impute + scale</a:t>
            </a:r>
            <a:endParaRPr sz="1300" b="0" i="0" u="none" strike="noStrike" cap="none">
              <a:solidFill>
                <a:srgbClr val="000000"/>
              </a:solidFill>
              <a:latin typeface="Arial"/>
              <a:ea typeface="Arial"/>
              <a:cs typeface="Arial"/>
            </a:endParaRPr>
          </a:p>
        </p:txBody>
      </p:sp>
      <p:sp>
        <p:nvSpPr>
          <p:cNvPr id="296" name="Google Shape;296;p6">
            <a:extLst xmlns:a="http://schemas.openxmlformats.org/drawingml/2006/main">
              <a:ext uri="{FF2B5EF4-FFF2-40B4-BE49-F238E27FC236}">
                <a16:creationId xmlns:a16="http://schemas.microsoft.com/office/drawing/2014/main" id="{A5D9E332-1C43-459E-9C35-5D3D2D459ECE}"/>
              </a:ext>
            </a:extLst>
          </p:cNvPr>
          <p:cNvSpPr>
            <a:spLocks xmlns:a="http://schemas.openxmlformats.org/drawingml/2006/main" noGrp="1"/>
          </p:cNvSpPr>
          <p:nvPr/>
        </p:nvSpPr>
        <p:spPr>
          <a:xfrm xmlns:a="http://schemas.openxmlformats.org/drawingml/2006/main">
            <a:off x="4096440" y="5065920"/>
            <a:ext cx="338292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1" i="0" u="none" strike="noStrike" cap="none">
                <a:solidFill>
                  <a:srgbClr val="FFFFFF"/>
                </a:solidFill>
                <a:latin typeface="Arial"/>
                <a:ea typeface="Arial"/>
                <a:cs typeface="Arial"/>
              </a:rPr>
              <a:t>2  Categoric: impute + OHE</a:t>
            </a:r>
            <a:endParaRPr sz="1300" b="0" i="0" u="none" strike="noStrike" cap="none">
              <a:solidFill>
                <a:srgbClr val="000000"/>
              </a:solidFill>
              <a:latin typeface="Arial"/>
              <a:ea typeface="Arial"/>
              <a:cs typeface="Arial"/>
            </a:endParaRPr>
          </a:p>
        </p:txBody>
      </p:sp>
      <p:sp>
        <p:nvSpPr>
          <p:cNvPr id="297" name="Google Shape;297;p6">
            <a:extLst xmlns:a="http://schemas.openxmlformats.org/drawingml/2006/main">
              <a:ext uri="{FF2B5EF4-FFF2-40B4-BE49-F238E27FC236}">
                <a16:creationId xmlns:a16="http://schemas.microsoft.com/office/drawing/2014/main" id="{FC1B6557-39FE-482A-954F-05FEB630EF97}"/>
              </a:ext>
            </a:extLst>
          </p:cNvPr>
          <p:cNvSpPr>
            <a:spLocks xmlns:a="http://schemas.openxmlformats.org/drawingml/2006/main" noGrp="1"/>
          </p:cNvSpPr>
          <p:nvPr/>
        </p:nvSpPr>
        <p:spPr>
          <a:xfrm xmlns:a="http://schemas.openxmlformats.org/drawingml/2006/main">
            <a:off x="7644240" y="5065920"/>
            <a:ext cx="338292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1" i="0" u="none" strike="noStrike" cap="none">
                <a:solidFill>
                  <a:srgbClr val="FFFFFF"/>
                </a:solidFill>
                <a:latin typeface="Arial"/>
                <a:ea typeface="Arial"/>
                <a:cs typeface="Arial"/>
              </a:rPr>
              <a:t>3  Classifier: risk score</a:t>
            </a:r>
            <a:endParaRPr sz="1300" b="0" i="0" u="none" strike="noStrike" cap="none">
              <a:solidFill>
                <a:srgbClr val="000000"/>
              </a:solidFill>
              <a:latin typeface="Arial"/>
              <a:ea typeface="Arial"/>
              <a:cs typeface="Arial"/>
            </a:endParaRPr>
          </a:p>
        </p:txBody>
      </p:sp>
      <p:sp>
        <p:nvSpPr>
          <p:cNvPr id="298" name="Google Shape;298;p6">
            <a:extLst xmlns:a="http://schemas.openxmlformats.org/drawingml/2006/main">
              <a:ext uri="{FF2B5EF4-FFF2-40B4-BE49-F238E27FC236}">
                <a16:creationId xmlns:a16="http://schemas.microsoft.com/office/drawing/2014/main" id="{5D45AB08-54C5-4630-B896-5D1E4CD35C57}"/>
              </a:ext>
            </a:extLst>
          </p:cNvPr>
          <p:cNvSpPr>
            <a:spLocks xmlns:a="http://schemas.openxmlformats.org/drawingml/2006/main" noGrp="1"/>
          </p:cNvSpPr>
          <p:nvPr/>
        </p:nvSpPr>
        <p:spPr>
          <a:xfrm xmlns:a="http://schemas.openxmlformats.org/drawingml/2006/main">
            <a:off x="667440" y="5833800"/>
            <a:ext cx="10899360" cy="42012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299" name="Google Shape;299;p6">
            <a:extLst xmlns:a="http://schemas.openxmlformats.org/drawingml/2006/main">
              <a:ext uri="{FF2B5EF4-FFF2-40B4-BE49-F238E27FC236}">
                <a16:creationId xmlns:a16="http://schemas.microsoft.com/office/drawing/2014/main" id="{0B079962-0222-4B2B-8EB1-789978A2B441}"/>
              </a:ext>
            </a:extLst>
          </p:cNvPr>
          <p:cNvSpPr>
            <a:spLocks xmlns:a="http://schemas.openxmlformats.org/drawingml/2006/main" noGrp="1"/>
          </p:cNvSpPr>
          <p:nvPr/>
        </p:nvSpPr>
        <p:spPr>
          <a:xfrm xmlns:a="http://schemas.openxmlformats.org/drawingml/2006/main">
            <a:off x="667440" y="5833800"/>
            <a:ext cx="50040" cy="42012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00" name="Google Shape;300;p6">
            <a:extLst xmlns:a="http://schemas.openxmlformats.org/drawingml/2006/main">
              <a:ext uri="{FF2B5EF4-FFF2-40B4-BE49-F238E27FC236}">
                <a16:creationId xmlns:a16="http://schemas.microsoft.com/office/drawing/2014/main" id="{B367A5CB-EB72-4382-BB98-826846723D69}"/>
              </a:ext>
            </a:extLst>
          </p:cNvPr>
          <p:cNvSpPr>
            <a:spLocks xmlns:a="http://schemas.openxmlformats.org/drawingml/2006/main" noGrp="1"/>
          </p:cNvSpPr>
          <p:nvPr/>
        </p:nvSpPr>
        <p:spPr>
          <a:xfrm xmlns:a="http://schemas.openxmlformats.org/drawingml/2006/main">
            <a:off x="868680" y="5906880"/>
            <a:ext cx="10478520" cy="28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1C3138"/>
                </a:solidFill>
                <a:latin typeface="Arial"/>
                <a:ea typeface="Arial"/>
                <a:cs typeface="Arial"/>
              </a:rPr>
              <a:t>Only training data fit the transformer. Validation and test data reuse those exact transformations.</a:t>
            </a:r>
            <a:endParaRPr sz="115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17107466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06" name="Google Shape;306;p7">
            <a:extLst xmlns:a="http://schemas.openxmlformats.org/drawingml/2006/main">
              <a:ext uri="{FF2B5EF4-FFF2-40B4-BE49-F238E27FC236}">
                <a16:creationId xmlns:a16="http://schemas.microsoft.com/office/drawing/2014/main" id="{56993F7F-15D8-4C3B-981D-48E0048D1BC2}"/>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F9F8F5"/>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07" name="Google Shape;307;p7">
            <a:extLst xmlns:a="http://schemas.openxmlformats.org/drawingml/2006/main">
              <a:ext uri="{FF2B5EF4-FFF2-40B4-BE49-F238E27FC236}">
                <a16:creationId xmlns:a16="http://schemas.microsoft.com/office/drawing/2014/main" id="{A94B218E-017A-477E-B89A-9AD29DFADBF1}"/>
              </a:ext>
            </a:extLst>
          </p:cNvPr>
          <p:cNvSpPr>
            <a:spLocks xmlns:a="http://schemas.openxmlformats.org/drawingml/2006/main" noGrp="1"/>
          </p:cNvSpPr>
          <p:nvPr/>
        </p:nvSpPr>
        <p:spPr>
          <a:xfrm xmlns:a="http://schemas.openxmlformats.org/drawingml/2006/main">
            <a:off x="493920" y="365760"/>
            <a:ext cx="109440" cy="109440"/>
          </a:xfrm>
          <a:prstGeom xmlns:a="http://schemas.openxmlformats.org/drawingml/2006/main" prst="ellipse">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32750" rIns="90000" bIns="327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08" name="Google Shape;308;p7">
            <a:extLst xmlns:a="http://schemas.openxmlformats.org/drawingml/2006/main">
              <a:ext uri="{FF2B5EF4-FFF2-40B4-BE49-F238E27FC236}">
                <a16:creationId xmlns:a16="http://schemas.microsoft.com/office/drawing/2014/main" id="{44723039-5E14-4DA0-AF29-9FFDE831AE31}"/>
              </a:ext>
            </a:extLst>
          </p:cNvPr>
          <p:cNvSpPr>
            <a:spLocks xmlns:a="http://schemas.openxmlformats.org/drawingml/2006/main" noGrp="1"/>
          </p:cNvSpPr>
          <p:nvPr/>
        </p:nvSpPr>
        <p:spPr>
          <a:xfrm xmlns:a="http://schemas.openxmlformats.org/drawingml/2006/main">
            <a:off x="7434000" y="311040"/>
            <a:ext cx="415116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66757B"/>
                </a:solidFill>
                <a:latin typeface="Arial"/>
                <a:ea typeface="Arial"/>
                <a:cs typeface="Arial"/>
              </a:rPr>
              <a:t>03  /  MODEL SIMPLIFICATION</a:t>
            </a:r>
            <a:endParaRPr sz="900" b="0" i="0" u="none" strike="noStrike" cap="none">
              <a:solidFill>
                <a:srgbClr val="000000"/>
              </a:solidFill>
              <a:latin typeface="Arial"/>
              <a:ea typeface="Arial"/>
              <a:cs typeface="Arial"/>
            </a:endParaRPr>
          </a:p>
        </p:txBody>
      </p:sp>
      <p:sp>
        <p:nvSpPr>
          <p:cNvPr id="309" name="Google Shape;309;p7">
            <a:extLst xmlns:a="http://schemas.openxmlformats.org/drawingml/2006/main">
              <a:ext uri="{FF2B5EF4-FFF2-40B4-BE49-F238E27FC236}">
                <a16:creationId xmlns:a16="http://schemas.microsoft.com/office/drawing/2014/main" id="{DEC57C8B-433E-4611-B44B-5654A8492FD5}"/>
              </a:ext>
            </a:extLst>
          </p:cNvPr>
          <p:cNvSpPr>
            <a:spLocks xmlns:a="http://schemas.openxmlformats.org/drawingml/2006/main" noGrp="1"/>
          </p:cNvSpPr>
          <p:nvPr/>
        </p:nvSpPr>
        <p:spPr>
          <a:xfrm xmlns:a="http://schemas.openxmlformats.org/drawingml/2006/main">
            <a:off x="612720" y="713160"/>
            <a:ext cx="10972440" cy="630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900" b="1" i="0" u="none" strike="noStrike" cap="none">
                <a:solidFill>
                  <a:srgbClr val="1C3138"/>
                </a:solidFill>
                <a:latin typeface="Georgia"/>
                <a:ea typeface="Georgia"/>
                <a:cs typeface="Georgia"/>
              </a:rPr>
              <a:t>Reducing dimensions did not improve performance</a:t>
            </a:r>
            <a:endParaRPr sz="2900" b="0" i="0" u="none" strike="noStrike" cap="none">
              <a:solidFill>
                <a:srgbClr val="000000"/>
              </a:solidFill>
              <a:latin typeface="Arial"/>
              <a:ea typeface="Arial"/>
              <a:cs typeface="Arial"/>
            </a:endParaRPr>
          </a:p>
        </p:txBody>
      </p:sp>
      <p:cxnSp>
        <p:nvCxnSpPr>
          <p:cNvPr id="310" name="Google Shape;310;p7">
            <a:extLst xmlns:a="http://schemas.openxmlformats.org/drawingml/2006/main">
              <a:ext uri="{FF2B5EF4-FFF2-40B4-BE49-F238E27FC236}">
                <a16:creationId xmlns:a16="http://schemas.microsoft.com/office/drawing/2014/main" id="{DE0E37D0-7ACB-46B4-B273-A02FF40F2BBB}"/>
              </a:ext>
            </a:extLst>
          </p:cNvPr>
          <p:cNvCxnSpPr/>
          <p:nvPr/>
        </p:nvCxnSpPr>
        <p:spPr>
          <a:xfrm xmlns:a="http://schemas.openxmlformats.org/drawingml/2006/main">
            <a:off x="640080" y="1453680"/>
            <a:ext cx="10918080" cy="360"/>
          </a:xfrm>
          <a:prstGeom xmlns:a="http://schemas.openxmlformats.org/drawingml/2006/main" prst="straightConnector1">
            <a:avLst/>
          </a:prstGeom>
          <a:ln xmlns:a="http://schemas.openxmlformats.org/drawingml/2006/main" w="15875" cap="flat">
            <a:solidFill>
              <a:srgbClr val="1C3138"/>
            </a:solidFill>
            <a:prstDash val="solid"/>
            <a:round/>
            <a:headEnd type="none" w="sm" len="sm"/>
            <a:tailEnd type="none" w="sm" len="sm"/>
          </a:ln>
        </p:spPr>
      </p:cxnSp>
      <p:cxnSp>
        <p:nvCxnSpPr>
          <p:cNvPr id="311" name="Google Shape;311;p7">
            <a:extLst xmlns:a="http://schemas.openxmlformats.org/drawingml/2006/main">
              <a:ext uri="{FF2B5EF4-FFF2-40B4-BE49-F238E27FC236}">
                <a16:creationId xmlns:a16="http://schemas.microsoft.com/office/drawing/2014/main" id="{8A2BFFCF-ED45-4C0A-A7E8-391723795572}"/>
              </a:ext>
            </a:extLst>
          </p:cNvPr>
          <p:cNvCxnSpPr/>
          <p:nvPr/>
        </p:nvCxnSpPr>
        <p:spPr>
          <a:xfrm xmlns:a="http://schemas.openxmlformats.org/drawingml/2006/main">
            <a:off x="630720" y="6464520"/>
            <a:ext cx="10927440" cy="360"/>
          </a:xfrm>
          <a:prstGeom xmlns:a="http://schemas.openxmlformats.org/drawingml/2006/main" prst="straightConnector1">
            <a:avLst/>
          </a:prstGeom>
          <a:ln xmlns:a="http://schemas.openxmlformats.org/drawingml/2006/main" w="10150" cap="flat">
            <a:solidFill>
              <a:srgbClr val="D6DEDA"/>
            </a:solidFill>
            <a:prstDash val="solid"/>
            <a:round/>
            <a:headEnd type="none" w="sm" len="sm"/>
            <a:tailEnd type="none" w="sm" len="sm"/>
          </a:ln>
        </p:spPr>
      </p:cxnSp>
      <p:sp>
        <p:nvSpPr>
          <p:cNvPr id="312" name="Google Shape;312;p7">
            <a:extLst xmlns:a="http://schemas.openxmlformats.org/drawingml/2006/main">
              <a:ext uri="{FF2B5EF4-FFF2-40B4-BE49-F238E27FC236}">
                <a16:creationId xmlns:a16="http://schemas.microsoft.com/office/drawing/2014/main" id="{4DDAEB6D-DFA5-42FB-ACFD-A188955E4EFF}"/>
              </a:ext>
            </a:extLst>
          </p:cNvPr>
          <p:cNvSpPr>
            <a:spLocks xmlns:a="http://schemas.openxmlformats.org/drawingml/2006/main" noGrp="1"/>
          </p:cNvSpPr>
          <p:nvPr/>
        </p:nvSpPr>
        <p:spPr>
          <a:xfrm xmlns:a="http://schemas.openxmlformats.org/drawingml/2006/main">
            <a:off x="649080" y="6519600"/>
            <a:ext cx="10496880" cy="200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800" b="0" i="0" u="none" strike="noStrike" cap="none">
                <a:solidFill>
                  <a:srgbClr val="66757B"/>
                </a:solidFill>
                <a:latin typeface="Arial"/>
                <a:ea typeface="Arial"/>
                <a:cs typeface="Arial"/>
              </a:rPr>
              <a:t>Notebook 05 · Logistic validation AP; original encoding vs L1 selection vs TruncatedSVD</a:t>
            </a:r>
            <a:endParaRPr sz="800" b="0" i="0" u="none" strike="noStrike" cap="none">
              <a:solidFill>
                <a:srgbClr val="000000"/>
              </a:solidFill>
              <a:latin typeface="Arial"/>
              <a:ea typeface="Arial"/>
              <a:cs typeface="Arial"/>
            </a:endParaRPr>
          </a:p>
        </p:txBody>
      </p:sp>
      <p:sp>
        <p:nvSpPr>
          <p:cNvPr id="313" name="Google Shape;313;p7">
            <a:extLst xmlns:a="http://schemas.openxmlformats.org/drawingml/2006/main">
              <a:ext uri="{FF2B5EF4-FFF2-40B4-BE49-F238E27FC236}">
                <a16:creationId xmlns:a16="http://schemas.microsoft.com/office/drawing/2014/main" id="{386E37FB-D9E2-4996-83D3-A094CC52A1DC}"/>
              </a:ext>
            </a:extLst>
          </p:cNvPr>
          <p:cNvSpPr>
            <a:spLocks xmlns:a="http://schemas.openxmlformats.org/drawingml/2006/main" noGrp="1"/>
          </p:cNvSpPr>
          <p:nvPr/>
        </p:nvSpPr>
        <p:spPr>
          <a:xfrm xmlns:a="http://schemas.openxmlformats.org/drawingml/2006/main">
            <a:off x="11137320" y="6501240"/>
            <a:ext cx="4384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1C3138"/>
                </a:solidFill>
                <a:latin typeface="Arial"/>
                <a:ea typeface="Arial"/>
                <a:cs typeface="Arial"/>
              </a:rPr>
              <a:t>07</a:t>
            </a:r>
            <a:endParaRPr sz="900" b="0" i="0" u="none" strike="noStrike" cap="none">
              <a:solidFill>
                <a:srgbClr val="000000"/>
              </a:solidFill>
              <a:latin typeface="Arial"/>
              <a:ea typeface="Arial"/>
              <a:cs typeface="Arial"/>
            </a:endParaRPr>
          </a:p>
        </p:txBody>
      </p:sp>
      <p:sp>
        <p:nvSpPr>
          <p:cNvPr id="314" name="Google Shape;314;p7">
            <a:extLst xmlns:a="http://schemas.openxmlformats.org/drawingml/2006/main">
              <a:ext uri="{FF2B5EF4-FFF2-40B4-BE49-F238E27FC236}">
                <a16:creationId xmlns:a16="http://schemas.microsoft.com/office/drawing/2014/main" id="{9B55232E-3E58-4F97-9837-169C94E6DEF8}"/>
              </a:ext>
            </a:extLst>
          </p:cNvPr>
          <p:cNvSpPr>
            <a:spLocks xmlns:a="http://schemas.openxmlformats.org/drawingml/2006/main" noGrp="1"/>
          </p:cNvSpPr>
          <p:nvPr/>
        </p:nvSpPr>
        <p:spPr>
          <a:xfrm xmlns:a="http://schemas.openxmlformats.org/drawingml/2006/main">
            <a:off x="731520" y="177408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AVERAGE PRECISION ON VALIDATION</a:t>
            </a:r>
            <a:endParaRPr sz="1000" b="0" i="0" u="none" strike="noStrike" cap="none">
              <a:solidFill>
                <a:srgbClr val="000000"/>
              </a:solidFill>
              <a:latin typeface="Arial"/>
              <a:ea typeface="Arial"/>
              <a:cs typeface="Arial"/>
            </a:endParaRPr>
          </a:p>
        </p:txBody>
      </p:sp>
      <p:sp>
        <p:nvSpPr>
          <p:cNvPr id="315" name="Google Shape;315;p7">
            <a:extLst xmlns:a="http://schemas.openxmlformats.org/drawingml/2006/main">
              <a:ext uri="{FF2B5EF4-FFF2-40B4-BE49-F238E27FC236}">
                <a16:creationId xmlns:a16="http://schemas.microsoft.com/office/drawing/2014/main" id="{73433167-E0E8-49BD-BEED-CDF065208CED}"/>
              </a:ext>
            </a:extLst>
          </p:cNvPr>
          <p:cNvSpPr>
            <a:spLocks xmlns:a="http://schemas.openxmlformats.org/drawingml/2006/main" noGrp="1"/>
          </p:cNvSpPr>
          <p:nvPr/>
        </p:nvSpPr>
        <p:spPr>
          <a:xfrm xmlns:a="http://schemas.openxmlformats.org/drawingml/2006/main">
            <a:off x="758880" y="2331720"/>
            <a:ext cx="2925720" cy="35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700" b="1" i="0" u="none" strike="noStrike" cap="none">
                <a:solidFill>
                  <a:srgbClr val="1C3138"/>
                </a:solidFill>
                <a:latin typeface="Arial"/>
                <a:ea typeface="Arial"/>
                <a:cs typeface="Arial"/>
              </a:rPr>
              <a:t>Full encoded set</a:t>
            </a:r>
            <a:endParaRPr sz="1700" b="0" i="0" u="none" strike="noStrike" cap="none">
              <a:solidFill>
                <a:srgbClr val="000000"/>
              </a:solidFill>
              <a:latin typeface="Arial"/>
              <a:ea typeface="Arial"/>
              <a:cs typeface="Arial"/>
            </a:endParaRPr>
          </a:p>
        </p:txBody>
      </p:sp>
      <p:sp>
        <p:nvSpPr>
          <p:cNvPr id="316" name="Google Shape;316;p7">
            <a:extLst xmlns:a="http://schemas.openxmlformats.org/drawingml/2006/main">
              <a:ext uri="{FF2B5EF4-FFF2-40B4-BE49-F238E27FC236}">
                <a16:creationId xmlns:a16="http://schemas.microsoft.com/office/drawing/2014/main" id="{79D00697-DC46-40A8-8BF5-74A9AC7289B1}"/>
              </a:ext>
            </a:extLst>
          </p:cNvPr>
          <p:cNvSpPr>
            <a:spLocks xmlns:a="http://schemas.openxmlformats.org/drawingml/2006/main" noGrp="1"/>
          </p:cNvSpPr>
          <p:nvPr/>
        </p:nvSpPr>
        <p:spPr>
          <a:xfrm xmlns:a="http://schemas.openxmlformats.org/drawingml/2006/main">
            <a:off x="3310200" y="2368440"/>
            <a:ext cx="1462680" cy="2127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282 dimensions</a:t>
            </a:r>
            <a:endParaRPr sz="1100" b="0" i="0" u="none" strike="noStrike" cap="none">
              <a:solidFill>
                <a:srgbClr val="000000"/>
              </a:solidFill>
              <a:latin typeface="Arial"/>
              <a:ea typeface="Arial"/>
              <a:cs typeface="Arial"/>
            </a:endParaRPr>
          </a:p>
        </p:txBody>
      </p:sp>
      <p:sp>
        <p:nvSpPr>
          <p:cNvPr id="317" name="Google Shape;317;p7">
            <a:extLst xmlns:a="http://schemas.openxmlformats.org/drawingml/2006/main">
              <a:ext uri="{FF2B5EF4-FFF2-40B4-BE49-F238E27FC236}">
                <a16:creationId xmlns:a16="http://schemas.microsoft.com/office/drawing/2014/main" id="{27E3143F-0224-4E34-AFD3-35AC727A52AA}"/>
              </a:ext>
            </a:extLst>
          </p:cNvPr>
          <p:cNvSpPr>
            <a:spLocks xmlns:a="http://schemas.openxmlformats.org/drawingml/2006/main" noGrp="1"/>
          </p:cNvSpPr>
          <p:nvPr/>
        </p:nvSpPr>
        <p:spPr>
          <a:xfrm xmlns:a="http://schemas.openxmlformats.org/drawingml/2006/main">
            <a:off x="4855320" y="2477880"/>
            <a:ext cx="5220720" cy="20988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18" name="Google Shape;318;p7">
            <a:extLst xmlns:a="http://schemas.openxmlformats.org/drawingml/2006/main">
              <a:ext uri="{FF2B5EF4-FFF2-40B4-BE49-F238E27FC236}">
                <a16:creationId xmlns:a16="http://schemas.microsoft.com/office/drawing/2014/main" id="{6EBA578B-3B00-4816-9DA6-1194971D7998}"/>
              </a:ext>
            </a:extLst>
          </p:cNvPr>
          <p:cNvSpPr>
            <a:spLocks xmlns:a="http://schemas.openxmlformats.org/drawingml/2006/main" noGrp="1"/>
          </p:cNvSpPr>
          <p:nvPr/>
        </p:nvSpPr>
        <p:spPr>
          <a:xfrm xmlns:a="http://schemas.openxmlformats.org/drawingml/2006/main">
            <a:off x="4855320" y="2477880"/>
            <a:ext cx="4649591" cy="20988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19" name="Google Shape;319;p7">
            <a:extLst xmlns:a="http://schemas.openxmlformats.org/drawingml/2006/main">
              <a:ext uri="{FF2B5EF4-FFF2-40B4-BE49-F238E27FC236}">
                <a16:creationId xmlns:a16="http://schemas.microsoft.com/office/drawing/2014/main" id="{67BA4014-7272-476A-B528-A23E83E6620A}"/>
              </a:ext>
            </a:extLst>
          </p:cNvPr>
          <p:cNvSpPr>
            <a:spLocks xmlns:a="http://schemas.openxmlformats.org/drawingml/2006/main" noGrp="1"/>
          </p:cNvSpPr>
          <p:nvPr/>
        </p:nvSpPr>
        <p:spPr>
          <a:xfrm xmlns:a="http://schemas.openxmlformats.org/drawingml/2006/main">
            <a:off x="10241280" y="2277000"/>
            <a:ext cx="1087920" cy="447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2000" b="1" i="0" u="none" strike="noStrike" cap="none">
                <a:solidFill>
                  <a:srgbClr val="397A7C"/>
                </a:solidFill>
                <a:latin typeface="Arial"/>
                <a:ea typeface="Arial"/>
                <a:cs typeface="Arial"/>
              </a:rPr>
              <a:t>0.1603</a:t>
            </a:r>
            <a:endParaRPr sz="2000" b="0" i="0" u="none" strike="noStrike" cap="none">
              <a:solidFill>
                <a:srgbClr val="000000"/>
              </a:solidFill>
              <a:latin typeface="Arial"/>
              <a:ea typeface="Arial"/>
              <a:cs typeface="Arial"/>
            </a:endParaRPr>
          </a:p>
        </p:txBody>
      </p:sp>
      <p:sp>
        <p:nvSpPr>
          <p:cNvPr id="320" name="Google Shape;320;p7">
            <a:extLst xmlns:a="http://schemas.openxmlformats.org/drawingml/2006/main">
              <a:ext uri="{FF2B5EF4-FFF2-40B4-BE49-F238E27FC236}">
                <a16:creationId xmlns:a16="http://schemas.microsoft.com/office/drawing/2014/main" id="{8EA83931-182A-40A5-9DE4-7084B2E1E52F}"/>
              </a:ext>
            </a:extLst>
          </p:cNvPr>
          <p:cNvSpPr>
            <a:spLocks xmlns:a="http://schemas.openxmlformats.org/drawingml/2006/main" noGrp="1"/>
          </p:cNvSpPr>
          <p:nvPr/>
        </p:nvSpPr>
        <p:spPr>
          <a:xfrm xmlns:a="http://schemas.openxmlformats.org/drawingml/2006/main">
            <a:off x="758880" y="3291840"/>
            <a:ext cx="2925720" cy="35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700" b="1" i="0" u="none" strike="noStrike" cap="none">
                <a:solidFill>
                  <a:srgbClr val="1C3138"/>
                </a:solidFill>
                <a:latin typeface="Arial"/>
                <a:ea typeface="Arial"/>
                <a:cs typeface="Arial"/>
              </a:rPr>
              <a:t>L1 selection</a:t>
            </a:r>
            <a:endParaRPr sz="1700" b="0" i="0" u="none" strike="noStrike" cap="none">
              <a:solidFill>
                <a:srgbClr val="000000"/>
              </a:solidFill>
              <a:latin typeface="Arial"/>
              <a:ea typeface="Arial"/>
              <a:cs typeface="Arial"/>
            </a:endParaRPr>
          </a:p>
        </p:txBody>
      </p:sp>
      <p:sp>
        <p:nvSpPr>
          <p:cNvPr id="321" name="Google Shape;321;p7">
            <a:extLst xmlns:a="http://schemas.openxmlformats.org/drawingml/2006/main">
              <a:ext uri="{FF2B5EF4-FFF2-40B4-BE49-F238E27FC236}">
                <a16:creationId xmlns:a16="http://schemas.microsoft.com/office/drawing/2014/main" id="{340FBEA5-F572-4060-ABFD-E1B6093AC212}"/>
              </a:ext>
            </a:extLst>
          </p:cNvPr>
          <p:cNvSpPr>
            <a:spLocks xmlns:a="http://schemas.openxmlformats.org/drawingml/2006/main" noGrp="1"/>
          </p:cNvSpPr>
          <p:nvPr/>
        </p:nvSpPr>
        <p:spPr>
          <a:xfrm xmlns:a="http://schemas.openxmlformats.org/drawingml/2006/main">
            <a:off x="3310200" y="3328560"/>
            <a:ext cx="1462680" cy="2127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83 dimensions</a:t>
            </a:r>
            <a:endParaRPr sz="1100" b="0" i="0" u="none" strike="noStrike" cap="none">
              <a:solidFill>
                <a:srgbClr val="000000"/>
              </a:solidFill>
              <a:latin typeface="Arial"/>
              <a:ea typeface="Arial"/>
              <a:cs typeface="Arial"/>
            </a:endParaRPr>
          </a:p>
        </p:txBody>
      </p:sp>
      <p:sp>
        <p:nvSpPr>
          <p:cNvPr id="322" name="Google Shape;322;p7">
            <a:extLst xmlns:a="http://schemas.openxmlformats.org/drawingml/2006/main">
              <a:ext uri="{FF2B5EF4-FFF2-40B4-BE49-F238E27FC236}">
                <a16:creationId xmlns:a16="http://schemas.microsoft.com/office/drawing/2014/main" id="{1F1BC0EC-48AE-405A-BF9A-BAD7470C659F}"/>
              </a:ext>
            </a:extLst>
          </p:cNvPr>
          <p:cNvSpPr>
            <a:spLocks xmlns:a="http://schemas.openxmlformats.org/drawingml/2006/main" noGrp="1"/>
          </p:cNvSpPr>
          <p:nvPr/>
        </p:nvSpPr>
        <p:spPr>
          <a:xfrm xmlns:a="http://schemas.openxmlformats.org/drawingml/2006/main">
            <a:off x="4855320" y="3438000"/>
            <a:ext cx="5220720" cy="20988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23" name="Google Shape;323;p7">
            <a:extLst xmlns:a="http://schemas.openxmlformats.org/drawingml/2006/main">
              <a:ext uri="{FF2B5EF4-FFF2-40B4-BE49-F238E27FC236}">
                <a16:creationId xmlns:a16="http://schemas.microsoft.com/office/drawing/2014/main" id="{C6D43B2E-BB99-4A40-AB6A-8EFC2C2C125F}"/>
              </a:ext>
            </a:extLst>
          </p:cNvPr>
          <p:cNvSpPr>
            <a:spLocks xmlns:a="http://schemas.openxmlformats.org/drawingml/2006/main" noGrp="1"/>
          </p:cNvSpPr>
          <p:nvPr/>
        </p:nvSpPr>
        <p:spPr>
          <a:xfrm xmlns:a="http://schemas.openxmlformats.org/drawingml/2006/main">
            <a:off x="4855320" y="3438000"/>
            <a:ext cx="4553881" cy="20988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24" name="Google Shape;324;p7">
            <a:extLst xmlns:a="http://schemas.openxmlformats.org/drawingml/2006/main">
              <a:ext uri="{FF2B5EF4-FFF2-40B4-BE49-F238E27FC236}">
                <a16:creationId xmlns:a16="http://schemas.microsoft.com/office/drawing/2014/main" id="{8F6D9F8D-2E5E-419C-88A3-61B5D9AC949A}"/>
              </a:ext>
            </a:extLst>
          </p:cNvPr>
          <p:cNvSpPr>
            <a:spLocks xmlns:a="http://schemas.openxmlformats.org/drawingml/2006/main" noGrp="1"/>
          </p:cNvSpPr>
          <p:nvPr/>
        </p:nvSpPr>
        <p:spPr>
          <a:xfrm xmlns:a="http://schemas.openxmlformats.org/drawingml/2006/main">
            <a:off x="10241280" y="3237120"/>
            <a:ext cx="1087920" cy="35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2000" b="1" i="0" u="none" strike="noStrike" cap="none">
                <a:solidFill>
                  <a:srgbClr val="56869F"/>
                </a:solidFill>
                <a:latin typeface="Arial"/>
                <a:ea typeface="Arial"/>
                <a:cs typeface="Arial"/>
              </a:rPr>
              <a:t>0.1570</a:t>
            </a:r>
            <a:endParaRPr sz="2000" b="0" i="0" u="none" strike="noStrike" cap="none">
              <a:solidFill>
                <a:srgbClr val="000000"/>
              </a:solidFill>
              <a:latin typeface="Arial"/>
              <a:ea typeface="Arial"/>
              <a:cs typeface="Arial"/>
            </a:endParaRPr>
          </a:p>
        </p:txBody>
      </p:sp>
      <p:sp>
        <p:nvSpPr>
          <p:cNvPr id="325" name="Google Shape;325;p7">
            <a:extLst xmlns:a="http://schemas.openxmlformats.org/drawingml/2006/main">
              <a:ext uri="{FF2B5EF4-FFF2-40B4-BE49-F238E27FC236}">
                <a16:creationId xmlns:a16="http://schemas.microsoft.com/office/drawing/2014/main" id="{6FD3A2DA-CFD4-47B6-8ABE-F13522A4AB53}"/>
              </a:ext>
            </a:extLst>
          </p:cNvPr>
          <p:cNvSpPr>
            <a:spLocks xmlns:a="http://schemas.openxmlformats.org/drawingml/2006/main" noGrp="1"/>
          </p:cNvSpPr>
          <p:nvPr/>
        </p:nvSpPr>
        <p:spPr>
          <a:xfrm xmlns:a="http://schemas.openxmlformats.org/drawingml/2006/main">
            <a:off x="758880" y="4251960"/>
            <a:ext cx="2925720" cy="35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700" b="1" i="0" u="none" strike="noStrike" cap="none">
                <a:solidFill>
                  <a:srgbClr val="1C3138"/>
                </a:solidFill>
                <a:latin typeface="Arial"/>
                <a:ea typeface="Arial"/>
                <a:cs typeface="Arial"/>
              </a:rPr>
              <a:t>TruncatedSVD</a:t>
            </a:r>
            <a:endParaRPr sz="1700" b="0" i="0" u="none" strike="noStrike" cap="none">
              <a:solidFill>
                <a:srgbClr val="000000"/>
              </a:solidFill>
              <a:latin typeface="Arial"/>
              <a:ea typeface="Arial"/>
              <a:cs typeface="Arial"/>
            </a:endParaRPr>
          </a:p>
        </p:txBody>
      </p:sp>
      <p:sp>
        <p:nvSpPr>
          <p:cNvPr id="326" name="Google Shape;326;p7">
            <a:extLst xmlns:a="http://schemas.openxmlformats.org/drawingml/2006/main">
              <a:ext uri="{FF2B5EF4-FFF2-40B4-BE49-F238E27FC236}">
                <a16:creationId xmlns:a16="http://schemas.microsoft.com/office/drawing/2014/main" id="{60777D7E-9BB7-4DC6-B023-6FFD42FA68BD}"/>
              </a:ext>
            </a:extLst>
          </p:cNvPr>
          <p:cNvSpPr>
            <a:spLocks xmlns:a="http://schemas.openxmlformats.org/drawingml/2006/main" noGrp="1"/>
          </p:cNvSpPr>
          <p:nvPr/>
        </p:nvSpPr>
        <p:spPr>
          <a:xfrm xmlns:a="http://schemas.openxmlformats.org/drawingml/2006/main">
            <a:off x="3310200" y="4288680"/>
            <a:ext cx="146268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40 components</a:t>
            </a:r>
            <a:endParaRPr sz="1100" b="0" i="0" u="none" strike="noStrike" cap="none">
              <a:solidFill>
                <a:srgbClr val="000000"/>
              </a:solidFill>
              <a:latin typeface="Arial"/>
              <a:ea typeface="Arial"/>
              <a:cs typeface="Arial"/>
            </a:endParaRPr>
          </a:p>
        </p:txBody>
      </p:sp>
      <p:sp>
        <p:nvSpPr>
          <p:cNvPr id="327" name="Google Shape;327;p7">
            <a:extLst xmlns:a="http://schemas.openxmlformats.org/drawingml/2006/main">
              <a:ext uri="{FF2B5EF4-FFF2-40B4-BE49-F238E27FC236}">
                <a16:creationId xmlns:a16="http://schemas.microsoft.com/office/drawing/2014/main" id="{BFA35163-F4CA-408F-8FF0-C060B75D7BD1}"/>
              </a:ext>
            </a:extLst>
          </p:cNvPr>
          <p:cNvSpPr>
            <a:spLocks xmlns:a="http://schemas.openxmlformats.org/drawingml/2006/main" noGrp="1"/>
          </p:cNvSpPr>
          <p:nvPr/>
        </p:nvSpPr>
        <p:spPr>
          <a:xfrm xmlns:a="http://schemas.openxmlformats.org/drawingml/2006/main">
            <a:off x="4855320" y="4398120"/>
            <a:ext cx="5220720" cy="20988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28" name="Google Shape;328;p7">
            <a:extLst xmlns:a="http://schemas.openxmlformats.org/drawingml/2006/main">
              <a:ext uri="{FF2B5EF4-FFF2-40B4-BE49-F238E27FC236}">
                <a16:creationId xmlns:a16="http://schemas.microsoft.com/office/drawing/2014/main" id="{66D316E2-8EEC-4FA6-AAA2-0F37AB9EDC03}"/>
              </a:ext>
            </a:extLst>
          </p:cNvPr>
          <p:cNvSpPr>
            <a:spLocks xmlns:a="http://schemas.openxmlformats.org/drawingml/2006/main" noGrp="1"/>
          </p:cNvSpPr>
          <p:nvPr/>
        </p:nvSpPr>
        <p:spPr>
          <a:xfrm xmlns:a="http://schemas.openxmlformats.org/drawingml/2006/main">
            <a:off x="4855320" y="4398120"/>
            <a:ext cx="4161088" cy="20988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29" name="Google Shape;329;p7">
            <a:extLst xmlns:a="http://schemas.openxmlformats.org/drawingml/2006/main">
              <a:ext uri="{FF2B5EF4-FFF2-40B4-BE49-F238E27FC236}">
                <a16:creationId xmlns:a16="http://schemas.microsoft.com/office/drawing/2014/main" id="{45862CCB-06C3-486F-9AA7-B8988558E269}"/>
              </a:ext>
            </a:extLst>
          </p:cNvPr>
          <p:cNvSpPr>
            <a:spLocks xmlns:a="http://schemas.openxmlformats.org/drawingml/2006/main" noGrp="1"/>
          </p:cNvSpPr>
          <p:nvPr/>
        </p:nvSpPr>
        <p:spPr>
          <a:xfrm xmlns:a="http://schemas.openxmlformats.org/drawingml/2006/main">
            <a:off x="10241280" y="4197240"/>
            <a:ext cx="1087920" cy="35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2000" b="1" i="0" u="none" strike="noStrike" cap="none">
                <a:solidFill>
                  <a:srgbClr val="BE7E5B"/>
                </a:solidFill>
                <a:latin typeface="Arial"/>
                <a:ea typeface="Arial"/>
                <a:cs typeface="Arial"/>
              </a:rPr>
              <a:t>0.1435</a:t>
            </a:r>
            <a:endParaRPr sz="2000" b="0" i="0" u="none" strike="noStrike" cap="none">
              <a:solidFill>
                <a:srgbClr val="000000"/>
              </a:solidFill>
              <a:latin typeface="Arial"/>
              <a:ea typeface="Arial"/>
              <a:cs typeface="Arial"/>
            </a:endParaRPr>
          </a:p>
        </p:txBody>
      </p:sp>
      <p:cxnSp>
        <p:nvCxnSpPr>
          <p:cNvPr id="330" name="Google Shape;330;p7">
            <a:extLst xmlns:a="http://schemas.openxmlformats.org/drawingml/2006/main">
              <a:ext uri="{FF2B5EF4-FFF2-40B4-BE49-F238E27FC236}">
                <a16:creationId xmlns:a16="http://schemas.microsoft.com/office/drawing/2014/main" id="{8A2695E4-54E3-475E-B624-8BD6BA070B42}"/>
              </a:ext>
            </a:extLst>
          </p:cNvPr>
          <p:cNvCxnSpPr/>
          <p:nvPr/>
        </p:nvCxnSpPr>
        <p:spPr>
          <a:xfrm xmlns:a="http://schemas.openxmlformats.org/drawingml/2006/main">
            <a:off x="740520" y="5468040"/>
            <a:ext cx="1060740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331" name="Google Shape;331;p7">
            <a:extLst xmlns:a="http://schemas.openxmlformats.org/drawingml/2006/main">
              <a:ext uri="{FF2B5EF4-FFF2-40B4-BE49-F238E27FC236}">
                <a16:creationId xmlns:a16="http://schemas.microsoft.com/office/drawing/2014/main" id="{633DE0AB-1FED-44D5-9668-9BBEC5F3A7EB}"/>
              </a:ext>
            </a:extLst>
          </p:cNvPr>
          <p:cNvSpPr>
            <a:spLocks xmlns:a="http://schemas.openxmlformats.org/drawingml/2006/main" noGrp="1"/>
          </p:cNvSpPr>
          <p:nvPr/>
        </p:nvSpPr>
        <p:spPr>
          <a:xfrm xmlns:a="http://schemas.openxmlformats.org/drawingml/2006/main">
            <a:off x="758880" y="5605200"/>
            <a:ext cx="10643400" cy="42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Decision: retain the full representation; L1 offers smaller size at a small AP cost, while SVD loses more signal.</a:t>
            </a:r>
            <a:endParaRPr sz="13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03093703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37" name="Google Shape;337;p8">
            <a:extLst xmlns:a="http://schemas.openxmlformats.org/drawingml/2006/main">
              <a:ext uri="{FF2B5EF4-FFF2-40B4-BE49-F238E27FC236}">
                <a16:creationId xmlns:a16="http://schemas.microsoft.com/office/drawing/2014/main" id="{7F240CD7-5CC8-4746-A55D-DAC9B98BBF5B}"/>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F9F8F5"/>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38" name="Google Shape;338;p8">
            <a:extLst xmlns:a="http://schemas.openxmlformats.org/drawingml/2006/main">
              <a:ext uri="{FF2B5EF4-FFF2-40B4-BE49-F238E27FC236}">
                <a16:creationId xmlns:a16="http://schemas.microsoft.com/office/drawing/2014/main" id="{034831E3-ADEB-4853-9EA5-A6A638E6F558}"/>
              </a:ext>
            </a:extLst>
          </p:cNvPr>
          <p:cNvSpPr>
            <a:spLocks xmlns:a="http://schemas.openxmlformats.org/drawingml/2006/main" noGrp="1"/>
          </p:cNvSpPr>
          <p:nvPr/>
        </p:nvSpPr>
        <p:spPr>
          <a:xfrm xmlns:a="http://schemas.openxmlformats.org/drawingml/2006/main">
            <a:off x="493920" y="365760"/>
            <a:ext cx="109440" cy="109440"/>
          </a:xfrm>
          <a:prstGeom xmlns:a="http://schemas.openxmlformats.org/drawingml/2006/main" prst="ellipse">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32750" rIns="90000" bIns="327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39" name="Google Shape;339;p8">
            <a:extLst xmlns:a="http://schemas.openxmlformats.org/drawingml/2006/main">
              <a:ext uri="{FF2B5EF4-FFF2-40B4-BE49-F238E27FC236}">
                <a16:creationId xmlns:a16="http://schemas.microsoft.com/office/drawing/2014/main" id="{6F985110-CE80-4F40-BAAF-D4E6C2A01720}"/>
              </a:ext>
            </a:extLst>
          </p:cNvPr>
          <p:cNvSpPr>
            <a:spLocks xmlns:a="http://schemas.openxmlformats.org/drawingml/2006/main" noGrp="1"/>
          </p:cNvSpPr>
          <p:nvPr/>
        </p:nvSpPr>
        <p:spPr>
          <a:xfrm xmlns:a="http://schemas.openxmlformats.org/drawingml/2006/main">
            <a:off x="7434000" y="311040"/>
            <a:ext cx="415116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66757B"/>
                </a:solidFill>
                <a:latin typeface="Arial"/>
                <a:ea typeface="Arial"/>
                <a:cs typeface="Arial"/>
              </a:rPr>
              <a:t>04  /  MODEL COMPARISON</a:t>
            </a:r>
            <a:endParaRPr sz="900" b="0" i="0" u="none" strike="noStrike" cap="none">
              <a:solidFill>
                <a:srgbClr val="000000"/>
              </a:solidFill>
              <a:latin typeface="Arial"/>
              <a:ea typeface="Arial"/>
              <a:cs typeface="Arial"/>
            </a:endParaRPr>
          </a:p>
        </p:txBody>
      </p:sp>
      <p:sp>
        <p:nvSpPr>
          <p:cNvPr id="340" name="Google Shape;340;p8">
            <a:extLst xmlns:a="http://schemas.openxmlformats.org/drawingml/2006/main">
              <a:ext uri="{FF2B5EF4-FFF2-40B4-BE49-F238E27FC236}">
                <a16:creationId xmlns:a16="http://schemas.microsoft.com/office/drawing/2014/main" id="{5CF22A1D-DA29-4C36-B55C-EB97EE00E1D7}"/>
              </a:ext>
            </a:extLst>
          </p:cNvPr>
          <p:cNvSpPr>
            <a:spLocks xmlns:a="http://schemas.openxmlformats.org/drawingml/2006/main" noGrp="1"/>
          </p:cNvSpPr>
          <p:nvPr/>
        </p:nvSpPr>
        <p:spPr>
          <a:xfrm xmlns:a="http://schemas.openxmlformats.org/drawingml/2006/main">
            <a:off x="612720" y="713160"/>
            <a:ext cx="10972440" cy="630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900" b="1" i="0" u="none" strike="noStrike" cap="none">
                <a:solidFill>
                  <a:srgbClr val="1C3138"/>
                </a:solidFill>
                <a:latin typeface="Georgia"/>
                <a:ea typeface="Georgia"/>
                <a:cs typeface="Georgia"/>
              </a:rPr>
              <a:t>Tuned boosting balances predictive signal and overfitting</a:t>
            </a:r>
            <a:endParaRPr sz="2900" b="0" i="0" u="none" strike="noStrike" cap="none">
              <a:solidFill>
                <a:srgbClr val="000000"/>
              </a:solidFill>
              <a:latin typeface="Arial"/>
              <a:ea typeface="Arial"/>
              <a:cs typeface="Arial"/>
            </a:endParaRPr>
          </a:p>
        </p:txBody>
      </p:sp>
      <p:cxnSp>
        <p:nvCxnSpPr>
          <p:cNvPr id="341" name="Google Shape;341;p8">
            <a:extLst xmlns:a="http://schemas.openxmlformats.org/drawingml/2006/main">
              <a:ext uri="{FF2B5EF4-FFF2-40B4-BE49-F238E27FC236}">
                <a16:creationId xmlns:a16="http://schemas.microsoft.com/office/drawing/2014/main" id="{A0AF12B1-DDE2-4AAF-A0EA-A04C9E918BB0}"/>
              </a:ext>
            </a:extLst>
          </p:cNvPr>
          <p:cNvCxnSpPr/>
          <p:nvPr/>
        </p:nvCxnSpPr>
        <p:spPr>
          <a:xfrm xmlns:a="http://schemas.openxmlformats.org/drawingml/2006/main">
            <a:off x="640080" y="1453680"/>
            <a:ext cx="10918080" cy="360"/>
          </a:xfrm>
          <a:prstGeom xmlns:a="http://schemas.openxmlformats.org/drawingml/2006/main" prst="straightConnector1">
            <a:avLst/>
          </a:prstGeom>
          <a:ln xmlns:a="http://schemas.openxmlformats.org/drawingml/2006/main" w="15875" cap="flat">
            <a:solidFill>
              <a:srgbClr val="1C3138"/>
            </a:solidFill>
            <a:prstDash val="solid"/>
            <a:round/>
            <a:headEnd type="none" w="sm" len="sm"/>
            <a:tailEnd type="none" w="sm" len="sm"/>
          </a:ln>
        </p:spPr>
      </p:cxnSp>
      <p:cxnSp>
        <p:nvCxnSpPr>
          <p:cNvPr id="342" name="Google Shape;342;p8">
            <a:extLst xmlns:a="http://schemas.openxmlformats.org/drawingml/2006/main">
              <a:ext uri="{FF2B5EF4-FFF2-40B4-BE49-F238E27FC236}">
                <a16:creationId xmlns:a16="http://schemas.microsoft.com/office/drawing/2014/main" id="{03EEBD68-C2CB-4CA3-9CBD-3C8F092A62D9}"/>
              </a:ext>
            </a:extLst>
          </p:cNvPr>
          <p:cNvCxnSpPr/>
          <p:nvPr/>
        </p:nvCxnSpPr>
        <p:spPr>
          <a:xfrm xmlns:a="http://schemas.openxmlformats.org/drawingml/2006/main">
            <a:off x="630720" y="6464520"/>
            <a:ext cx="10927440" cy="360"/>
          </a:xfrm>
          <a:prstGeom xmlns:a="http://schemas.openxmlformats.org/drawingml/2006/main" prst="straightConnector1">
            <a:avLst/>
          </a:prstGeom>
          <a:ln xmlns:a="http://schemas.openxmlformats.org/drawingml/2006/main" w="10150" cap="flat">
            <a:solidFill>
              <a:srgbClr val="D6DEDA"/>
            </a:solidFill>
            <a:prstDash val="solid"/>
            <a:round/>
            <a:headEnd type="none" w="sm" len="sm"/>
            <a:tailEnd type="none" w="sm" len="sm"/>
          </a:ln>
        </p:spPr>
      </p:cxnSp>
      <p:sp>
        <p:nvSpPr>
          <p:cNvPr id="343" name="Google Shape;343;p8">
            <a:extLst xmlns:a="http://schemas.openxmlformats.org/drawingml/2006/main">
              <a:ext uri="{FF2B5EF4-FFF2-40B4-BE49-F238E27FC236}">
                <a16:creationId xmlns:a16="http://schemas.microsoft.com/office/drawing/2014/main" id="{08F0BB47-DAE0-4F73-AF80-68B037DF05D9}"/>
              </a:ext>
            </a:extLst>
          </p:cNvPr>
          <p:cNvSpPr>
            <a:spLocks xmlns:a="http://schemas.openxmlformats.org/drawingml/2006/main" noGrp="1"/>
          </p:cNvSpPr>
          <p:nvPr/>
        </p:nvSpPr>
        <p:spPr>
          <a:xfrm xmlns:a="http://schemas.openxmlformats.org/drawingml/2006/main">
            <a:off x="649080" y="6519600"/>
            <a:ext cx="10496880" cy="200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800" b="0" i="0" u="none" strike="noStrike" cap="none">
                <a:solidFill>
                  <a:srgbClr val="66757B"/>
                </a:solidFill>
                <a:latin typeface="Arial"/>
                <a:ea typeface="Arial"/>
                <a:cs typeface="Arial"/>
              </a:rPr>
              <a:t>Notebook 05 and 06 §6.2 · Validation comparisons; no definitive model superiority</a:t>
            </a:r>
            <a:endParaRPr sz="800" b="0" i="0" u="none" strike="noStrike" cap="none">
              <a:solidFill>
                <a:srgbClr val="000000"/>
              </a:solidFill>
              <a:latin typeface="Arial"/>
              <a:ea typeface="Arial"/>
              <a:cs typeface="Arial"/>
            </a:endParaRPr>
          </a:p>
        </p:txBody>
      </p:sp>
      <p:sp>
        <p:nvSpPr>
          <p:cNvPr id="344" name="Google Shape;344;p8">
            <a:extLst xmlns:a="http://schemas.openxmlformats.org/drawingml/2006/main">
              <a:ext uri="{FF2B5EF4-FFF2-40B4-BE49-F238E27FC236}">
                <a16:creationId xmlns:a16="http://schemas.microsoft.com/office/drawing/2014/main" id="{B6822A38-93C8-4EE9-AAC7-34FBBA716108}"/>
              </a:ext>
            </a:extLst>
          </p:cNvPr>
          <p:cNvSpPr>
            <a:spLocks xmlns:a="http://schemas.openxmlformats.org/drawingml/2006/main" noGrp="1"/>
          </p:cNvSpPr>
          <p:nvPr/>
        </p:nvSpPr>
        <p:spPr>
          <a:xfrm xmlns:a="http://schemas.openxmlformats.org/drawingml/2006/main">
            <a:off x="11137320" y="6501240"/>
            <a:ext cx="4384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1C3138"/>
                </a:solidFill>
                <a:latin typeface="Arial"/>
                <a:ea typeface="Arial"/>
                <a:cs typeface="Arial"/>
              </a:rPr>
              <a:t>08</a:t>
            </a:r>
            <a:endParaRPr sz="900" b="0" i="0" u="none" strike="noStrike" cap="none">
              <a:solidFill>
                <a:srgbClr val="000000"/>
              </a:solidFill>
              <a:latin typeface="Arial"/>
              <a:ea typeface="Arial"/>
              <a:cs typeface="Arial"/>
            </a:endParaRPr>
          </a:p>
        </p:txBody>
      </p:sp>
      <p:sp>
        <p:nvSpPr>
          <p:cNvPr id="345" name="Google Shape;345;p8">
            <a:extLst xmlns:a="http://schemas.openxmlformats.org/drawingml/2006/main">
              <a:ext uri="{FF2B5EF4-FFF2-40B4-BE49-F238E27FC236}">
                <a16:creationId xmlns:a16="http://schemas.microsoft.com/office/drawing/2014/main" id="{5D045A16-7B66-4F1B-BC4C-513117F31655}"/>
              </a:ext>
            </a:extLst>
          </p:cNvPr>
          <p:cNvSpPr>
            <a:spLocks xmlns:a="http://schemas.openxmlformats.org/drawingml/2006/main" noGrp="1"/>
          </p:cNvSpPr>
          <p:nvPr/>
        </p:nvSpPr>
        <p:spPr>
          <a:xfrm xmlns:a="http://schemas.openxmlformats.org/drawingml/2006/main">
            <a:off x="722520" y="171900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MODEL</a:t>
            </a:r>
            <a:endParaRPr sz="1000" b="0" i="0" u="none" strike="noStrike" cap="none">
              <a:solidFill>
                <a:srgbClr val="000000"/>
              </a:solidFill>
              <a:latin typeface="Arial"/>
              <a:ea typeface="Arial"/>
              <a:cs typeface="Arial"/>
            </a:endParaRPr>
          </a:p>
        </p:txBody>
      </p:sp>
      <p:sp>
        <p:nvSpPr>
          <p:cNvPr id="346" name="Google Shape;346;p8">
            <a:extLst xmlns:a="http://schemas.openxmlformats.org/drawingml/2006/main">
              <a:ext uri="{FF2B5EF4-FFF2-40B4-BE49-F238E27FC236}">
                <a16:creationId xmlns:a16="http://schemas.microsoft.com/office/drawing/2014/main" id="{76B8BD29-C82C-4226-8A77-9AF31C464C07}"/>
              </a:ext>
            </a:extLst>
          </p:cNvPr>
          <p:cNvSpPr>
            <a:spLocks xmlns:a="http://schemas.openxmlformats.org/drawingml/2006/main" noGrp="1"/>
          </p:cNvSpPr>
          <p:nvPr/>
        </p:nvSpPr>
        <p:spPr>
          <a:xfrm xmlns:a="http://schemas.openxmlformats.org/drawingml/2006/main">
            <a:off x="7809120" y="1719000"/>
            <a:ext cx="3998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VALIDATION AP</a:t>
            </a:r>
            <a:endParaRPr sz="1000" b="0" i="0" u="none" strike="noStrike" cap="none">
              <a:solidFill>
                <a:srgbClr val="000000"/>
              </a:solidFill>
              <a:latin typeface="Arial"/>
              <a:ea typeface="Arial"/>
              <a:cs typeface="Arial"/>
            </a:endParaRPr>
          </a:p>
        </p:txBody>
      </p:sp>
      <p:sp>
        <p:nvSpPr>
          <p:cNvPr id="347" name="Google Shape;347;p8">
            <a:extLst xmlns:a="http://schemas.openxmlformats.org/drawingml/2006/main">
              <a:ext uri="{FF2B5EF4-FFF2-40B4-BE49-F238E27FC236}">
                <a16:creationId xmlns:a16="http://schemas.microsoft.com/office/drawing/2014/main" id="{984998FE-2B02-41FD-9125-F9D2FB668D74}"/>
              </a:ext>
            </a:extLst>
          </p:cNvPr>
          <p:cNvSpPr>
            <a:spLocks xmlns:a="http://schemas.openxmlformats.org/drawingml/2006/main" noGrp="1"/>
          </p:cNvSpPr>
          <p:nvPr/>
        </p:nvSpPr>
        <p:spPr>
          <a:xfrm xmlns:a="http://schemas.openxmlformats.org/drawingml/2006/main">
            <a:off x="9975960" y="1719000"/>
            <a:ext cx="183132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ROC-AUC</a:t>
            </a:r>
            <a:endParaRPr sz="1000" b="0" i="0" u="none" strike="noStrike" cap="none">
              <a:solidFill>
                <a:srgbClr val="000000"/>
              </a:solidFill>
              <a:latin typeface="Arial"/>
              <a:ea typeface="Arial"/>
              <a:cs typeface="Arial"/>
            </a:endParaRPr>
          </a:p>
        </p:txBody>
      </p:sp>
      <p:sp>
        <p:nvSpPr>
          <p:cNvPr id="348" name="Google Shape;348;p8">
            <a:extLst xmlns:a="http://schemas.openxmlformats.org/drawingml/2006/main">
              <a:ext uri="{FF2B5EF4-FFF2-40B4-BE49-F238E27FC236}">
                <a16:creationId xmlns:a16="http://schemas.microsoft.com/office/drawing/2014/main" id="{534F860D-F0A3-4263-88C2-D88B41D04C81}"/>
              </a:ext>
            </a:extLst>
          </p:cNvPr>
          <p:cNvSpPr>
            <a:spLocks xmlns:a="http://schemas.openxmlformats.org/drawingml/2006/main" noGrp="1"/>
          </p:cNvSpPr>
          <p:nvPr/>
        </p:nvSpPr>
        <p:spPr>
          <a:xfrm xmlns:a="http://schemas.openxmlformats.org/drawingml/2006/main">
            <a:off x="813960" y="2075760"/>
            <a:ext cx="3401280" cy="319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50" b="0" i="0" u="none" strike="noStrike" cap="none">
                <a:solidFill>
                  <a:srgbClr val="1C3138"/>
                </a:solidFill>
                <a:latin typeface="Arial"/>
                <a:ea typeface="Arial"/>
                <a:cs typeface="Arial"/>
              </a:rPr>
              <a:t>Dummy baseline</a:t>
            </a:r>
            <a:endParaRPr sz="1250" b="0" i="0" u="none" strike="noStrike" cap="none">
              <a:solidFill>
                <a:srgbClr val="000000"/>
              </a:solidFill>
              <a:latin typeface="Arial"/>
              <a:ea typeface="Arial"/>
              <a:cs typeface="Arial"/>
            </a:endParaRPr>
          </a:p>
        </p:txBody>
      </p:sp>
      <p:sp>
        <p:nvSpPr>
          <p:cNvPr id="349" name="Google Shape;349;p8">
            <a:extLst xmlns:a="http://schemas.openxmlformats.org/drawingml/2006/main">
              <a:ext uri="{FF2B5EF4-FFF2-40B4-BE49-F238E27FC236}">
                <a16:creationId xmlns:a16="http://schemas.microsoft.com/office/drawing/2014/main" id="{F43C0774-60B2-42EA-879F-E84768403479}"/>
              </a:ext>
            </a:extLst>
          </p:cNvPr>
          <p:cNvSpPr>
            <a:spLocks xmlns:a="http://schemas.openxmlformats.org/drawingml/2006/main" noGrp="1"/>
          </p:cNvSpPr>
          <p:nvPr/>
        </p:nvSpPr>
        <p:spPr>
          <a:xfrm xmlns:a="http://schemas.openxmlformats.org/drawingml/2006/main">
            <a:off x="4389120" y="2176200"/>
            <a:ext cx="2861640" cy="12312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50" name="Google Shape;350;p8">
            <a:extLst xmlns:a="http://schemas.openxmlformats.org/drawingml/2006/main">
              <a:ext uri="{FF2B5EF4-FFF2-40B4-BE49-F238E27FC236}">
                <a16:creationId xmlns:a16="http://schemas.microsoft.com/office/drawing/2014/main" id="{ECE1ADC7-FB7A-4D9C-B219-0C831A79B914}"/>
              </a:ext>
            </a:extLst>
          </p:cNvPr>
          <p:cNvSpPr>
            <a:spLocks xmlns:a="http://schemas.openxmlformats.org/drawingml/2006/main" noGrp="1"/>
          </p:cNvSpPr>
          <p:nvPr/>
        </p:nvSpPr>
        <p:spPr>
          <a:xfrm xmlns:a="http://schemas.openxmlformats.org/drawingml/2006/main">
            <a:off x="4389120" y="2176200"/>
            <a:ext cx="1283400" cy="12312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51" name="Google Shape;351;p8">
            <a:extLst xmlns:a="http://schemas.openxmlformats.org/drawingml/2006/main">
              <a:ext uri="{FF2B5EF4-FFF2-40B4-BE49-F238E27FC236}">
                <a16:creationId xmlns:a16="http://schemas.microsoft.com/office/drawing/2014/main" id="{BB69069C-3D4F-46BA-BC84-81560AAAA47E}"/>
              </a:ext>
            </a:extLst>
          </p:cNvPr>
          <p:cNvSpPr>
            <a:spLocks xmlns:a="http://schemas.openxmlformats.org/drawingml/2006/main" noGrp="1"/>
          </p:cNvSpPr>
          <p:nvPr/>
        </p:nvSpPr>
        <p:spPr>
          <a:xfrm xmlns:a="http://schemas.openxmlformats.org/drawingml/2006/main">
            <a:off x="7836480" y="2066400"/>
            <a:ext cx="1115280" cy="347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0.0897</a:t>
            </a:r>
            <a:endParaRPr sz="1300" b="0" i="0" u="none" strike="noStrike" cap="none">
              <a:solidFill>
                <a:srgbClr val="000000"/>
              </a:solidFill>
              <a:latin typeface="Arial"/>
              <a:ea typeface="Arial"/>
              <a:cs typeface="Arial"/>
            </a:endParaRPr>
          </a:p>
        </p:txBody>
      </p:sp>
      <p:sp>
        <p:nvSpPr>
          <p:cNvPr id="352" name="Google Shape;352;p8">
            <a:extLst xmlns:a="http://schemas.openxmlformats.org/drawingml/2006/main">
              <a:ext uri="{FF2B5EF4-FFF2-40B4-BE49-F238E27FC236}">
                <a16:creationId xmlns:a16="http://schemas.microsoft.com/office/drawing/2014/main" id="{FA52F13B-F367-4C57-B730-5688B4A71588}"/>
              </a:ext>
            </a:extLst>
          </p:cNvPr>
          <p:cNvSpPr>
            <a:spLocks xmlns:a="http://schemas.openxmlformats.org/drawingml/2006/main" noGrp="1"/>
          </p:cNvSpPr>
          <p:nvPr/>
        </p:nvSpPr>
        <p:spPr>
          <a:xfrm xmlns:a="http://schemas.openxmlformats.org/drawingml/2006/main">
            <a:off x="10012680" y="2066400"/>
            <a:ext cx="1105920" cy="347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0.5000</a:t>
            </a:r>
            <a:endParaRPr sz="1300" b="0" i="0" u="none" strike="noStrike" cap="none">
              <a:solidFill>
                <a:srgbClr val="000000"/>
              </a:solidFill>
              <a:latin typeface="Arial"/>
              <a:ea typeface="Arial"/>
              <a:cs typeface="Arial"/>
            </a:endParaRPr>
          </a:p>
        </p:txBody>
      </p:sp>
      <p:sp>
        <p:nvSpPr>
          <p:cNvPr id="353" name="Google Shape;353;p8">
            <a:extLst xmlns:a="http://schemas.openxmlformats.org/drawingml/2006/main">
              <a:ext uri="{FF2B5EF4-FFF2-40B4-BE49-F238E27FC236}">
                <a16:creationId xmlns:a16="http://schemas.microsoft.com/office/drawing/2014/main" id="{979D102B-50FC-4EF2-A16C-D563FD871DC7}"/>
              </a:ext>
            </a:extLst>
          </p:cNvPr>
          <p:cNvSpPr>
            <a:spLocks xmlns:a="http://schemas.openxmlformats.org/drawingml/2006/main" noGrp="1"/>
          </p:cNvSpPr>
          <p:nvPr/>
        </p:nvSpPr>
        <p:spPr>
          <a:xfrm xmlns:a="http://schemas.openxmlformats.org/drawingml/2006/main">
            <a:off x="813960" y="2541960"/>
            <a:ext cx="3401280" cy="319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50" b="0" i="0" u="none" strike="noStrike" cap="none">
                <a:solidFill>
                  <a:srgbClr val="1C3138"/>
                </a:solidFill>
                <a:latin typeface="Arial"/>
                <a:ea typeface="Arial"/>
                <a:cs typeface="Arial"/>
              </a:rPr>
              <a:t>Logistic · all features</a:t>
            </a:r>
            <a:endParaRPr sz="1250" b="0" i="0" u="none" strike="noStrike" cap="none">
              <a:solidFill>
                <a:srgbClr val="000000"/>
              </a:solidFill>
              <a:latin typeface="Arial"/>
              <a:ea typeface="Arial"/>
              <a:cs typeface="Arial"/>
            </a:endParaRPr>
          </a:p>
        </p:txBody>
      </p:sp>
      <p:sp>
        <p:nvSpPr>
          <p:cNvPr id="354" name="Google Shape;354;p8">
            <a:extLst xmlns:a="http://schemas.openxmlformats.org/drawingml/2006/main">
              <a:ext uri="{FF2B5EF4-FFF2-40B4-BE49-F238E27FC236}">
                <a16:creationId xmlns:a16="http://schemas.microsoft.com/office/drawing/2014/main" id="{DC105AFF-6492-43B7-9238-CA8F3D204469}"/>
              </a:ext>
            </a:extLst>
          </p:cNvPr>
          <p:cNvSpPr>
            <a:spLocks xmlns:a="http://schemas.openxmlformats.org/drawingml/2006/main" noGrp="1"/>
          </p:cNvSpPr>
          <p:nvPr/>
        </p:nvSpPr>
        <p:spPr>
          <a:xfrm xmlns:a="http://schemas.openxmlformats.org/drawingml/2006/main">
            <a:off x="4389120" y="2642760"/>
            <a:ext cx="2861640" cy="12312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55" name="Google Shape;355;p8">
            <a:extLst xmlns:a="http://schemas.openxmlformats.org/drawingml/2006/main">
              <a:ext uri="{FF2B5EF4-FFF2-40B4-BE49-F238E27FC236}">
                <a16:creationId xmlns:a16="http://schemas.microsoft.com/office/drawing/2014/main" id="{62A29A8E-E3A5-4E73-9048-C972B0CA85A7}"/>
              </a:ext>
            </a:extLst>
          </p:cNvPr>
          <p:cNvSpPr>
            <a:spLocks xmlns:a="http://schemas.openxmlformats.org/drawingml/2006/main" noGrp="1"/>
          </p:cNvSpPr>
          <p:nvPr/>
        </p:nvSpPr>
        <p:spPr>
          <a:xfrm xmlns:a="http://schemas.openxmlformats.org/drawingml/2006/main">
            <a:off x="4389120" y="2642760"/>
            <a:ext cx="2293680" cy="12312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56" name="Google Shape;356;p8">
            <a:extLst xmlns:a="http://schemas.openxmlformats.org/drawingml/2006/main">
              <a:ext uri="{FF2B5EF4-FFF2-40B4-BE49-F238E27FC236}">
                <a16:creationId xmlns:a16="http://schemas.microsoft.com/office/drawing/2014/main" id="{E9817B2B-3D39-4E56-8DF6-7062AF16A0FA}"/>
              </a:ext>
            </a:extLst>
          </p:cNvPr>
          <p:cNvSpPr>
            <a:spLocks xmlns:a="http://schemas.openxmlformats.org/drawingml/2006/main" noGrp="1"/>
          </p:cNvSpPr>
          <p:nvPr/>
        </p:nvSpPr>
        <p:spPr>
          <a:xfrm xmlns:a="http://schemas.openxmlformats.org/drawingml/2006/main">
            <a:off x="7836480" y="2532960"/>
            <a:ext cx="111528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0.1603</a:t>
            </a:r>
            <a:endParaRPr sz="1300" b="0" i="0" u="none" strike="noStrike" cap="none">
              <a:solidFill>
                <a:srgbClr val="000000"/>
              </a:solidFill>
              <a:latin typeface="Arial"/>
              <a:ea typeface="Arial"/>
              <a:cs typeface="Arial"/>
            </a:endParaRPr>
          </a:p>
        </p:txBody>
      </p:sp>
      <p:sp>
        <p:nvSpPr>
          <p:cNvPr id="357" name="Google Shape;357;p8">
            <a:extLst xmlns:a="http://schemas.openxmlformats.org/drawingml/2006/main">
              <a:ext uri="{FF2B5EF4-FFF2-40B4-BE49-F238E27FC236}">
                <a16:creationId xmlns:a16="http://schemas.microsoft.com/office/drawing/2014/main" id="{26FF9B2A-0349-4D4B-B286-A5025948BBC5}"/>
              </a:ext>
            </a:extLst>
          </p:cNvPr>
          <p:cNvSpPr>
            <a:spLocks xmlns:a="http://schemas.openxmlformats.org/drawingml/2006/main" noGrp="1"/>
          </p:cNvSpPr>
          <p:nvPr/>
        </p:nvSpPr>
        <p:spPr>
          <a:xfrm xmlns:a="http://schemas.openxmlformats.org/drawingml/2006/main">
            <a:off x="10012680" y="2532960"/>
            <a:ext cx="110592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0.6378</a:t>
            </a:r>
            <a:endParaRPr sz="1300" b="0" i="0" u="none" strike="noStrike" cap="none">
              <a:solidFill>
                <a:srgbClr val="000000"/>
              </a:solidFill>
              <a:latin typeface="Arial"/>
              <a:ea typeface="Arial"/>
              <a:cs typeface="Arial"/>
            </a:endParaRPr>
          </a:p>
        </p:txBody>
      </p:sp>
      <p:sp>
        <p:nvSpPr>
          <p:cNvPr id="358" name="Google Shape;358;p8">
            <a:extLst xmlns:a="http://schemas.openxmlformats.org/drawingml/2006/main">
              <a:ext uri="{FF2B5EF4-FFF2-40B4-BE49-F238E27FC236}">
                <a16:creationId xmlns:a16="http://schemas.microsoft.com/office/drawing/2014/main" id="{5C9E753A-7FE1-481F-9DAD-18C03903521C}"/>
              </a:ext>
            </a:extLst>
          </p:cNvPr>
          <p:cNvSpPr>
            <a:spLocks xmlns:a="http://schemas.openxmlformats.org/drawingml/2006/main" noGrp="1"/>
          </p:cNvSpPr>
          <p:nvPr/>
        </p:nvSpPr>
        <p:spPr>
          <a:xfrm xmlns:a="http://schemas.openxmlformats.org/drawingml/2006/main">
            <a:off x="813960" y="3008520"/>
            <a:ext cx="3401280" cy="319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50" b="0" i="0" u="none" strike="noStrike" cap="none">
                <a:solidFill>
                  <a:srgbClr val="1C3138"/>
                </a:solidFill>
                <a:latin typeface="Arial"/>
                <a:ea typeface="Arial"/>
                <a:cs typeface="Arial"/>
              </a:rPr>
              <a:t>Logistic · L1</a:t>
            </a:r>
            <a:endParaRPr sz="1250" b="0" i="0" u="none" strike="noStrike" cap="none">
              <a:solidFill>
                <a:srgbClr val="000000"/>
              </a:solidFill>
              <a:latin typeface="Arial"/>
              <a:ea typeface="Arial"/>
              <a:cs typeface="Arial"/>
            </a:endParaRPr>
          </a:p>
        </p:txBody>
      </p:sp>
      <p:sp>
        <p:nvSpPr>
          <p:cNvPr id="359" name="Google Shape;359;p8">
            <a:extLst xmlns:a="http://schemas.openxmlformats.org/drawingml/2006/main">
              <a:ext uri="{FF2B5EF4-FFF2-40B4-BE49-F238E27FC236}">
                <a16:creationId xmlns:a16="http://schemas.microsoft.com/office/drawing/2014/main" id="{FEC12D62-AACD-4B03-9EB1-A68C43B53733}"/>
              </a:ext>
            </a:extLst>
          </p:cNvPr>
          <p:cNvSpPr>
            <a:spLocks xmlns:a="http://schemas.openxmlformats.org/drawingml/2006/main" noGrp="1"/>
          </p:cNvSpPr>
          <p:nvPr/>
        </p:nvSpPr>
        <p:spPr>
          <a:xfrm xmlns:a="http://schemas.openxmlformats.org/drawingml/2006/main">
            <a:off x="4389120" y="3108960"/>
            <a:ext cx="2861640" cy="12312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60" name="Google Shape;360;p8">
            <a:extLst xmlns:a="http://schemas.openxmlformats.org/drawingml/2006/main">
              <a:ext uri="{FF2B5EF4-FFF2-40B4-BE49-F238E27FC236}">
                <a16:creationId xmlns:a16="http://schemas.microsoft.com/office/drawing/2014/main" id="{7E7A01B1-E645-4A69-AF50-152DE67DB68B}"/>
              </a:ext>
            </a:extLst>
          </p:cNvPr>
          <p:cNvSpPr>
            <a:spLocks xmlns:a="http://schemas.openxmlformats.org/drawingml/2006/main" noGrp="1"/>
          </p:cNvSpPr>
          <p:nvPr/>
        </p:nvSpPr>
        <p:spPr>
          <a:xfrm xmlns:a="http://schemas.openxmlformats.org/drawingml/2006/main">
            <a:off x="4389120" y="3108960"/>
            <a:ext cx="2246465" cy="12312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61" name="Google Shape;361;p8">
            <a:extLst xmlns:a="http://schemas.openxmlformats.org/drawingml/2006/main">
              <a:ext uri="{FF2B5EF4-FFF2-40B4-BE49-F238E27FC236}">
                <a16:creationId xmlns:a16="http://schemas.microsoft.com/office/drawing/2014/main" id="{3A4A5B40-6B43-4F24-BC06-C28F94A2D390}"/>
              </a:ext>
            </a:extLst>
          </p:cNvPr>
          <p:cNvSpPr>
            <a:spLocks xmlns:a="http://schemas.openxmlformats.org/drawingml/2006/main" noGrp="1"/>
          </p:cNvSpPr>
          <p:nvPr/>
        </p:nvSpPr>
        <p:spPr>
          <a:xfrm xmlns:a="http://schemas.openxmlformats.org/drawingml/2006/main">
            <a:off x="7836480" y="2999160"/>
            <a:ext cx="111528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0.1570</a:t>
            </a:r>
            <a:endParaRPr sz="1300" b="0" i="0" u="none" strike="noStrike" cap="none">
              <a:solidFill>
                <a:srgbClr val="000000"/>
              </a:solidFill>
              <a:latin typeface="Arial"/>
              <a:ea typeface="Arial"/>
              <a:cs typeface="Arial"/>
            </a:endParaRPr>
          </a:p>
        </p:txBody>
      </p:sp>
      <p:sp>
        <p:nvSpPr>
          <p:cNvPr id="362" name="Google Shape;362;p8">
            <a:extLst xmlns:a="http://schemas.openxmlformats.org/drawingml/2006/main">
              <a:ext uri="{FF2B5EF4-FFF2-40B4-BE49-F238E27FC236}">
                <a16:creationId xmlns:a16="http://schemas.microsoft.com/office/drawing/2014/main" id="{93706C55-DCBF-4582-B7AF-80FD0AB47970}"/>
              </a:ext>
            </a:extLst>
          </p:cNvPr>
          <p:cNvSpPr>
            <a:spLocks xmlns:a="http://schemas.openxmlformats.org/drawingml/2006/main" noGrp="1"/>
          </p:cNvSpPr>
          <p:nvPr/>
        </p:nvSpPr>
        <p:spPr>
          <a:xfrm xmlns:a="http://schemas.openxmlformats.org/drawingml/2006/main">
            <a:off x="10012680" y="2999160"/>
            <a:ext cx="110592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0.6347</a:t>
            </a:r>
            <a:endParaRPr sz="1300" b="0" i="0" u="none" strike="noStrike" cap="none">
              <a:solidFill>
                <a:srgbClr val="000000"/>
              </a:solidFill>
              <a:latin typeface="Arial"/>
              <a:ea typeface="Arial"/>
              <a:cs typeface="Arial"/>
            </a:endParaRPr>
          </a:p>
        </p:txBody>
      </p:sp>
      <p:sp>
        <p:nvSpPr>
          <p:cNvPr id="363" name="Google Shape;363;p8">
            <a:extLst xmlns:a="http://schemas.openxmlformats.org/drawingml/2006/main">
              <a:ext uri="{FF2B5EF4-FFF2-40B4-BE49-F238E27FC236}">
                <a16:creationId xmlns:a16="http://schemas.microsoft.com/office/drawing/2014/main" id="{5088AC5D-A76D-483E-99B2-72A53B941C7F}"/>
              </a:ext>
            </a:extLst>
          </p:cNvPr>
          <p:cNvSpPr>
            <a:spLocks xmlns:a="http://schemas.openxmlformats.org/drawingml/2006/main" noGrp="1"/>
          </p:cNvSpPr>
          <p:nvPr/>
        </p:nvSpPr>
        <p:spPr>
          <a:xfrm xmlns:a="http://schemas.openxmlformats.org/drawingml/2006/main">
            <a:off x="813960" y="3474720"/>
            <a:ext cx="3401280" cy="319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50" b="0" i="0" u="none" strike="noStrike" cap="none">
                <a:solidFill>
                  <a:srgbClr val="1C3138"/>
                </a:solidFill>
                <a:latin typeface="Arial"/>
                <a:ea typeface="Arial"/>
                <a:cs typeface="Arial"/>
              </a:rPr>
              <a:t>Logistic · SVD</a:t>
            </a:r>
            <a:endParaRPr sz="1250" b="0" i="0" u="none" strike="noStrike" cap="none">
              <a:solidFill>
                <a:srgbClr val="000000"/>
              </a:solidFill>
              <a:latin typeface="Arial"/>
              <a:ea typeface="Arial"/>
              <a:cs typeface="Arial"/>
            </a:endParaRPr>
          </a:p>
        </p:txBody>
      </p:sp>
      <p:sp>
        <p:nvSpPr>
          <p:cNvPr id="364" name="Google Shape;364;p8">
            <a:extLst xmlns:a="http://schemas.openxmlformats.org/drawingml/2006/main">
              <a:ext uri="{FF2B5EF4-FFF2-40B4-BE49-F238E27FC236}">
                <a16:creationId xmlns:a16="http://schemas.microsoft.com/office/drawing/2014/main" id="{6166D5A9-D60F-4398-AD5B-548C2B56039D}"/>
              </a:ext>
            </a:extLst>
          </p:cNvPr>
          <p:cNvSpPr>
            <a:spLocks xmlns:a="http://schemas.openxmlformats.org/drawingml/2006/main" noGrp="1"/>
          </p:cNvSpPr>
          <p:nvPr/>
        </p:nvSpPr>
        <p:spPr>
          <a:xfrm xmlns:a="http://schemas.openxmlformats.org/drawingml/2006/main">
            <a:off x="4389120" y="3575160"/>
            <a:ext cx="2861640" cy="12312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65" name="Google Shape;365;p8">
            <a:extLst xmlns:a="http://schemas.openxmlformats.org/drawingml/2006/main">
              <a:ext uri="{FF2B5EF4-FFF2-40B4-BE49-F238E27FC236}">
                <a16:creationId xmlns:a16="http://schemas.microsoft.com/office/drawing/2014/main" id="{128A8A17-3D08-41F2-8BA8-D0212DA41B71}"/>
              </a:ext>
            </a:extLst>
          </p:cNvPr>
          <p:cNvSpPr>
            <a:spLocks xmlns:a="http://schemas.openxmlformats.org/drawingml/2006/main" noGrp="1"/>
          </p:cNvSpPr>
          <p:nvPr/>
        </p:nvSpPr>
        <p:spPr>
          <a:xfrm xmlns:a="http://schemas.openxmlformats.org/drawingml/2006/main">
            <a:off x="4389120" y="3575160"/>
            <a:ext cx="2052697" cy="12312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66" name="Google Shape;366;p8">
            <a:extLst xmlns:a="http://schemas.openxmlformats.org/drawingml/2006/main">
              <a:ext uri="{FF2B5EF4-FFF2-40B4-BE49-F238E27FC236}">
                <a16:creationId xmlns:a16="http://schemas.microsoft.com/office/drawing/2014/main" id="{D995727A-85CB-4F09-A736-D2E36F985DAD}"/>
              </a:ext>
            </a:extLst>
          </p:cNvPr>
          <p:cNvSpPr>
            <a:spLocks xmlns:a="http://schemas.openxmlformats.org/drawingml/2006/main" noGrp="1"/>
          </p:cNvSpPr>
          <p:nvPr/>
        </p:nvSpPr>
        <p:spPr>
          <a:xfrm xmlns:a="http://schemas.openxmlformats.org/drawingml/2006/main">
            <a:off x="7836480" y="3465720"/>
            <a:ext cx="111528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0.1435</a:t>
            </a:r>
            <a:endParaRPr sz="1300" b="0" i="0" u="none" strike="noStrike" cap="none">
              <a:solidFill>
                <a:srgbClr val="000000"/>
              </a:solidFill>
              <a:latin typeface="Arial"/>
              <a:ea typeface="Arial"/>
              <a:cs typeface="Arial"/>
            </a:endParaRPr>
          </a:p>
        </p:txBody>
      </p:sp>
      <p:sp>
        <p:nvSpPr>
          <p:cNvPr id="367" name="Google Shape;367;p8">
            <a:extLst xmlns:a="http://schemas.openxmlformats.org/drawingml/2006/main">
              <a:ext uri="{FF2B5EF4-FFF2-40B4-BE49-F238E27FC236}">
                <a16:creationId xmlns:a16="http://schemas.microsoft.com/office/drawing/2014/main" id="{99B65E3D-13C9-4871-A4FA-487F7A158EC6}"/>
              </a:ext>
            </a:extLst>
          </p:cNvPr>
          <p:cNvSpPr>
            <a:spLocks xmlns:a="http://schemas.openxmlformats.org/drawingml/2006/main" noGrp="1"/>
          </p:cNvSpPr>
          <p:nvPr/>
        </p:nvSpPr>
        <p:spPr>
          <a:xfrm xmlns:a="http://schemas.openxmlformats.org/drawingml/2006/main">
            <a:off x="10012680" y="3465720"/>
            <a:ext cx="110592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0.6226</a:t>
            </a:r>
            <a:endParaRPr sz="1300" b="0" i="0" u="none" strike="noStrike" cap="none">
              <a:solidFill>
                <a:srgbClr val="000000"/>
              </a:solidFill>
              <a:latin typeface="Arial"/>
              <a:ea typeface="Arial"/>
              <a:cs typeface="Arial"/>
            </a:endParaRPr>
          </a:p>
        </p:txBody>
      </p:sp>
      <p:sp>
        <p:nvSpPr>
          <p:cNvPr id="368" name="Google Shape;368;p8">
            <a:extLst xmlns:a="http://schemas.openxmlformats.org/drawingml/2006/main">
              <a:ext uri="{FF2B5EF4-FFF2-40B4-BE49-F238E27FC236}">
                <a16:creationId xmlns:a16="http://schemas.microsoft.com/office/drawing/2014/main" id="{5A92CC1A-8687-4703-B122-79134BA2A6AB}"/>
              </a:ext>
            </a:extLst>
          </p:cNvPr>
          <p:cNvSpPr>
            <a:spLocks xmlns:a="http://schemas.openxmlformats.org/drawingml/2006/main" noGrp="1"/>
          </p:cNvSpPr>
          <p:nvPr/>
        </p:nvSpPr>
        <p:spPr>
          <a:xfrm xmlns:a="http://schemas.openxmlformats.org/drawingml/2006/main">
            <a:off x="813960" y="3940920"/>
            <a:ext cx="3401280" cy="319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50" b="0" i="0" u="none" strike="noStrike" cap="none">
                <a:solidFill>
                  <a:srgbClr val="1C3138"/>
                </a:solidFill>
                <a:latin typeface="Arial"/>
                <a:ea typeface="Arial"/>
                <a:cs typeface="Arial"/>
              </a:rPr>
              <a:t>Tuned random forest</a:t>
            </a:r>
            <a:endParaRPr sz="1250" b="0" i="0" u="none" strike="noStrike" cap="none">
              <a:solidFill>
                <a:srgbClr val="000000"/>
              </a:solidFill>
              <a:latin typeface="Arial"/>
              <a:ea typeface="Arial"/>
              <a:cs typeface="Arial"/>
            </a:endParaRPr>
          </a:p>
        </p:txBody>
      </p:sp>
      <p:sp>
        <p:nvSpPr>
          <p:cNvPr id="369" name="Google Shape;369;p8">
            <a:extLst xmlns:a="http://schemas.openxmlformats.org/drawingml/2006/main">
              <a:ext uri="{FF2B5EF4-FFF2-40B4-BE49-F238E27FC236}">
                <a16:creationId xmlns:a16="http://schemas.microsoft.com/office/drawing/2014/main" id="{9DC8890D-1778-4857-8805-04E4057E9EEE}"/>
              </a:ext>
            </a:extLst>
          </p:cNvPr>
          <p:cNvSpPr>
            <a:spLocks xmlns:a="http://schemas.openxmlformats.org/drawingml/2006/main" noGrp="1"/>
          </p:cNvSpPr>
          <p:nvPr/>
        </p:nvSpPr>
        <p:spPr>
          <a:xfrm xmlns:a="http://schemas.openxmlformats.org/drawingml/2006/main">
            <a:off x="4389120" y="4041720"/>
            <a:ext cx="2861640" cy="12312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70" name="Google Shape;370;p8">
            <a:extLst xmlns:a="http://schemas.openxmlformats.org/drawingml/2006/main">
              <a:ext uri="{FF2B5EF4-FFF2-40B4-BE49-F238E27FC236}">
                <a16:creationId xmlns:a16="http://schemas.microsoft.com/office/drawing/2014/main" id="{FA01F057-FBAE-4995-905F-336ED162DF87}"/>
              </a:ext>
            </a:extLst>
          </p:cNvPr>
          <p:cNvSpPr>
            <a:spLocks xmlns:a="http://schemas.openxmlformats.org/drawingml/2006/main" noGrp="1"/>
          </p:cNvSpPr>
          <p:nvPr/>
        </p:nvSpPr>
        <p:spPr>
          <a:xfrm xmlns:a="http://schemas.openxmlformats.org/drawingml/2006/main">
            <a:off x="4389120" y="4041720"/>
            <a:ext cx="2357819" cy="12312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71" name="Google Shape;371;p8">
            <a:extLst xmlns:a="http://schemas.openxmlformats.org/drawingml/2006/main">
              <a:ext uri="{FF2B5EF4-FFF2-40B4-BE49-F238E27FC236}">
                <a16:creationId xmlns:a16="http://schemas.microsoft.com/office/drawing/2014/main" id="{65A36471-DD49-4C76-9399-C92338D1764E}"/>
              </a:ext>
            </a:extLst>
          </p:cNvPr>
          <p:cNvSpPr>
            <a:spLocks xmlns:a="http://schemas.openxmlformats.org/drawingml/2006/main" noGrp="1"/>
          </p:cNvSpPr>
          <p:nvPr/>
        </p:nvSpPr>
        <p:spPr>
          <a:xfrm xmlns:a="http://schemas.openxmlformats.org/drawingml/2006/main">
            <a:off x="7836480" y="3931920"/>
            <a:ext cx="111528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0.1648</a:t>
            </a:r>
            <a:endParaRPr sz="1300" b="0" i="0" u="none" strike="noStrike" cap="none">
              <a:solidFill>
                <a:srgbClr val="000000"/>
              </a:solidFill>
              <a:latin typeface="Arial"/>
              <a:ea typeface="Arial"/>
              <a:cs typeface="Arial"/>
            </a:endParaRPr>
          </a:p>
        </p:txBody>
      </p:sp>
      <p:sp>
        <p:nvSpPr>
          <p:cNvPr id="372" name="Google Shape;372;p8">
            <a:extLst xmlns:a="http://schemas.openxmlformats.org/drawingml/2006/main">
              <a:ext uri="{FF2B5EF4-FFF2-40B4-BE49-F238E27FC236}">
                <a16:creationId xmlns:a16="http://schemas.microsoft.com/office/drawing/2014/main" id="{E090DE64-C498-4D4C-86B8-77907413BA94}"/>
              </a:ext>
            </a:extLst>
          </p:cNvPr>
          <p:cNvSpPr>
            <a:spLocks xmlns:a="http://schemas.openxmlformats.org/drawingml/2006/main" noGrp="1"/>
          </p:cNvSpPr>
          <p:nvPr/>
        </p:nvSpPr>
        <p:spPr>
          <a:xfrm xmlns:a="http://schemas.openxmlformats.org/drawingml/2006/main">
            <a:off x="10012680" y="3931920"/>
            <a:ext cx="110592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0.6457</a:t>
            </a:r>
            <a:endParaRPr sz="1300" b="0" i="0" u="none" strike="noStrike" cap="none">
              <a:solidFill>
                <a:srgbClr val="000000"/>
              </a:solidFill>
              <a:latin typeface="Arial"/>
              <a:ea typeface="Arial"/>
              <a:cs typeface="Arial"/>
            </a:endParaRPr>
          </a:p>
        </p:txBody>
      </p:sp>
      <p:sp>
        <p:nvSpPr>
          <p:cNvPr id="373" name="Google Shape;373;p8">
            <a:extLst xmlns:a="http://schemas.openxmlformats.org/drawingml/2006/main">
              <a:ext uri="{FF2B5EF4-FFF2-40B4-BE49-F238E27FC236}">
                <a16:creationId xmlns:a16="http://schemas.microsoft.com/office/drawing/2014/main" id="{7DA94BB3-44CA-49F7-BC7E-A3AAD9A4F705}"/>
              </a:ext>
            </a:extLst>
          </p:cNvPr>
          <p:cNvSpPr>
            <a:spLocks xmlns:a="http://schemas.openxmlformats.org/drawingml/2006/main" noGrp="1"/>
          </p:cNvSpPr>
          <p:nvPr/>
        </p:nvSpPr>
        <p:spPr>
          <a:xfrm xmlns:a="http://schemas.openxmlformats.org/drawingml/2006/main">
            <a:off x="813960" y="4407480"/>
            <a:ext cx="3401280" cy="319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50" b="0" i="0" u="none" strike="noStrike" cap="none">
                <a:solidFill>
                  <a:srgbClr val="1C3138"/>
                </a:solidFill>
                <a:latin typeface="Arial"/>
                <a:ea typeface="Arial"/>
                <a:cs typeface="Arial"/>
              </a:rPr>
              <a:t>Original gradient boosting</a:t>
            </a:r>
            <a:endParaRPr sz="1250" b="0" i="0" u="none" strike="noStrike" cap="none">
              <a:solidFill>
                <a:srgbClr val="000000"/>
              </a:solidFill>
              <a:latin typeface="Arial"/>
              <a:ea typeface="Arial"/>
              <a:cs typeface="Arial"/>
            </a:endParaRPr>
          </a:p>
        </p:txBody>
      </p:sp>
      <p:sp>
        <p:nvSpPr>
          <p:cNvPr id="374" name="Google Shape;374;p8">
            <a:extLst xmlns:a="http://schemas.openxmlformats.org/drawingml/2006/main">
              <a:ext uri="{FF2B5EF4-FFF2-40B4-BE49-F238E27FC236}">
                <a16:creationId xmlns:a16="http://schemas.microsoft.com/office/drawing/2014/main" id="{D6164941-3F32-4819-A796-F33AEDF03730}"/>
              </a:ext>
            </a:extLst>
          </p:cNvPr>
          <p:cNvSpPr>
            <a:spLocks xmlns:a="http://schemas.openxmlformats.org/drawingml/2006/main" noGrp="1"/>
          </p:cNvSpPr>
          <p:nvPr/>
        </p:nvSpPr>
        <p:spPr>
          <a:xfrm xmlns:a="http://schemas.openxmlformats.org/drawingml/2006/main">
            <a:off x="4389120" y="4507920"/>
            <a:ext cx="2861640" cy="12312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75" name="Google Shape;375;p8">
            <a:extLst xmlns:a="http://schemas.openxmlformats.org/drawingml/2006/main">
              <a:ext uri="{FF2B5EF4-FFF2-40B4-BE49-F238E27FC236}">
                <a16:creationId xmlns:a16="http://schemas.microsoft.com/office/drawing/2014/main" id="{22F5019C-5C6C-4E98-9614-F2ABD0DFF464}"/>
              </a:ext>
            </a:extLst>
          </p:cNvPr>
          <p:cNvSpPr>
            <a:spLocks xmlns:a="http://schemas.openxmlformats.org/drawingml/2006/main" noGrp="1"/>
          </p:cNvSpPr>
          <p:nvPr/>
        </p:nvSpPr>
        <p:spPr>
          <a:xfrm xmlns:a="http://schemas.openxmlformats.org/drawingml/2006/main">
            <a:off x="4389120" y="4507920"/>
            <a:ext cx="2467025" cy="12312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76" name="Google Shape;376;p8">
            <a:extLst xmlns:a="http://schemas.openxmlformats.org/drawingml/2006/main">
              <a:ext uri="{FF2B5EF4-FFF2-40B4-BE49-F238E27FC236}">
                <a16:creationId xmlns:a16="http://schemas.microsoft.com/office/drawing/2014/main" id="{8A2B514A-7D50-45D2-B858-2781B33AC3AA}"/>
              </a:ext>
            </a:extLst>
          </p:cNvPr>
          <p:cNvSpPr>
            <a:spLocks xmlns:a="http://schemas.openxmlformats.org/drawingml/2006/main" noGrp="1"/>
          </p:cNvSpPr>
          <p:nvPr/>
        </p:nvSpPr>
        <p:spPr>
          <a:xfrm xmlns:a="http://schemas.openxmlformats.org/drawingml/2006/main">
            <a:off x="7836480" y="4398120"/>
            <a:ext cx="111528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0.1724</a:t>
            </a:r>
            <a:endParaRPr sz="1300" b="0" i="0" u="none" strike="noStrike" cap="none">
              <a:solidFill>
                <a:srgbClr val="000000"/>
              </a:solidFill>
              <a:latin typeface="Arial"/>
              <a:ea typeface="Arial"/>
              <a:cs typeface="Arial"/>
            </a:endParaRPr>
          </a:p>
        </p:txBody>
      </p:sp>
      <p:sp>
        <p:nvSpPr>
          <p:cNvPr id="377" name="Google Shape;377;p8">
            <a:extLst xmlns:a="http://schemas.openxmlformats.org/drawingml/2006/main">
              <a:ext uri="{FF2B5EF4-FFF2-40B4-BE49-F238E27FC236}">
                <a16:creationId xmlns:a16="http://schemas.microsoft.com/office/drawing/2014/main" id="{6942A9DF-4F7C-4D7F-B322-6AAABAB8919A}"/>
              </a:ext>
            </a:extLst>
          </p:cNvPr>
          <p:cNvSpPr>
            <a:spLocks xmlns:a="http://schemas.openxmlformats.org/drawingml/2006/main" noGrp="1"/>
          </p:cNvSpPr>
          <p:nvPr/>
        </p:nvSpPr>
        <p:spPr>
          <a:xfrm xmlns:a="http://schemas.openxmlformats.org/drawingml/2006/main">
            <a:off x="10012680" y="4398120"/>
            <a:ext cx="110592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0.6448</a:t>
            </a:r>
            <a:endParaRPr sz="1300" b="0" i="0" u="none" strike="noStrike" cap="none">
              <a:solidFill>
                <a:srgbClr val="000000"/>
              </a:solidFill>
              <a:latin typeface="Arial"/>
              <a:ea typeface="Arial"/>
              <a:cs typeface="Arial"/>
            </a:endParaRPr>
          </a:p>
        </p:txBody>
      </p:sp>
      <p:sp>
        <p:nvSpPr>
          <p:cNvPr id="378" name="Google Shape;378;p8">
            <a:extLst xmlns:a="http://schemas.openxmlformats.org/drawingml/2006/main">
              <a:ext uri="{FF2B5EF4-FFF2-40B4-BE49-F238E27FC236}">
                <a16:creationId xmlns:a16="http://schemas.microsoft.com/office/drawing/2014/main" id="{2C0EB118-B447-42AF-A605-02567D1A1CBE}"/>
              </a:ext>
            </a:extLst>
          </p:cNvPr>
          <p:cNvSpPr>
            <a:spLocks xmlns:a="http://schemas.openxmlformats.org/drawingml/2006/main" noGrp="1"/>
          </p:cNvSpPr>
          <p:nvPr/>
        </p:nvSpPr>
        <p:spPr>
          <a:xfrm xmlns:a="http://schemas.openxmlformats.org/drawingml/2006/main">
            <a:off x="704160" y="4860000"/>
            <a:ext cx="10661400" cy="43848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79" name="Google Shape;379;p8">
            <a:extLst xmlns:a="http://schemas.openxmlformats.org/drawingml/2006/main">
              <a:ext uri="{FF2B5EF4-FFF2-40B4-BE49-F238E27FC236}">
                <a16:creationId xmlns:a16="http://schemas.microsoft.com/office/drawing/2014/main" id="{487F0ED8-1CEE-4887-BE51-84149C9DF058}"/>
              </a:ext>
            </a:extLst>
          </p:cNvPr>
          <p:cNvSpPr>
            <a:spLocks xmlns:a="http://schemas.openxmlformats.org/drawingml/2006/main" noGrp="1"/>
          </p:cNvSpPr>
          <p:nvPr/>
        </p:nvSpPr>
        <p:spPr>
          <a:xfrm xmlns:a="http://schemas.openxmlformats.org/drawingml/2006/main">
            <a:off x="813960" y="4873680"/>
            <a:ext cx="3401280" cy="319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50" b="1" i="0" u="none" strike="noStrike" cap="none">
                <a:solidFill>
                  <a:srgbClr val="1C3138"/>
                </a:solidFill>
                <a:latin typeface="Arial"/>
                <a:ea typeface="Arial"/>
                <a:cs typeface="Arial"/>
              </a:rPr>
              <a:t>Tuned gradient boosting</a:t>
            </a:r>
            <a:endParaRPr sz="1250" b="0" i="0" u="none" strike="noStrike" cap="none">
              <a:solidFill>
                <a:srgbClr val="000000"/>
              </a:solidFill>
              <a:latin typeface="Arial"/>
              <a:ea typeface="Arial"/>
              <a:cs typeface="Arial"/>
            </a:endParaRPr>
          </a:p>
        </p:txBody>
      </p:sp>
      <p:sp>
        <p:nvSpPr>
          <p:cNvPr id="380" name="Google Shape;380;p8">
            <a:extLst xmlns:a="http://schemas.openxmlformats.org/drawingml/2006/main">
              <a:ext uri="{FF2B5EF4-FFF2-40B4-BE49-F238E27FC236}">
                <a16:creationId xmlns:a16="http://schemas.microsoft.com/office/drawing/2014/main" id="{6B5A3C2E-9C25-4D64-B630-BCF88D11632D}"/>
              </a:ext>
            </a:extLst>
          </p:cNvPr>
          <p:cNvSpPr>
            <a:spLocks xmlns:a="http://schemas.openxmlformats.org/drawingml/2006/main" noGrp="1"/>
          </p:cNvSpPr>
          <p:nvPr/>
        </p:nvSpPr>
        <p:spPr>
          <a:xfrm xmlns:a="http://schemas.openxmlformats.org/drawingml/2006/main">
            <a:off x="4389120" y="4974480"/>
            <a:ext cx="2861640" cy="12312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81" name="Google Shape;381;p8">
            <a:extLst xmlns:a="http://schemas.openxmlformats.org/drawingml/2006/main">
              <a:ext uri="{FF2B5EF4-FFF2-40B4-BE49-F238E27FC236}">
                <a16:creationId xmlns:a16="http://schemas.microsoft.com/office/drawing/2014/main" id="{F2FECBC6-7901-4F4A-B33F-B2A33C94416D}"/>
              </a:ext>
            </a:extLst>
          </p:cNvPr>
          <p:cNvSpPr>
            <a:spLocks xmlns:a="http://schemas.openxmlformats.org/drawingml/2006/main" noGrp="1"/>
          </p:cNvSpPr>
          <p:nvPr/>
        </p:nvSpPr>
        <p:spPr>
          <a:xfrm xmlns:a="http://schemas.openxmlformats.org/drawingml/2006/main">
            <a:off x="4389120" y="4974480"/>
            <a:ext cx="2426336" cy="12312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82" name="Google Shape;382;p8">
            <a:extLst xmlns:a="http://schemas.openxmlformats.org/drawingml/2006/main">
              <a:ext uri="{FF2B5EF4-FFF2-40B4-BE49-F238E27FC236}">
                <a16:creationId xmlns:a16="http://schemas.microsoft.com/office/drawing/2014/main" id="{61C9D4C8-7474-44B7-893A-B7DCEC60D79D}"/>
              </a:ext>
            </a:extLst>
          </p:cNvPr>
          <p:cNvSpPr>
            <a:spLocks xmlns:a="http://schemas.openxmlformats.org/drawingml/2006/main" noGrp="1"/>
          </p:cNvSpPr>
          <p:nvPr/>
        </p:nvSpPr>
        <p:spPr>
          <a:xfrm xmlns:a="http://schemas.openxmlformats.org/drawingml/2006/main">
            <a:off x="7836480" y="4864680"/>
            <a:ext cx="111528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1" i="0" u="none" strike="noStrike" cap="none">
                <a:solidFill>
                  <a:srgbClr val="397A7C"/>
                </a:solidFill>
                <a:latin typeface="Arial"/>
                <a:ea typeface="Arial"/>
                <a:cs typeface="Arial"/>
              </a:rPr>
              <a:t>0.1696</a:t>
            </a:r>
            <a:endParaRPr sz="1300" b="0" i="0" u="none" strike="noStrike" cap="none">
              <a:solidFill>
                <a:srgbClr val="000000"/>
              </a:solidFill>
              <a:latin typeface="Arial"/>
              <a:ea typeface="Arial"/>
              <a:cs typeface="Arial"/>
            </a:endParaRPr>
          </a:p>
        </p:txBody>
      </p:sp>
      <p:sp>
        <p:nvSpPr>
          <p:cNvPr id="383" name="Google Shape;383;p8">
            <a:extLst xmlns:a="http://schemas.openxmlformats.org/drawingml/2006/main">
              <a:ext uri="{FF2B5EF4-FFF2-40B4-BE49-F238E27FC236}">
                <a16:creationId xmlns:a16="http://schemas.microsoft.com/office/drawing/2014/main" id="{F6810B37-7139-4AA6-AE50-DC83FF99E038}"/>
              </a:ext>
            </a:extLst>
          </p:cNvPr>
          <p:cNvSpPr>
            <a:spLocks xmlns:a="http://schemas.openxmlformats.org/drawingml/2006/main" noGrp="1"/>
          </p:cNvSpPr>
          <p:nvPr/>
        </p:nvSpPr>
        <p:spPr>
          <a:xfrm xmlns:a="http://schemas.openxmlformats.org/drawingml/2006/main">
            <a:off x="10012680" y="4864680"/>
            <a:ext cx="110592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1" i="0" u="none" strike="noStrike" cap="none">
                <a:solidFill>
                  <a:srgbClr val="397A7C"/>
                </a:solidFill>
                <a:latin typeface="Arial"/>
                <a:ea typeface="Arial"/>
                <a:cs typeface="Arial"/>
              </a:rPr>
              <a:t>0.6454</a:t>
            </a:r>
            <a:endParaRPr sz="1300" b="0" i="0" u="none" strike="noStrike" cap="none">
              <a:solidFill>
                <a:srgbClr val="000000"/>
              </a:solidFill>
              <a:latin typeface="Arial"/>
              <a:ea typeface="Arial"/>
              <a:cs typeface="Arial"/>
            </a:endParaRPr>
          </a:p>
        </p:txBody>
      </p:sp>
      <p:sp>
        <p:nvSpPr>
          <p:cNvPr id="384" name="Google Shape;384;p8">
            <a:extLst xmlns:a="http://schemas.openxmlformats.org/drawingml/2006/main">
              <a:ext uri="{FF2B5EF4-FFF2-40B4-BE49-F238E27FC236}">
                <a16:creationId xmlns:a16="http://schemas.microsoft.com/office/drawing/2014/main" id="{BD05A2A2-452F-4D40-97C1-5AD7A73EAA1E}"/>
              </a:ext>
            </a:extLst>
          </p:cNvPr>
          <p:cNvSpPr>
            <a:spLocks xmlns:a="http://schemas.openxmlformats.org/drawingml/2006/main" noGrp="1"/>
          </p:cNvSpPr>
          <p:nvPr/>
        </p:nvSpPr>
        <p:spPr>
          <a:xfrm xmlns:a="http://schemas.openxmlformats.org/drawingml/2006/main">
            <a:off x="667440" y="5833800"/>
            <a:ext cx="10899360" cy="42012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85" name="Google Shape;385;p8">
            <a:extLst xmlns:a="http://schemas.openxmlformats.org/drawingml/2006/main">
              <a:ext uri="{FF2B5EF4-FFF2-40B4-BE49-F238E27FC236}">
                <a16:creationId xmlns:a16="http://schemas.microsoft.com/office/drawing/2014/main" id="{E6F35B31-7279-4FD4-8479-C8D1F76DCD68}"/>
              </a:ext>
            </a:extLst>
          </p:cNvPr>
          <p:cNvSpPr>
            <a:spLocks xmlns:a="http://schemas.openxmlformats.org/drawingml/2006/main" noGrp="1"/>
          </p:cNvSpPr>
          <p:nvPr/>
        </p:nvSpPr>
        <p:spPr>
          <a:xfrm xmlns:a="http://schemas.openxmlformats.org/drawingml/2006/main">
            <a:off x="667440" y="5833800"/>
            <a:ext cx="50040" cy="42012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86" name="Google Shape;386;p8">
            <a:extLst xmlns:a="http://schemas.openxmlformats.org/drawingml/2006/main">
              <a:ext uri="{FF2B5EF4-FFF2-40B4-BE49-F238E27FC236}">
                <a16:creationId xmlns:a16="http://schemas.microsoft.com/office/drawing/2014/main" id="{6D74D58B-DD98-43A7-9D18-750505E60F85}"/>
              </a:ext>
            </a:extLst>
          </p:cNvPr>
          <p:cNvSpPr>
            <a:spLocks xmlns:a="http://schemas.openxmlformats.org/drawingml/2006/main" noGrp="1"/>
          </p:cNvSpPr>
          <p:nvPr/>
        </p:nvSpPr>
        <p:spPr>
          <a:xfrm xmlns:a="http://schemas.openxmlformats.org/drawingml/2006/main">
            <a:off x="868680" y="5906880"/>
            <a:ext cx="10478520" cy="2207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1C3138"/>
                </a:solidFill>
                <a:latin typeface="Arial"/>
                <a:ea typeface="Arial"/>
                <a:cs typeface="Arial"/>
              </a:rPr>
              <a:t>Tuning reduced the train–validation AP gap from 0.0967 to 0.0679. Leading validation scores remain close.</a:t>
            </a:r>
            <a:endParaRPr sz="115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40267118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92" name="Google Shape;392;p9">
            <a:extLst xmlns:a="http://schemas.openxmlformats.org/drawingml/2006/main">
              <a:ext uri="{FF2B5EF4-FFF2-40B4-BE49-F238E27FC236}">
                <a16:creationId xmlns:a16="http://schemas.microsoft.com/office/drawing/2014/main" id="{FA7EACC4-CF40-4C60-AFFA-7081641E7665}"/>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F9F8F5"/>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93" name="Google Shape;393;p9">
            <a:extLst xmlns:a="http://schemas.openxmlformats.org/drawingml/2006/main">
              <a:ext uri="{FF2B5EF4-FFF2-40B4-BE49-F238E27FC236}">
                <a16:creationId xmlns:a16="http://schemas.microsoft.com/office/drawing/2014/main" id="{6DD326C5-0CC9-4DEA-915C-36D39C64CB8D}"/>
              </a:ext>
            </a:extLst>
          </p:cNvPr>
          <p:cNvSpPr>
            <a:spLocks xmlns:a="http://schemas.openxmlformats.org/drawingml/2006/main" noGrp="1"/>
          </p:cNvSpPr>
          <p:nvPr/>
        </p:nvSpPr>
        <p:spPr>
          <a:xfrm xmlns:a="http://schemas.openxmlformats.org/drawingml/2006/main">
            <a:off x="493920" y="365760"/>
            <a:ext cx="109440" cy="109440"/>
          </a:xfrm>
          <a:prstGeom xmlns:a="http://schemas.openxmlformats.org/drawingml/2006/main" prst="ellipse">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32750" rIns="90000" bIns="327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394" name="Google Shape;394;p9">
            <a:extLst xmlns:a="http://schemas.openxmlformats.org/drawingml/2006/main">
              <a:ext uri="{FF2B5EF4-FFF2-40B4-BE49-F238E27FC236}">
                <a16:creationId xmlns:a16="http://schemas.microsoft.com/office/drawing/2014/main" id="{DE4E748A-D2E2-467B-A10F-2F0CAEF5CF00}"/>
              </a:ext>
            </a:extLst>
          </p:cNvPr>
          <p:cNvSpPr>
            <a:spLocks xmlns:a="http://schemas.openxmlformats.org/drawingml/2006/main" noGrp="1"/>
          </p:cNvSpPr>
          <p:nvPr/>
        </p:nvSpPr>
        <p:spPr>
          <a:xfrm xmlns:a="http://schemas.openxmlformats.org/drawingml/2006/main">
            <a:off x="685800" y="301680"/>
            <a:ext cx="51202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900" b="1" i="0" u="none" strike="noStrike" cap="none">
                <a:solidFill>
                  <a:srgbClr val="66757B"/>
                </a:solidFill>
                <a:latin typeface="Arial"/>
                <a:ea typeface="Arial"/>
                <a:cs typeface="Arial"/>
              </a:rPr>
              <a:t>DECISION SCIENCE  /  CAPSTONE 2026</a:t>
            </a:r>
            <a:endParaRPr sz="900" b="0" i="0" u="none" strike="noStrike" cap="none">
              <a:solidFill>
                <a:srgbClr val="000000"/>
              </a:solidFill>
              <a:latin typeface="Arial"/>
              <a:ea typeface="Arial"/>
              <a:cs typeface="Arial"/>
            </a:endParaRPr>
          </a:p>
        </p:txBody>
      </p:sp>
      <p:sp>
        <p:nvSpPr>
          <p:cNvPr id="395" name="Google Shape;395;p9">
            <a:extLst xmlns:a="http://schemas.openxmlformats.org/drawingml/2006/main">
              <a:ext uri="{FF2B5EF4-FFF2-40B4-BE49-F238E27FC236}">
                <a16:creationId xmlns:a16="http://schemas.microsoft.com/office/drawing/2014/main" id="{EF883E6A-F124-4A96-8A07-FD8748A32BA6}"/>
              </a:ext>
            </a:extLst>
          </p:cNvPr>
          <p:cNvSpPr>
            <a:spLocks xmlns:a="http://schemas.openxmlformats.org/drawingml/2006/main" noGrp="1"/>
          </p:cNvSpPr>
          <p:nvPr/>
        </p:nvSpPr>
        <p:spPr>
          <a:xfrm xmlns:a="http://schemas.openxmlformats.org/drawingml/2006/main">
            <a:off x="7434000" y="311040"/>
            <a:ext cx="415116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66757B"/>
                </a:solidFill>
                <a:latin typeface="Arial"/>
                <a:ea typeface="Arial"/>
                <a:cs typeface="Arial"/>
              </a:rPr>
              <a:t>04  /  HELD-OUT EVALUATION</a:t>
            </a:r>
            <a:endParaRPr sz="900" b="0" i="0" u="none" strike="noStrike" cap="none">
              <a:solidFill>
                <a:srgbClr val="000000"/>
              </a:solidFill>
              <a:latin typeface="Arial"/>
              <a:ea typeface="Arial"/>
              <a:cs typeface="Arial"/>
            </a:endParaRPr>
          </a:p>
        </p:txBody>
      </p:sp>
      <p:sp>
        <p:nvSpPr>
          <p:cNvPr id="396" name="Google Shape;396;p9">
            <a:extLst xmlns:a="http://schemas.openxmlformats.org/drawingml/2006/main">
              <a:ext uri="{FF2B5EF4-FFF2-40B4-BE49-F238E27FC236}">
                <a16:creationId xmlns:a16="http://schemas.microsoft.com/office/drawing/2014/main" id="{38363E2C-28DF-4137-AE69-59F44041687D}"/>
              </a:ext>
            </a:extLst>
          </p:cNvPr>
          <p:cNvSpPr>
            <a:spLocks xmlns:a="http://schemas.openxmlformats.org/drawingml/2006/main" noGrp="1"/>
          </p:cNvSpPr>
          <p:nvPr/>
        </p:nvSpPr>
        <p:spPr>
          <a:xfrm xmlns:a="http://schemas.openxmlformats.org/drawingml/2006/main">
            <a:off x="612720" y="713160"/>
            <a:ext cx="10972440" cy="630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900" b="1" i="0" u="none" strike="noStrike" cap="none">
                <a:solidFill>
                  <a:srgbClr val="1C3138"/>
                </a:solidFill>
                <a:latin typeface="Georgia"/>
                <a:ea typeface="Georgia"/>
                <a:cs typeface="Georgia"/>
              </a:rPr>
              <a:t>Test performance shows a modest ranking signal</a:t>
            </a:r>
            <a:endParaRPr sz="2900" b="0" i="0" u="none" strike="noStrike" cap="none">
              <a:solidFill>
                <a:srgbClr val="000000"/>
              </a:solidFill>
              <a:latin typeface="Arial"/>
              <a:ea typeface="Arial"/>
              <a:cs typeface="Arial"/>
            </a:endParaRPr>
          </a:p>
        </p:txBody>
      </p:sp>
      <p:cxnSp>
        <p:nvCxnSpPr>
          <p:cNvPr id="397" name="Google Shape;397;p9">
            <a:extLst xmlns:a="http://schemas.openxmlformats.org/drawingml/2006/main">
              <a:ext uri="{FF2B5EF4-FFF2-40B4-BE49-F238E27FC236}">
                <a16:creationId xmlns:a16="http://schemas.microsoft.com/office/drawing/2014/main" id="{89E9E9A5-39D2-46D5-8E57-3ADE5421A91C}"/>
              </a:ext>
            </a:extLst>
          </p:cNvPr>
          <p:cNvCxnSpPr/>
          <p:nvPr/>
        </p:nvCxnSpPr>
        <p:spPr>
          <a:xfrm xmlns:a="http://schemas.openxmlformats.org/drawingml/2006/main">
            <a:off x="640080" y="1453680"/>
            <a:ext cx="10918080" cy="360"/>
          </a:xfrm>
          <a:prstGeom xmlns:a="http://schemas.openxmlformats.org/drawingml/2006/main" prst="straightConnector1">
            <a:avLst/>
          </a:prstGeom>
          <a:ln xmlns:a="http://schemas.openxmlformats.org/drawingml/2006/main" w="15875" cap="flat">
            <a:solidFill>
              <a:srgbClr val="1C3138"/>
            </a:solidFill>
            <a:prstDash val="solid"/>
            <a:round/>
            <a:headEnd type="none" w="sm" len="sm"/>
            <a:tailEnd type="none" w="sm" len="sm"/>
          </a:ln>
        </p:spPr>
      </p:cxnSp>
      <p:cxnSp>
        <p:nvCxnSpPr>
          <p:cNvPr id="398" name="Google Shape;398;p9">
            <a:extLst xmlns:a="http://schemas.openxmlformats.org/drawingml/2006/main">
              <a:ext uri="{FF2B5EF4-FFF2-40B4-BE49-F238E27FC236}">
                <a16:creationId xmlns:a16="http://schemas.microsoft.com/office/drawing/2014/main" id="{560E259B-8FB8-4535-90BA-6A7AE02D1B53}"/>
              </a:ext>
            </a:extLst>
          </p:cNvPr>
          <p:cNvCxnSpPr/>
          <p:nvPr/>
        </p:nvCxnSpPr>
        <p:spPr>
          <a:xfrm xmlns:a="http://schemas.openxmlformats.org/drawingml/2006/main">
            <a:off x="630720" y="6464520"/>
            <a:ext cx="10927440" cy="360"/>
          </a:xfrm>
          <a:prstGeom xmlns:a="http://schemas.openxmlformats.org/drawingml/2006/main" prst="straightConnector1">
            <a:avLst/>
          </a:prstGeom>
          <a:ln xmlns:a="http://schemas.openxmlformats.org/drawingml/2006/main" w="10150" cap="flat">
            <a:solidFill>
              <a:srgbClr val="D6DEDA"/>
            </a:solidFill>
            <a:prstDash val="solid"/>
            <a:round/>
            <a:headEnd type="none" w="sm" len="sm"/>
            <a:tailEnd type="none" w="sm" len="sm"/>
          </a:ln>
        </p:spPr>
      </p:cxnSp>
      <p:sp>
        <p:nvSpPr>
          <p:cNvPr id="399" name="Google Shape;399;p9">
            <a:extLst xmlns:a="http://schemas.openxmlformats.org/drawingml/2006/main">
              <a:ext uri="{FF2B5EF4-FFF2-40B4-BE49-F238E27FC236}">
                <a16:creationId xmlns:a16="http://schemas.microsoft.com/office/drawing/2014/main" id="{29E9C48B-1614-4E41-BF46-DBE00F5BCD29}"/>
              </a:ext>
            </a:extLst>
          </p:cNvPr>
          <p:cNvSpPr>
            <a:spLocks xmlns:a="http://schemas.openxmlformats.org/drawingml/2006/main" noGrp="1"/>
          </p:cNvSpPr>
          <p:nvPr/>
        </p:nvSpPr>
        <p:spPr>
          <a:xfrm xmlns:a="http://schemas.openxmlformats.org/drawingml/2006/main">
            <a:off x="649080" y="6519600"/>
            <a:ext cx="10496880" cy="200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800" b="0" i="0" u="none" strike="noStrike" cap="none">
                <a:solidFill>
                  <a:srgbClr val="66757B"/>
                </a:solidFill>
                <a:latin typeface="Arial"/>
                <a:ea typeface="Arial"/>
                <a:cs typeface="Arial"/>
              </a:rPr>
              <a:t>Notebook 06 · Test set of 10,496 patients, 942 readmissions; fixed model and policies</a:t>
            </a:r>
            <a:endParaRPr sz="800" b="0" i="0" u="none" strike="noStrike" cap="none">
              <a:solidFill>
                <a:srgbClr val="000000"/>
              </a:solidFill>
              <a:latin typeface="Arial"/>
              <a:ea typeface="Arial"/>
              <a:cs typeface="Arial"/>
            </a:endParaRPr>
          </a:p>
        </p:txBody>
      </p:sp>
      <p:sp>
        <p:nvSpPr>
          <p:cNvPr id="400" name="Google Shape;400;p9">
            <a:extLst xmlns:a="http://schemas.openxmlformats.org/drawingml/2006/main">
              <a:ext uri="{FF2B5EF4-FFF2-40B4-BE49-F238E27FC236}">
                <a16:creationId xmlns:a16="http://schemas.microsoft.com/office/drawing/2014/main" id="{C3F9DFBE-6A6D-4F8A-9AEA-B333B9D0964F}"/>
              </a:ext>
            </a:extLst>
          </p:cNvPr>
          <p:cNvSpPr>
            <a:spLocks xmlns:a="http://schemas.openxmlformats.org/drawingml/2006/main" noGrp="1"/>
          </p:cNvSpPr>
          <p:nvPr/>
        </p:nvSpPr>
        <p:spPr>
          <a:xfrm xmlns:a="http://schemas.openxmlformats.org/drawingml/2006/main">
            <a:off x="11137320" y="6501240"/>
            <a:ext cx="4384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1C3138"/>
                </a:solidFill>
                <a:latin typeface="Arial"/>
                <a:ea typeface="Arial"/>
                <a:cs typeface="Arial"/>
              </a:rPr>
              <a:t>09</a:t>
            </a:r>
            <a:endParaRPr sz="900" b="0" i="0" u="none" strike="noStrike" cap="none">
              <a:solidFill>
                <a:srgbClr val="000000"/>
              </a:solidFill>
              <a:latin typeface="Arial"/>
              <a:ea typeface="Arial"/>
              <a:cs typeface="Arial"/>
            </a:endParaRPr>
          </a:p>
        </p:txBody>
      </p:sp>
      <p:cxnSp>
        <p:nvCxnSpPr>
          <p:cNvPr id="401" name="Google Shape;401;p9">
            <a:extLst xmlns:a="http://schemas.openxmlformats.org/drawingml/2006/main">
              <a:ext uri="{FF2B5EF4-FFF2-40B4-BE49-F238E27FC236}">
                <a16:creationId xmlns:a16="http://schemas.microsoft.com/office/drawing/2014/main" id="{6FA763FE-B3A1-411F-82F4-C801734C3348}"/>
              </a:ext>
            </a:extLst>
          </p:cNvPr>
          <p:cNvCxnSpPr/>
          <p:nvPr/>
        </p:nvCxnSpPr>
        <p:spPr>
          <a:xfrm xmlns:a="http://schemas.openxmlformats.org/drawingml/2006/main">
            <a:off x="777240" y="1910880"/>
            <a:ext cx="317304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402" name="Google Shape;402;p9">
            <a:extLst xmlns:a="http://schemas.openxmlformats.org/drawingml/2006/main">
              <a:ext uri="{FF2B5EF4-FFF2-40B4-BE49-F238E27FC236}">
                <a16:creationId xmlns:a16="http://schemas.microsoft.com/office/drawing/2014/main" id="{B1194FBB-6D4B-4A6B-9FBD-EE9C613C81C9}"/>
              </a:ext>
            </a:extLst>
          </p:cNvPr>
          <p:cNvSpPr>
            <a:spLocks xmlns:a="http://schemas.openxmlformats.org/drawingml/2006/main" noGrp="1"/>
          </p:cNvSpPr>
          <p:nvPr/>
        </p:nvSpPr>
        <p:spPr>
          <a:xfrm xmlns:a="http://schemas.openxmlformats.org/drawingml/2006/main">
            <a:off x="777240" y="2075760"/>
            <a:ext cx="3172680" cy="575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3400" b="1" i="0" u="none" strike="noStrike" cap="none">
                <a:solidFill>
                  <a:srgbClr val="397A7C"/>
                </a:solidFill>
                <a:latin typeface="Arial"/>
                <a:ea typeface="Arial"/>
                <a:cs typeface="Arial"/>
              </a:rPr>
              <a:t>0.1866</a:t>
            </a:r>
            <a:endParaRPr sz="3400" b="0" i="0" u="none" strike="noStrike" cap="none">
              <a:solidFill>
                <a:srgbClr val="000000"/>
              </a:solidFill>
              <a:latin typeface="Arial"/>
              <a:ea typeface="Arial"/>
              <a:cs typeface="Arial"/>
            </a:endParaRPr>
          </a:p>
        </p:txBody>
      </p:sp>
      <p:sp>
        <p:nvSpPr>
          <p:cNvPr id="403" name="Google Shape;403;p9">
            <a:extLst xmlns:a="http://schemas.openxmlformats.org/drawingml/2006/main">
              <a:ext uri="{FF2B5EF4-FFF2-40B4-BE49-F238E27FC236}">
                <a16:creationId xmlns:a16="http://schemas.microsoft.com/office/drawing/2014/main" id="{8CB24909-BAE8-4FB4-9E45-61A80CB07DEE}"/>
              </a:ext>
            </a:extLst>
          </p:cNvPr>
          <p:cNvSpPr>
            <a:spLocks xmlns:a="http://schemas.openxmlformats.org/drawingml/2006/main" noGrp="1"/>
          </p:cNvSpPr>
          <p:nvPr/>
        </p:nvSpPr>
        <p:spPr>
          <a:xfrm xmlns:a="http://schemas.openxmlformats.org/drawingml/2006/main">
            <a:off x="777240" y="2670120"/>
            <a:ext cx="3172680" cy="338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400" b="1" i="0" u="none" strike="noStrike" cap="none">
                <a:solidFill>
                  <a:srgbClr val="24343B"/>
                </a:solidFill>
                <a:latin typeface="Arial"/>
                <a:ea typeface="Arial"/>
                <a:cs typeface="Arial"/>
              </a:rPr>
              <a:t>Average precision</a:t>
            </a:r>
            <a:endParaRPr sz="1400" b="0" i="0" u="none" strike="noStrike" cap="none">
              <a:solidFill>
                <a:srgbClr val="000000"/>
              </a:solidFill>
              <a:latin typeface="Arial"/>
              <a:ea typeface="Arial"/>
              <a:cs typeface="Arial"/>
            </a:endParaRPr>
          </a:p>
        </p:txBody>
      </p:sp>
      <p:sp>
        <p:nvSpPr>
          <p:cNvPr id="404" name="Google Shape;404;p9">
            <a:extLst xmlns:a="http://schemas.openxmlformats.org/drawingml/2006/main">
              <a:ext uri="{FF2B5EF4-FFF2-40B4-BE49-F238E27FC236}">
                <a16:creationId xmlns:a16="http://schemas.microsoft.com/office/drawing/2014/main" id="{EC61052B-AAA5-4158-83B4-BB34A5F0CED9}"/>
              </a:ext>
            </a:extLst>
          </p:cNvPr>
          <p:cNvSpPr>
            <a:spLocks xmlns:a="http://schemas.openxmlformats.org/drawingml/2006/main" noGrp="1"/>
          </p:cNvSpPr>
          <p:nvPr/>
        </p:nvSpPr>
        <p:spPr>
          <a:xfrm xmlns:a="http://schemas.openxmlformats.org/drawingml/2006/main">
            <a:off x="777240" y="3072240"/>
            <a:ext cx="3172680" cy="55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Baseline prevalence = 0.0897</a:t>
            </a:r>
            <a:endParaRPr sz="1100" b="0" i="0" u="none" strike="noStrike" cap="none">
              <a:solidFill>
                <a:srgbClr val="000000"/>
              </a:solidFill>
              <a:latin typeface="Arial"/>
              <a:ea typeface="Arial"/>
              <a:cs typeface="Arial"/>
            </a:endParaRPr>
          </a:p>
        </p:txBody>
      </p:sp>
      <p:cxnSp>
        <p:nvCxnSpPr>
          <p:cNvPr id="405" name="Google Shape;405;p9">
            <a:extLst xmlns:a="http://schemas.openxmlformats.org/drawingml/2006/main">
              <a:ext uri="{FF2B5EF4-FFF2-40B4-BE49-F238E27FC236}">
                <a16:creationId xmlns:a16="http://schemas.microsoft.com/office/drawing/2014/main" id="{CEBCE07D-F8B5-42A7-B56D-9301B8665A09}"/>
              </a:ext>
            </a:extLst>
          </p:cNvPr>
          <p:cNvCxnSpPr/>
          <p:nvPr/>
        </p:nvCxnSpPr>
        <p:spPr>
          <a:xfrm xmlns:a="http://schemas.openxmlformats.org/drawingml/2006/main">
            <a:off x="4581000" y="1910880"/>
            <a:ext cx="317340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406" name="Google Shape;406;p9">
            <a:extLst xmlns:a="http://schemas.openxmlformats.org/drawingml/2006/main">
              <a:ext uri="{FF2B5EF4-FFF2-40B4-BE49-F238E27FC236}">
                <a16:creationId xmlns:a16="http://schemas.microsoft.com/office/drawing/2014/main" id="{D4821564-6997-4D1C-A87F-1C0A165C0D48}"/>
              </a:ext>
            </a:extLst>
          </p:cNvPr>
          <p:cNvSpPr>
            <a:spLocks xmlns:a="http://schemas.openxmlformats.org/drawingml/2006/main" noGrp="1"/>
          </p:cNvSpPr>
          <p:nvPr/>
        </p:nvSpPr>
        <p:spPr>
          <a:xfrm xmlns:a="http://schemas.openxmlformats.org/drawingml/2006/main">
            <a:off x="4581000" y="2075760"/>
            <a:ext cx="3172680" cy="575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3400" b="1" i="0" u="none" strike="noStrike" cap="none">
                <a:solidFill>
                  <a:srgbClr val="397A7C"/>
                </a:solidFill>
                <a:latin typeface="Arial"/>
                <a:ea typeface="Arial"/>
                <a:cs typeface="Arial"/>
              </a:rPr>
              <a:t>0.6523</a:t>
            </a:r>
            <a:endParaRPr sz="3400" b="0" i="0" u="none" strike="noStrike" cap="none">
              <a:solidFill>
                <a:srgbClr val="000000"/>
              </a:solidFill>
              <a:latin typeface="Arial"/>
              <a:ea typeface="Arial"/>
              <a:cs typeface="Arial"/>
            </a:endParaRPr>
          </a:p>
        </p:txBody>
      </p:sp>
      <p:sp>
        <p:nvSpPr>
          <p:cNvPr id="407" name="Google Shape;407;p9">
            <a:extLst xmlns:a="http://schemas.openxmlformats.org/drawingml/2006/main">
              <a:ext uri="{FF2B5EF4-FFF2-40B4-BE49-F238E27FC236}">
                <a16:creationId xmlns:a16="http://schemas.microsoft.com/office/drawing/2014/main" id="{5857C245-9C31-42CF-AA26-65A78A7AFA32}"/>
              </a:ext>
            </a:extLst>
          </p:cNvPr>
          <p:cNvSpPr>
            <a:spLocks xmlns:a="http://schemas.openxmlformats.org/drawingml/2006/main" noGrp="1"/>
          </p:cNvSpPr>
          <p:nvPr/>
        </p:nvSpPr>
        <p:spPr>
          <a:xfrm xmlns:a="http://schemas.openxmlformats.org/drawingml/2006/main">
            <a:off x="4581000" y="2670120"/>
            <a:ext cx="3172680" cy="338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400" b="1" i="0" u="none" strike="noStrike" cap="none">
                <a:solidFill>
                  <a:srgbClr val="24343B"/>
                </a:solidFill>
                <a:latin typeface="Arial"/>
                <a:ea typeface="Arial"/>
                <a:cs typeface="Arial"/>
              </a:rPr>
              <a:t>ROC-AUC</a:t>
            </a:r>
            <a:endParaRPr sz="1400" b="0" i="0" u="none" strike="noStrike" cap="none">
              <a:solidFill>
                <a:srgbClr val="000000"/>
              </a:solidFill>
              <a:latin typeface="Arial"/>
              <a:ea typeface="Arial"/>
              <a:cs typeface="Arial"/>
            </a:endParaRPr>
          </a:p>
        </p:txBody>
      </p:sp>
      <p:sp>
        <p:nvSpPr>
          <p:cNvPr id="408" name="Google Shape;408;p9">
            <a:extLst xmlns:a="http://schemas.openxmlformats.org/drawingml/2006/main">
              <a:ext uri="{FF2B5EF4-FFF2-40B4-BE49-F238E27FC236}">
                <a16:creationId xmlns:a16="http://schemas.microsoft.com/office/drawing/2014/main" id="{D64158E5-795B-452F-BF1E-0FA4B9F87D84}"/>
              </a:ext>
            </a:extLst>
          </p:cNvPr>
          <p:cNvSpPr>
            <a:spLocks xmlns:a="http://schemas.openxmlformats.org/drawingml/2006/main" noGrp="1"/>
          </p:cNvSpPr>
          <p:nvPr/>
        </p:nvSpPr>
        <p:spPr>
          <a:xfrm xmlns:a="http://schemas.openxmlformats.org/drawingml/2006/main">
            <a:off x="4581000" y="3072240"/>
            <a:ext cx="3172680" cy="55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Discrimination only, not causal value</a:t>
            </a:r>
            <a:endParaRPr sz="1100" b="0" i="0" u="none" strike="noStrike" cap="none">
              <a:solidFill>
                <a:srgbClr val="000000"/>
              </a:solidFill>
              <a:latin typeface="Arial"/>
              <a:ea typeface="Arial"/>
              <a:cs typeface="Arial"/>
            </a:endParaRPr>
          </a:p>
        </p:txBody>
      </p:sp>
      <p:cxnSp>
        <p:nvCxnSpPr>
          <p:cNvPr id="409" name="Google Shape;409;p9">
            <a:extLst xmlns:a="http://schemas.openxmlformats.org/drawingml/2006/main">
              <a:ext uri="{FF2B5EF4-FFF2-40B4-BE49-F238E27FC236}">
                <a16:creationId xmlns:a16="http://schemas.microsoft.com/office/drawing/2014/main" id="{DF39A5A3-834B-49BD-9F77-BA755C36FC9B}"/>
              </a:ext>
            </a:extLst>
          </p:cNvPr>
          <p:cNvCxnSpPr/>
          <p:nvPr/>
        </p:nvCxnSpPr>
        <p:spPr>
          <a:xfrm xmlns:a="http://schemas.openxmlformats.org/drawingml/2006/main">
            <a:off x="8238600" y="1910880"/>
            <a:ext cx="317340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410" name="Google Shape;410;p9">
            <a:extLst xmlns:a="http://schemas.openxmlformats.org/drawingml/2006/main">
              <a:ext uri="{FF2B5EF4-FFF2-40B4-BE49-F238E27FC236}">
                <a16:creationId xmlns:a16="http://schemas.microsoft.com/office/drawing/2014/main" id="{9410ADC2-FA1D-4F52-A968-562C79FE6CC6}"/>
              </a:ext>
            </a:extLst>
          </p:cNvPr>
          <p:cNvSpPr>
            <a:spLocks xmlns:a="http://schemas.openxmlformats.org/drawingml/2006/main" noGrp="1"/>
          </p:cNvSpPr>
          <p:nvPr/>
        </p:nvSpPr>
        <p:spPr>
          <a:xfrm xmlns:a="http://schemas.openxmlformats.org/drawingml/2006/main">
            <a:off x="8238600" y="2075760"/>
            <a:ext cx="3172680" cy="575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3400" b="1" i="0" u="none" strike="noStrike" cap="none">
                <a:solidFill>
                  <a:srgbClr val="BE7E5B"/>
                </a:solidFill>
                <a:latin typeface="Arial"/>
                <a:ea typeface="Arial"/>
                <a:cs typeface="Arial"/>
              </a:rPr>
              <a:t>39.17%</a:t>
            </a:r>
            <a:endParaRPr sz="3400" b="0" i="0" u="none" strike="noStrike" cap="none">
              <a:solidFill>
                <a:srgbClr val="000000"/>
              </a:solidFill>
              <a:latin typeface="Arial"/>
              <a:ea typeface="Arial"/>
              <a:cs typeface="Arial"/>
            </a:endParaRPr>
          </a:p>
        </p:txBody>
      </p:sp>
      <p:sp>
        <p:nvSpPr>
          <p:cNvPr id="411" name="Google Shape;411;p9">
            <a:extLst xmlns:a="http://schemas.openxmlformats.org/drawingml/2006/main">
              <a:ext uri="{FF2B5EF4-FFF2-40B4-BE49-F238E27FC236}">
                <a16:creationId xmlns:a16="http://schemas.microsoft.com/office/drawing/2014/main" id="{41FA0641-B39D-43D6-B56A-44D0E29474DB}"/>
              </a:ext>
            </a:extLst>
          </p:cNvPr>
          <p:cNvSpPr>
            <a:spLocks xmlns:a="http://schemas.openxmlformats.org/drawingml/2006/main" noGrp="1"/>
          </p:cNvSpPr>
          <p:nvPr/>
        </p:nvSpPr>
        <p:spPr>
          <a:xfrm xmlns:a="http://schemas.openxmlformats.org/drawingml/2006/main">
            <a:off x="8238600" y="2670120"/>
            <a:ext cx="3172680" cy="338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400" b="1" i="0" u="none" strike="noStrike" cap="none">
                <a:solidFill>
                  <a:srgbClr val="24343B"/>
                </a:solidFill>
                <a:latin typeface="Arial"/>
                <a:ea typeface="Arial"/>
                <a:cs typeface="Arial"/>
              </a:rPr>
              <a:t>Top-20% capture</a:t>
            </a:r>
            <a:endParaRPr sz="1400" b="0" i="0" u="none" strike="noStrike" cap="none">
              <a:solidFill>
                <a:srgbClr val="000000"/>
              </a:solidFill>
              <a:latin typeface="Arial"/>
              <a:ea typeface="Arial"/>
              <a:cs typeface="Arial"/>
            </a:endParaRPr>
          </a:p>
        </p:txBody>
      </p:sp>
      <p:sp>
        <p:nvSpPr>
          <p:cNvPr id="412" name="Google Shape;412;p9">
            <a:extLst xmlns:a="http://schemas.openxmlformats.org/drawingml/2006/main">
              <a:ext uri="{FF2B5EF4-FFF2-40B4-BE49-F238E27FC236}">
                <a16:creationId xmlns:a16="http://schemas.microsoft.com/office/drawing/2014/main" id="{E26EA8C6-0DD5-4534-8644-3D4251DFCF45}"/>
              </a:ext>
            </a:extLst>
          </p:cNvPr>
          <p:cNvSpPr>
            <a:spLocks xmlns:a="http://schemas.openxmlformats.org/drawingml/2006/main" noGrp="1"/>
          </p:cNvSpPr>
          <p:nvPr/>
        </p:nvSpPr>
        <p:spPr>
          <a:xfrm xmlns:a="http://schemas.openxmlformats.org/drawingml/2006/main">
            <a:off x="8238600" y="3072240"/>
            <a:ext cx="3172680" cy="55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00" b="0" i="0" u="none" strike="noStrike" cap="none">
                <a:solidFill>
                  <a:srgbClr val="66757B"/>
                </a:solidFill>
                <a:latin typeface="Arial"/>
                <a:ea typeface="Arial"/>
                <a:cs typeface="Arial"/>
              </a:rPr>
              <a:t>369 of 942 readmissions</a:t>
            </a:r>
            <a:endParaRPr sz="1100" b="0" i="0" u="none" strike="noStrike" cap="none">
              <a:solidFill>
                <a:srgbClr val="000000"/>
              </a:solidFill>
              <a:latin typeface="Arial"/>
              <a:ea typeface="Arial"/>
              <a:cs typeface="Arial"/>
            </a:endParaRPr>
          </a:p>
        </p:txBody>
      </p:sp>
      <p:cxnSp>
        <p:nvCxnSpPr>
          <p:cNvPr id="413" name="Google Shape;413;p9">
            <a:extLst xmlns:a="http://schemas.openxmlformats.org/drawingml/2006/main">
              <a:ext uri="{FF2B5EF4-FFF2-40B4-BE49-F238E27FC236}">
                <a16:creationId xmlns:a16="http://schemas.microsoft.com/office/drawing/2014/main" id="{04FD0FFC-384E-4C0B-9AD8-0F7399FB1E04}"/>
              </a:ext>
            </a:extLst>
          </p:cNvPr>
          <p:cNvCxnSpPr/>
          <p:nvPr/>
        </p:nvCxnSpPr>
        <p:spPr>
          <a:xfrm xmlns:a="http://schemas.openxmlformats.org/drawingml/2006/main">
            <a:off x="740520" y="4169520"/>
            <a:ext cx="1063476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414" name="Google Shape;414;p9">
            <a:extLst xmlns:a="http://schemas.openxmlformats.org/drawingml/2006/main">
              <a:ext uri="{FF2B5EF4-FFF2-40B4-BE49-F238E27FC236}">
                <a16:creationId xmlns:a16="http://schemas.microsoft.com/office/drawing/2014/main" id="{4F6CA848-B4A0-4ABE-83A9-BC76A367DBA8}"/>
              </a:ext>
            </a:extLst>
          </p:cNvPr>
          <p:cNvSpPr>
            <a:spLocks xmlns:a="http://schemas.openxmlformats.org/drawingml/2006/main" noGrp="1"/>
          </p:cNvSpPr>
          <p:nvPr/>
        </p:nvSpPr>
        <p:spPr>
          <a:xfrm xmlns:a="http://schemas.openxmlformats.org/drawingml/2006/main">
            <a:off x="768240" y="435240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TWO WAYS TO SELECT PATIENTS</a:t>
            </a:r>
            <a:endParaRPr sz="1000" b="0" i="0" u="none" strike="noStrike" cap="none">
              <a:solidFill>
                <a:srgbClr val="000000"/>
              </a:solidFill>
              <a:latin typeface="Arial"/>
              <a:ea typeface="Arial"/>
              <a:cs typeface="Arial"/>
            </a:endParaRPr>
          </a:p>
        </p:txBody>
      </p:sp>
      <p:sp>
        <p:nvSpPr>
          <p:cNvPr id="415" name="Google Shape;415;p9">
            <a:extLst xmlns:a="http://schemas.openxmlformats.org/drawingml/2006/main">
              <a:ext uri="{FF2B5EF4-FFF2-40B4-BE49-F238E27FC236}">
                <a16:creationId xmlns:a16="http://schemas.microsoft.com/office/drawing/2014/main" id="{A8463F38-16D7-4EDB-8336-F9116FB9EB4F}"/>
              </a:ext>
            </a:extLst>
          </p:cNvPr>
          <p:cNvSpPr>
            <a:spLocks xmlns:a="http://schemas.openxmlformats.org/drawingml/2006/main" noGrp="1"/>
          </p:cNvSpPr>
          <p:nvPr/>
        </p:nvSpPr>
        <p:spPr>
          <a:xfrm xmlns:a="http://schemas.openxmlformats.org/drawingml/2006/main">
            <a:off x="758880" y="4709160"/>
            <a:ext cx="10579320" cy="50256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16" name="Google Shape;416;p9">
            <a:extLst xmlns:a="http://schemas.openxmlformats.org/drawingml/2006/main">
              <a:ext uri="{FF2B5EF4-FFF2-40B4-BE49-F238E27FC236}">
                <a16:creationId xmlns:a16="http://schemas.microsoft.com/office/drawing/2014/main" id="{3738C9AB-52E8-4C45-A88C-9C074365439D}"/>
              </a:ext>
            </a:extLst>
          </p:cNvPr>
          <p:cNvSpPr>
            <a:spLocks xmlns:a="http://schemas.openxmlformats.org/drawingml/2006/main" noGrp="1"/>
          </p:cNvSpPr>
          <p:nvPr/>
        </p:nvSpPr>
        <p:spPr>
          <a:xfrm xmlns:a="http://schemas.openxmlformats.org/drawingml/2006/main">
            <a:off x="758880" y="4709160"/>
            <a:ext cx="45360" cy="50256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17" name="Google Shape;417;p9">
            <a:extLst xmlns:a="http://schemas.openxmlformats.org/drawingml/2006/main">
              <a:ext uri="{FF2B5EF4-FFF2-40B4-BE49-F238E27FC236}">
                <a16:creationId xmlns:a16="http://schemas.microsoft.com/office/drawing/2014/main" id="{69F22DA9-3A56-4570-9546-D76C8620A245}"/>
              </a:ext>
            </a:extLst>
          </p:cNvPr>
          <p:cNvSpPr>
            <a:spLocks xmlns:a="http://schemas.openxmlformats.org/drawingml/2006/main" noGrp="1"/>
          </p:cNvSpPr>
          <p:nvPr/>
        </p:nvSpPr>
        <p:spPr>
          <a:xfrm xmlns:a="http://schemas.openxmlformats.org/drawingml/2006/main">
            <a:off x="969120" y="4818960"/>
            <a:ext cx="2029680" cy="338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400" b="1" i="0" u="none" strike="noStrike" cap="none">
                <a:solidFill>
                  <a:srgbClr val="1C3138"/>
                </a:solidFill>
                <a:latin typeface="Arial"/>
                <a:ea typeface="Arial"/>
                <a:cs typeface="Arial"/>
              </a:rPr>
              <a:t>Top 20%</a:t>
            </a:r>
            <a:endParaRPr sz="1400" b="0" i="0" u="none" strike="noStrike" cap="none">
              <a:solidFill>
                <a:srgbClr val="000000"/>
              </a:solidFill>
              <a:latin typeface="Arial"/>
              <a:ea typeface="Arial"/>
              <a:cs typeface="Arial"/>
            </a:endParaRPr>
          </a:p>
        </p:txBody>
      </p:sp>
      <p:sp>
        <p:nvSpPr>
          <p:cNvPr id="418" name="Google Shape;418;p9">
            <a:extLst xmlns:a="http://schemas.openxmlformats.org/drawingml/2006/main">
              <a:ext uri="{FF2B5EF4-FFF2-40B4-BE49-F238E27FC236}">
                <a16:creationId xmlns:a16="http://schemas.microsoft.com/office/drawing/2014/main" id="{3029F2ED-62E6-41B7-9AC8-72496816DCB9}"/>
              </a:ext>
            </a:extLst>
          </p:cNvPr>
          <p:cNvSpPr>
            <a:spLocks xmlns:a="http://schemas.openxmlformats.org/drawingml/2006/main" noGrp="1"/>
          </p:cNvSpPr>
          <p:nvPr/>
        </p:nvSpPr>
        <p:spPr>
          <a:xfrm xmlns:a="http://schemas.openxmlformats.org/drawingml/2006/main">
            <a:off x="2980800" y="4818960"/>
            <a:ext cx="8174520" cy="338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2,100 selected  ·  369 captured  ·  17.57% precision</a:t>
            </a:r>
            <a:endParaRPr sz="1300" b="0" i="0" u="none" strike="noStrike" cap="none">
              <a:solidFill>
                <a:srgbClr val="000000"/>
              </a:solidFill>
              <a:latin typeface="Arial"/>
              <a:ea typeface="Arial"/>
              <a:cs typeface="Arial"/>
            </a:endParaRPr>
          </a:p>
        </p:txBody>
      </p:sp>
      <p:sp>
        <p:nvSpPr>
          <p:cNvPr id="419" name="Google Shape;419;p9">
            <a:extLst xmlns:a="http://schemas.openxmlformats.org/drawingml/2006/main">
              <a:ext uri="{FF2B5EF4-FFF2-40B4-BE49-F238E27FC236}">
                <a16:creationId xmlns:a16="http://schemas.microsoft.com/office/drawing/2014/main" id="{4BBE85D0-942D-44B2-B36D-D713F8F81532}"/>
              </a:ext>
            </a:extLst>
          </p:cNvPr>
          <p:cNvSpPr>
            <a:spLocks xmlns:a="http://schemas.openxmlformats.org/drawingml/2006/main" noGrp="1"/>
          </p:cNvSpPr>
          <p:nvPr/>
        </p:nvSpPr>
        <p:spPr>
          <a:xfrm xmlns:a="http://schemas.openxmlformats.org/drawingml/2006/main">
            <a:off x="758880" y="5294520"/>
            <a:ext cx="10579320" cy="502560"/>
          </a:xfrm>
          <a:prstGeom xmlns:a="http://schemas.openxmlformats.org/drawingml/2006/main" prst="rect">
            <a:avLst/>
          </a:prstGeom>
          <a:solidFill xmlns:a="http://schemas.openxmlformats.org/drawingml/2006/main">
            <a:srgbClr val="F8EAD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20" name="Google Shape;420;p9">
            <a:extLst xmlns:a="http://schemas.openxmlformats.org/drawingml/2006/main">
              <a:ext uri="{FF2B5EF4-FFF2-40B4-BE49-F238E27FC236}">
                <a16:creationId xmlns:a16="http://schemas.microsoft.com/office/drawing/2014/main" id="{AE680158-23DE-4FEE-A381-F3488D209E83}"/>
              </a:ext>
            </a:extLst>
          </p:cNvPr>
          <p:cNvSpPr>
            <a:spLocks xmlns:a="http://schemas.openxmlformats.org/drawingml/2006/main" noGrp="1"/>
          </p:cNvSpPr>
          <p:nvPr/>
        </p:nvSpPr>
        <p:spPr>
          <a:xfrm xmlns:a="http://schemas.openxmlformats.org/drawingml/2006/main">
            <a:off x="758880" y="5294520"/>
            <a:ext cx="45360" cy="50256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21" name="Google Shape;421;p9">
            <a:extLst xmlns:a="http://schemas.openxmlformats.org/drawingml/2006/main">
              <a:ext uri="{FF2B5EF4-FFF2-40B4-BE49-F238E27FC236}">
                <a16:creationId xmlns:a16="http://schemas.microsoft.com/office/drawing/2014/main" id="{B9C86975-E24A-40DE-9B8C-DA1BCA29D58B}"/>
              </a:ext>
            </a:extLst>
          </p:cNvPr>
          <p:cNvSpPr>
            <a:spLocks xmlns:a="http://schemas.openxmlformats.org/drawingml/2006/main" noGrp="1"/>
          </p:cNvSpPr>
          <p:nvPr/>
        </p:nvSpPr>
        <p:spPr>
          <a:xfrm xmlns:a="http://schemas.openxmlformats.org/drawingml/2006/main">
            <a:off x="969120" y="5403960"/>
            <a:ext cx="2029680" cy="338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400" b="1" i="0" u="none" strike="noStrike" cap="none">
                <a:solidFill>
                  <a:srgbClr val="1C3138"/>
                </a:solidFill>
                <a:latin typeface="Arial"/>
                <a:ea typeface="Arial"/>
                <a:cs typeface="Arial"/>
              </a:rPr>
              <a:t>Threshold ≥0.10</a:t>
            </a:r>
            <a:endParaRPr sz="1400" b="0" i="0" u="none" strike="noStrike" cap="none">
              <a:solidFill>
                <a:srgbClr val="000000"/>
              </a:solidFill>
              <a:latin typeface="Arial"/>
              <a:ea typeface="Arial"/>
              <a:cs typeface="Arial"/>
            </a:endParaRPr>
          </a:p>
        </p:txBody>
      </p:sp>
      <p:sp>
        <p:nvSpPr>
          <p:cNvPr id="422" name="Google Shape;422;p9">
            <a:extLst xmlns:a="http://schemas.openxmlformats.org/drawingml/2006/main">
              <a:ext uri="{FF2B5EF4-FFF2-40B4-BE49-F238E27FC236}">
                <a16:creationId xmlns:a16="http://schemas.microsoft.com/office/drawing/2014/main" id="{05DF67B0-1361-4EA3-8A39-8A315F0AAE7C}"/>
              </a:ext>
            </a:extLst>
          </p:cNvPr>
          <p:cNvSpPr>
            <a:spLocks xmlns:a="http://schemas.openxmlformats.org/drawingml/2006/main" noGrp="1"/>
          </p:cNvSpPr>
          <p:nvPr/>
        </p:nvSpPr>
        <p:spPr>
          <a:xfrm xmlns:a="http://schemas.openxmlformats.org/drawingml/2006/main">
            <a:off x="2980800" y="5403960"/>
            <a:ext cx="8174520" cy="338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2,932 flagged  ·  450 captured  ·  15.35% precision</a:t>
            </a:r>
            <a:endParaRPr sz="1300" b="0" i="0" u="none" strike="noStrike" cap="none">
              <a:solidFill>
                <a:srgbClr val="000000"/>
              </a:solidFill>
              <a:latin typeface="Arial"/>
              <a:ea typeface="Arial"/>
              <a:cs typeface="Arial"/>
            </a:endParaRPr>
          </a:p>
        </p:txBody>
      </p:sp>
      <p:sp>
        <p:nvSpPr>
          <p:cNvPr id="423" name="Google Shape;423;p9">
            <a:extLst xmlns:a="http://schemas.openxmlformats.org/drawingml/2006/main">
              <a:ext uri="{FF2B5EF4-FFF2-40B4-BE49-F238E27FC236}">
                <a16:creationId xmlns:a16="http://schemas.microsoft.com/office/drawing/2014/main" id="{6A2F893E-5499-431D-854D-11298B53BFB8}"/>
              </a:ext>
            </a:extLst>
          </p:cNvPr>
          <p:cNvSpPr>
            <a:spLocks xmlns:a="http://schemas.openxmlformats.org/drawingml/2006/main" noGrp="1"/>
          </p:cNvSpPr>
          <p:nvPr/>
        </p:nvSpPr>
        <p:spPr>
          <a:xfrm xmlns:a="http://schemas.openxmlformats.org/drawingml/2006/main">
            <a:off x="667440" y="5970960"/>
            <a:ext cx="10899360" cy="42012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24" name="Google Shape;424;p9">
            <a:extLst xmlns:a="http://schemas.openxmlformats.org/drawingml/2006/main">
              <a:ext uri="{FF2B5EF4-FFF2-40B4-BE49-F238E27FC236}">
                <a16:creationId xmlns:a16="http://schemas.microsoft.com/office/drawing/2014/main" id="{4E8372CC-279D-4756-89E5-C4437E3852B0}"/>
              </a:ext>
            </a:extLst>
          </p:cNvPr>
          <p:cNvSpPr>
            <a:spLocks xmlns:a="http://schemas.openxmlformats.org/drawingml/2006/main" noGrp="1"/>
          </p:cNvSpPr>
          <p:nvPr/>
        </p:nvSpPr>
        <p:spPr>
          <a:xfrm xmlns:a="http://schemas.openxmlformats.org/drawingml/2006/main">
            <a:off x="667440" y="5970960"/>
            <a:ext cx="50040" cy="42012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25" name="Google Shape;425;p9">
            <a:extLst xmlns:a="http://schemas.openxmlformats.org/drawingml/2006/main">
              <a:ext uri="{FF2B5EF4-FFF2-40B4-BE49-F238E27FC236}">
                <a16:creationId xmlns:a16="http://schemas.microsoft.com/office/drawing/2014/main" id="{680C1C10-D9B3-49BD-B08F-6C47ECF2F789}"/>
              </a:ext>
            </a:extLst>
          </p:cNvPr>
          <p:cNvSpPr>
            <a:spLocks xmlns:a="http://schemas.openxmlformats.org/drawingml/2006/main" noGrp="1"/>
          </p:cNvSpPr>
          <p:nvPr/>
        </p:nvSpPr>
        <p:spPr>
          <a:xfrm xmlns:a="http://schemas.openxmlformats.org/drawingml/2006/main">
            <a:off x="868680" y="6044040"/>
            <a:ext cx="10478520" cy="28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1C3138"/>
                </a:solidFill>
                <a:latin typeface="Arial"/>
                <a:ea typeface="Arial"/>
                <a:cs typeface="Arial"/>
              </a:rPr>
              <a:t>A fixed threshold and a 20% workload cap are different policies; one does not replace the other.</a:t>
            </a:r>
            <a:endParaRPr sz="115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69473012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31" name="Google Shape;431;p10">
            <a:extLst xmlns:a="http://schemas.openxmlformats.org/drawingml/2006/main">
              <a:ext uri="{FF2B5EF4-FFF2-40B4-BE49-F238E27FC236}">
                <a16:creationId xmlns:a16="http://schemas.microsoft.com/office/drawing/2014/main" id="{A06E1DCC-8409-4BD5-90C7-922F0176F2BA}"/>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F9F8F5"/>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32" name="Google Shape;432;p10">
            <a:extLst xmlns:a="http://schemas.openxmlformats.org/drawingml/2006/main">
              <a:ext uri="{FF2B5EF4-FFF2-40B4-BE49-F238E27FC236}">
                <a16:creationId xmlns:a16="http://schemas.microsoft.com/office/drawing/2014/main" id="{0A7CEA11-9F7E-4094-B220-A26782E3FB24}"/>
              </a:ext>
            </a:extLst>
          </p:cNvPr>
          <p:cNvSpPr>
            <a:spLocks xmlns:a="http://schemas.openxmlformats.org/drawingml/2006/main" noGrp="1"/>
          </p:cNvSpPr>
          <p:nvPr/>
        </p:nvSpPr>
        <p:spPr>
          <a:xfrm xmlns:a="http://schemas.openxmlformats.org/drawingml/2006/main">
            <a:off x="493920" y="365760"/>
            <a:ext cx="109440" cy="109440"/>
          </a:xfrm>
          <a:prstGeom xmlns:a="http://schemas.openxmlformats.org/drawingml/2006/main" prst="ellipse">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32750" rIns="90000" bIns="327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33" name="Google Shape;433;p10">
            <a:extLst xmlns:a="http://schemas.openxmlformats.org/drawingml/2006/main">
              <a:ext uri="{FF2B5EF4-FFF2-40B4-BE49-F238E27FC236}">
                <a16:creationId xmlns:a16="http://schemas.microsoft.com/office/drawing/2014/main" id="{217FFE41-2AAD-44C0-BAF3-4776C3FE420C}"/>
              </a:ext>
            </a:extLst>
          </p:cNvPr>
          <p:cNvSpPr>
            <a:spLocks xmlns:a="http://schemas.openxmlformats.org/drawingml/2006/main" noGrp="1"/>
          </p:cNvSpPr>
          <p:nvPr/>
        </p:nvSpPr>
        <p:spPr>
          <a:xfrm xmlns:a="http://schemas.openxmlformats.org/drawingml/2006/main">
            <a:off x="685800" y="301680"/>
            <a:ext cx="51202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900" b="1" i="0" u="none" strike="noStrike" cap="none">
                <a:solidFill>
                  <a:srgbClr val="66757B"/>
                </a:solidFill>
                <a:latin typeface="Arial"/>
                <a:ea typeface="Arial"/>
                <a:cs typeface="Arial"/>
              </a:rPr>
              <a:t>DECISION SCIENCE  /  CAPSTONE 2026</a:t>
            </a:r>
            <a:endParaRPr sz="900" b="0" i="0" u="none" strike="noStrike" cap="none">
              <a:solidFill>
                <a:srgbClr val="000000"/>
              </a:solidFill>
              <a:latin typeface="Arial"/>
              <a:ea typeface="Arial"/>
              <a:cs typeface="Arial"/>
            </a:endParaRPr>
          </a:p>
        </p:txBody>
      </p:sp>
      <p:sp>
        <p:nvSpPr>
          <p:cNvPr id="434" name="Google Shape;434;p10">
            <a:extLst xmlns:a="http://schemas.openxmlformats.org/drawingml/2006/main">
              <a:ext uri="{FF2B5EF4-FFF2-40B4-BE49-F238E27FC236}">
                <a16:creationId xmlns:a16="http://schemas.microsoft.com/office/drawing/2014/main" id="{2260001D-D0BF-4B62-B051-778B2C3221BC}"/>
              </a:ext>
            </a:extLst>
          </p:cNvPr>
          <p:cNvSpPr>
            <a:spLocks xmlns:a="http://schemas.openxmlformats.org/drawingml/2006/main" noGrp="1"/>
          </p:cNvSpPr>
          <p:nvPr/>
        </p:nvSpPr>
        <p:spPr>
          <a:xfrm xmlns:a="http://schemas.openxmlformats.org/drawingml/2006/main">
            <a:off x="7434000" y="311040"/>
            <a:ext cx="415116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66757B"/>
                </a:solidFill>
                <a:latin typeface="Arial"/>
                <a:ea typeface="Arial"/>
                <a:cs typeface="Arial"/>
              </a:rPr>
              <a:t>05  /  EXPLAINABILITY</a:t>
            </a:r>
            <a:endParaRPr sz="900" b="0" i="0" u="none" strike="noStrike" cap="none">
              <a:solidFill>
                <a:srgbClr val="000000"/>
              </a:solidFill>
              <a:latin typeface="Arial"/>
              <a:ea typeface="Arial"/>
              <a:cs typeface="Arial"/>
            </a:endParaRPr>
          </a:p>
        </p:txBody>
      </p:sp>
      <p:sp>
        <p:nvSpPr>
          <p:cNvPr id="435" name="Google Shape;435;p10">
            <a:extLst xmlns:a="http://schemas.openxmlformats.org/drawingml/2006/main">
              <a:ext uri="{FF2B5EF4-FFF2-40B4-BE49-F238E27FC236}">
                <a16:creationId xmlns:a16="http://schemas.microsoft.com/office/drawing/2014/main" id="{85B3FC03-FB0A-46CC-BBE8-F1D07C2C65E6}"/>
              </a:ext>
            </a:extLst>
          </p:cNvPr>
          <p:cNvSpPr>
            <a:spLocks xmlns:a="http://schemas.openxmlformats.org/drawingml/2006/main" noGrp="1"/>
          </p:cNvSpPr>
          <p:nvPr/>
        </p:nvSpPr>
        <p:spPr>
          <a:xfrm xmlns:a="http://schemas.openxmlformats.org/drawingml/2006/main">
            <a:off x="612720" y="713160"/>
            <a:ext cx="10972440" cy="630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900" b="1" i="0" u="none" strike="noStrike" cap="none">
                <a:solidFill>
                  <a:srgbClr val="1C3138"/>
                </a:solidFill>
                <a:latin typeface="Georgia"/>
                <a:ea typeface="Georgia"/>
                <a:cs typeface="Georgia"/>
              </a:rPr>
              <a:t>Discharge disposition dominates model importance</a:t>
            </a:r>
            <a:endParaRPr sz="2900" b="0" i="0" u="none" strike="noStrike" cap="none">
              <a:solidFill>
                <a:srgbClr val="000000"/>
              </a:solidFill>
              <a:latin typeface="Arial"/>
              <a:ea typeface="Arial"/>
              <a:cs typeface="Arial"/>
            </a:endParaRPr>
          </a:p>
        </p:txBody>
      </p:sp>
      <p:cxnSp>
        <p:nvCxnSpPr>
          <p:cNvPr id="436" name="Google Shape;436;p10">
            <a:extLst xmlns:a="http://schemas.openxmlformats.org/drawingml/2006/main">
              <a:ext uri="{FF2B5EF4-FFF2-40B4-BE49-F238E27FC236}">
                <a16:creationId xmlns:a16="http://schemas.microsoft.com/office/drawing/2014/main" id="{C713DBEC-4437-4FBD-9F1B-88578337DB39}"/>
              </a:ext>
            </a:extLst>
          </p:cNvPr>
          <p:cNvCxnSpPr/>
          <p:nvPr/>
        </p:nvCxnSpPr>
        <p:spPr>
          <a:xfrm xmlns:a="http://schemas.openxmlformats.org/drawingml/2006/main">
            <a:off x="640080" y="1453680"/>
            <a:ext cx="10918080" cy="360"/>
          </a:xfrm>
          <a:prstGeom xmlns:a="http://schemas.openxmlformats.org/drawingml/2006/main" prst="straightConnector1">
            <a:avLst/>
          </a:prstGeom>
          <a:ln xmlns:a="http://schemas.openxmlformats.org/drawingml/2006/main" w="15875" cap="flat">
            <a:solidFill>
              <a:srgbClr val="1C3138"/>
            </a:solidFill>
            <a:prstDash val="solid"/>
            <a:round/>
            <a:headEnd type="none" w="sm" len="sm"/>
            <a:tailEnd type="none" w="sm" len="sm"/>
          </a:ln>
        </p:spPr>
      </p:cxnSp>
      <p:cxnSp>
        <p:nvCxnSpPr>
          <p:cNvPr id="437" name="Google Shape;437;p10">
            <a:extLst xmlns:a="http://schemas.openxmlformats.org/drawingml/2006/main">
              <a:ext uri="{FF2B5EF4-FFF2-40B4-BE49-F238E27FC236}">
                <a16:creationId xmlns:a16="http://schemas.microsoft.com/office/drawing/2014/main" id="{BEDCDDC0-7FBF-4275-B36F-F3397FC51865}"/>
              </a:ext>
            </a:extLst>
          </p:cNvPr>
          <p:cNvCxnSpPr/>
          <p:nvPr/>
        </p:nvCxnSpPr>
        <p:spPr>
          <a:xfrm xmlns:a="http://schemas.openxmlformats.org/drawingml/2006/main">
            <a:off x="630720" y="6464520"/>
            <a:ext cx="10927440" cy="360"/>
          </a:xfrm>
          <a:prstGeom xmlns:a="http://schemas.openxmlformats.org/drawingml/2006/main" prst="straightConnector1">
            <a:avLst/>
          </a:prstGeom>
          <a:ln xmlns:a="http://schemas.openxmlformats.org/drawingml/2006/main" w="10150" cap="flat">
            <a:solidFill>
              <a:srgbClr val="D6DEDA"/>
            </a:solidFill>
            <a:prstDash val="solid"/>
            <a:round/>
            <a:headEnd type="none" w="sm" len="sm"/>
            <a:tailEnd type="none" w="sm" len="sm"/>
          </a:ln>
        </p:spPr>
      </p:cxnSp>
      <p:sp>
        <p:nvSpPr>
          <p:cNvPr id="438" name="Google Shape;438;p10">
            <a:extLst xmlns:a="http://schemas.openxmlformats.org/drawingml/2006/main">
              <a:ext uri="{FF2B5EF4-FFF2-40B4-BE49-F238E27FC236}">
                <a16:creationId xmlns:a16="http://schemas.microsoft.com/office/drawing/2014/main" id="{94EC80E4-EE39-41C2-8DB2-7BB6E22F3266}"/>
              </a:ext>
            </a:extLst>
          </p:cNvPr>
          <p:cNvSpPr>
            <a:spLocks xmlns:a="http://schemas.openxmlformats.org/drawingml/2006/main" noGrp="1"/>
          </p:cNvSpPr>
          <p:nvPr/>
        </p:nvSpPr>
        <p:spPr>
          <a:xfrm xmlns:a="http://schemas.openxmlformats.org/drawingml/2006/main">
            <a:off x="649080" y="6519600"/>
            <a:ext cx="10496880" cy="200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800" b="0" i="0" u="none" strike="noStrike" cap="none">
                <a:solidFill>
                  <a:srgbClr val="66757B"/>
                </a:solidFill>
                <a:latin typeface="Arial"/>
                <a:ea typeface="Arial"/>
                <a:cs typeface="Arial"/>
              </a:rPr>
              <a:t>Notebook 05–06 · Permutation importance, learning curves, calibration and PDP/ICE</a:t>
            </a:r>
            <a:endParaRPr sz="800" b="0" i="0" u="none" strike="noStrike" cap="none">
              <a:solidFill>
                <a:srgbClr val="000000"/>
              </a:solidFill>
              <a:latin typeface="Arial"/>
              <a:ea typeface="Arial"/>
              <a:cs typeface="Arial"/>
            </a:endParaRPr>
          </a:p>
        </p:txBody>
      </p:sp>
      <p:sp>
        <p:nvSpPr>
          <p:cNvPr id="439" name="Google Shape;439;p10">
            <a:extLst xmlns:a="http://schemas.openxmlformats.org/drawingml/2006/main">
              <a:ext uri="{FF2B5EF4-FFF2-40B4-BE49-F238E27FC236}">
                <a16:creationId xmlns:a16="http://schemas.microsoft.com/office/drawing/2014/main" id="{6D357024-A2D8-4435-8554-608281935987}"/>
              </a:ext>
            </a:extLst>
          </p:cNvPr>
          <p:cNvSpPr>
            <a:spLocks xmlns:a="http://schemas.openxmlformats.org/drawingml/2006/main" noGrp="1"/>
          </p:cNvSpPr>
          <p:nvPr/>
        </p:nvSpPr>
        <p:spPr>
          <a:xfrm xmlns:a="http://schemas.openxmlformats.org/drawingml/2006/main">
            <a:off x="11137320" y="6501240"/>
            <a:ext cx="4384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1C3138"/>
                </a:solidFill>
                <a:latin typeface="Arial"/>
                <a:ea typeface="Arial"/>
                <a:cs typeface="Arial"/>
              </a:rPr>
              <a:t>10</a:t>
            </a:r>
            <a:endParaRPr sz="900" b="0" i="0" u="none" strike="noStrike" cap="none">
              <a:solidFill>
                <a:srgbClr val="000000"/>
              </a:solidFill>
              <a:latin typeface="Arial"/>
              <a:ea typeface="Arial"/>
              <a:cs typeface="Arial"/>
            </a:endParaRPr>
          </a:p>
        </p:txBody>
      </p:sp>
      <p:sp>
        <p:nvSpPr>
          <p:cNvPr id="440" name="Google Shape;440;p10">
            <a:extLst xmlns:a="http://schemas.openxmlformats.org/drawingml/2006/main">
              <a:ext uri="{FF2B5EF4-FFF2-40B4-BE49-F238E27FC236}">
                <a16:creationId xmlns:a16="http://schemas.microsoft.com/office/drawing/2014/main" id="{4DF4DB26-85F9-44E1-ADB9-FE674F6013F6}"/>
              </a:ext>
            </a:extLst>
          </p:cNvPr>
          <p:cNvSpPr>
            <a:spLocks xmlns:a="http://schemas.openxmlformats.org/drawingml/2006/main" noGrp="1"/>
          </p:cNvSpPr>
          <p:nvPr/>
        </p:nvSpPr>
        <p:spPr>
          <a:xfrm xmlns:a="http://schemas.openxmlformats.org/drawingml/2006/main">
            <a:off x="722520" y="175572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VALIDATION AP DECREASE AFTER PERMUTATION</a:t>
            </a:r>
            <a:endParaRPr sz="1000" b="0" i="0" u="none" strike="noStrike" cap="none">
              <a:solidFill>
                <a:srgbClr val="000000"/>
              </a:solidFill>
              <a:latin typeface="Arial"/>
              <a:ea typeface="Arial"/>
              <a:cs typeface="Arial"/>
            </a:endParaRPr>
          </a:p>
        </p:txBody>
      </p:sp>
      <p:sp>
        <p:nvSpPr>
          <p:cNvPr id="441" name="Google Shape;441;p10">
            <a:extLst xmlns:a="http://schemas.openxmlformats.org/drawingml/2006/main">
              <a:ext uri="{FF2B5EF4-FFF2-40B4-BE49-F238E27FC236}">
                <a16:creationId xmlns:a16="http://schemas.microsoft.com/office/drawing/2014/main" id="{BE2CEB2A-F242-4DEA-8BC8-82B6E58C15DE}"/>
              </a:ext>
            </a:extLst>
          </p:cNvPr>
          <p:cNvSpPr>
            <a:spLocks xmlns:a="http://schemas.openxmlformats.org/drawingml/2006/main" noGrp="1"/>
          </p:cNvSpPr>
          <p:nvPr/>
        </p:nvSpPr>
        <p:spPr>
          <a:xfrm xmlns:a="http://schemas.openxmlformats.org/drawingml/2006/main">
            <a:off x="731520" y="2157840"/>
            <a:ext cx="234972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24343B"/>
                </a:solidFill>
                <a:latin typeface="Arial"/>
                <a:ea typeface="Arial"/>
                <a:cs typeface="Arial"/>
              </a:rPr>
              <a:t>Discharge destination</a:t>
            </a:r>
            <a:endParaRPr sz="1150" b="0" i="0" u="none" strike="noStrike" cap="none">
              <a:solidFill>
                <a:srgbClr val="000000"/>
              </a:solidFill>
              <a:latin typeface="Arial"/>
              <a:ea typeface="Arial"/>
              <a:cs typeface="Arial"/>
            </a:endParaRPr>
          </a:p>
        </p:txBody>
      </p:sp>
      <p:sp>
        <p:nvSpPr>
          <p:cNvPr id="442" name="Google Shape;442;p10">
            <a:extLst xmlns:a="http://schemas.openxmlformats.org/drawingml/2006/main">
              <a:ext uri="{FF2B5EF4-FFF2-40B4-BE49-F238E27FC236}">
                <a16:creationId xmlns:a16="http://schemas.microsoft.com/office/drawing/2014/main" id="{C2A8E1DD-D679-4478-9DE1-D3F2B0D7AC98}"/>
              </a:ext>
            </a:extLst>
          </p:cNvPr>
          <p:cNvSpPr>
            <a:spLocks xmlns:a="http://schemas.openxmlformats.org/drawingml/2006/main" noGrp="1"/>
          </p:cNvSpPr>
          <p:nvPr/>
        </p:nvSpPr>
        <p:spPr>
          <a:xfrm xmlns:a="http://schemas.openxmlformats.org/drawingml/2006/main">
            <a:off x="3200400" y="2295000"/>
            <a:ext cx="369396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43" name="Google Shape;443;p10">
            <a:extLst xmlns:a="http://schemas.openxmlformats.org/drawingml/2006/main">
              <a:ext uri="{FF2B5EF4-FFF2-40B4-BE49-F238E27FC236}">
                <a16:creationId xmlns:a16="http://schemas.microsoft.com/office/drawing/2014/main" id="{B5D0A21B-67CC-4B6F-8DCD-F4C7152211D0}"/>
              </a:ext>
            </a:extLst>
          </p:cNvPr>
          <p:cNvSpPr>
            <a:spLocks xmlns:a="http://schemas.openxmlformats.org/drawingml/2006/main" noGrp="1"/>
          </p:cNvSpPr>
          <p:nvPr/>
        </p:nvSpPr>
        <p:spPr>
          <a:xfrm xmlns:a="http://schemas.openxmlformats.org/drawingml/2006/main">
            <a:off x="3200400" y="2295000"/>
            <a:ext cx="3457856" cy="16416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44" name="Google Shape;444;p10">
            <a:extLst xmlns:a="http://schemas.openxmlformats.org/drawingml/2006/main">
              <a:ext uri="{FF2B5EF4-FFF2-40B4-BE49-F238E27FC236}">
                <a16:creationId xmlns:a16="http://schemas.microsoft.com/office/drawing/2014/main" id="{A5BBB0BD-78C3-4291-B6A9-230F596C4DA4}"/>
              </a:ext>
            </a:extLst>
          </p:cNvPr>
          <p:cNvSpPr>
            <a:spLocks xmlns:a="http://schemas.openxmlformats.org/drawingml/2006/main" noGrp="1"/>
          </p:cNvSpPr>
          <p:nvPr/>
        </p:nvSpPr>
        <p:spPr>
          <a:xfrm xmlns:a="http://schemas.openxmlformats.org/drawingml/2006/main">
            <a:off x="7013520" y="2144160"/>
            <a:ext cx="80424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397A7C"/>
                </a:solidFill>
                <a:latin typeface="Arial"/>
                <a:ea typeface="Arial"/>
                <a:cs typeface="Arial"/>
              </a:rPr>
              <a:t>0.0562</a:t>
            </a:r>
            <a:endParaRPr sz="1300" b="0" i="0" u="none" strike="noStrike" cap="none">
              <a:solidFill>
                <a:srgbClr val="000000"/>
              </a:solidFill>
              <a:latin typeface="Arial"/>
              <a:ea typeface="Arial"/>
              <a:cs typeface="Arial"/>
            </a:endParaRPr>
          </a:p>
        </p:txBody>
      </p:sp>
      <p:sp>
        <p:nvSpPr>
          <p:cNvPr id="445" name="Google Shape;445;p10">
            <a:extLst xmlns:a="http://schemas.openxmlformats.org/drawingml/2006/main">
              <a:ext uri="{FF2B5EF4-FFF2-40B4-BE49-F238E27FC236}">
                <a16:creationId xmlns:a16="http://schemas.microsoft.com/office/drawing/2014/main" id="{B2911727-54F7-4E1A-805B-B0E182909352}"/>
              </a:ext>
            </a:extLst>
          </p:cNvPr>
          <p:cNvSpPr>
            <a:spLocks xmlns:a="http://schemas.openxmlformats.org/drawingml/2006/main" noGrp="1"/>
          </p:cNvSpPr>
          <p:nvPr/>
        </p:nvSpPr>
        <p:spPr>
          <a:xfrm xmlns:a="http://schemas.openxmlformats.org/drawingml/2006/main">
            <a:off x="731520" y="2706480"/>
            <a:ext cx="234972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24343B"/>
                </a:solidFill>
                <a:latin typeface="Arial"/>
                <a:ea typeface="Arial"/>
                <a:cs typeface="Arial"/>
              </a:rPr>
              <a:t>Prior inpatient visits</a:t>
            </a:r>
            <a:endParaRPr sz="1150" b="0" i="0" u="none" strike="noStrike" cap="none">
              <a:solidFill>
                <a:srgbClr val="000000"/>
              </a:solidFill>
              <a:latin typeface="Arial"/>
              <a:ea typeface="Arial"/>
              <a:cs typeface="Arial"/>
            </a:endParaRPr>
          </a:p>
        </p:txBody>
      </p:sp>
      <p:sp>
        <p:nvSpPr>
          <p:cNvPr id="446" name="Google Shape;446;p10">
            <a:extLst xmlns:a="http://schemas.openxmlformats.org/drawingml/2006/main">
              <a:ext uri="{FF2B5EF4-FFF2-40B4-BE49-F238E27FC236}">
                <a16:creationId xmlns:a16="http://schemas.microsoft.com/office/drawing/2014/main" id="{9E296453-1266-4F5F-BF26-98158049F15B}"/>
              </a:ext>
            </a:extLst>
          </p:cNvPr>
          <p:cNvSpPr>
            <a:spLocks xmlns:a="http://schemas.openxmlformats.org/drawingml/2006/main" noGrp="1"/>
          </p:cNvSpPr>
          <p:nvPr/>
        </p:nvSpPr>
        <p:spPr>
          <a:xfrm xmlns:a="http://schemas.openxmlformats.org/drawingml/2006/main">
            <a:off x="3200400" y="2843640"/>
            <a:ext cx="369396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47" name="Google Shape;447;p10">
            <a:extLst xmlns:a="http://schemas.openxmlformats.org/drawingml/2006/main">
              <a:ext uri="{FF2B5EF4-FFF2-40B4-BE49-F238E27FC236}">
                <a16:creationId xmlns:a16="http://schemas.microsoft.com/office/drawing/2014/main" id="{0C2C333A-FD12-4EE2-98C3-358B480CC4DC}"/>
              </a:ext>
            </a:extLst>
          </p:cNvPr>
          <p:cNvSpPr>
            <a:spLocks xmlns:a="http://schemas.openxmlformats.org/drawingml/2006/main" noGrp="1"/>
          </p:cNvSpPr>
          <p:nvPr/>
        </p:nvSpPr>
        <p:spPr>
          <a:xfrm xmlns:a="http://schemas.openxmlformats.org/drawingml/2006/main">
            <a:off x="3200400" y="2843640"/>
            <a:ext cx="1145908" cy="16416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48" name="Google Shape;448;p10">
            <a:extLst xmlns:a="http://schemas.openxmlformats.org/drawingml/2006/main">
              <a:ext uri="{FF2B5EF4-FFF2-40B4-BE49-F238E27FC236}">
                <a16:creationId xmlns:a16="http://schemas.microsoft.com/office/drawing/2014/main" id="{88346274-67AF-4307-AB2E-A1C2C2C6990F}"/>
              </a:ext>
            </a:extLst>
          </p:cNvPr>
          <p:cNvSpPr>
            <a:spLocks xmlns:a="http://schemas.openxmlformats.org/drawingml/2006/main" noGrp="1"/>
          </p:cNvSpPr>
          <p:nvPr/>
        </p:nvSpPr>
        <p:spPr>
          <a:xfrm xmlns:a="http://schemas.openxmlformats.org/drawingml/2006/main">
            <a:off x="7013520" y="2692800"/>
            <a:ext cx="80424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56869F"/>
                </a:solidFill>
                <a:latin typeface="Arial"/>
                <a:ea typeface="Arial"/>
                <a:cs typeface="Arial"/>
              </a:rPr>
              <a:t>0.0186</a:t>
            </a:r>
            <a:endParaRPr sz="1300" b="0" i="0" u="none" strike="noStrike" cap="none">
              <a:solidFill>
                <a:srgbClr val="000000"/>
              </a:solidFill>
              <a:latin typeface="Arial"/>
              <a:ea typeface="Arial"/>
              <a:cs typeface="Arial"/>
            </a:endParaRPr>
          </a:p>
        </p:txBody>
      </p:sp>
      <p:sp>
        <p:nvSpPr>
          <p:cNvPr id="449" name="Google Shape;449;p10">
            <a:extLst xmlns:a="http://schemas.openxmlformats.org/drawingml/2006/main">
              <a:ext uri="{FF2B5EF4-FFF2-40B4-BE49-F238E27FC236}">
                <a16:creationId xmlns:a16="http://schemas.microsoft.com/office/drawing/2014/main" id="{1C067139-AF85-4AFC-9A20-E4420D66A2A9}"/>
              </a:ext>
            </a:extLst>
          </p:cNvPr>
          <p:cNvSpPr>
            <a:spLocks xmlns:a="http://schemas.openxmlformats.org/drawingml/2006/main" noGrp="1"/>
          </p:cNvSpPr>
          <p:nvPr/>
        </p:nvSpPr>
        <p:spPr>
          <a:xfrm xmlns:a="http://schemas.openxmlformats.org/drawingml/2006/main">
            <a:off x="731520" y="3255120"/>
            <a:ext cx="234972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24343B"/>
                </a:solidFill>
                <a:latin typeface="Arial"/>
                <a:ea typeface="Arial"/>
                <a:cs typeface="Arial"/>
              </a:rPr>
              <a:t>Payer code</a:t>
            </a:r>
            <a:endParaRPr sz="1150" b="0" i="0" u="none" strike="noStrike" cap="none">
              <a:solidFill>
                <a:srgbClr val="000000"/>
              </a:solidFill>
              <a:latin typeface="Arial"/>
              <a:ea typeface="Arial"/>
              <a:cs typeface="Arial"/>
            </a:endParaRPr>
          </a:p>
        </p:txBody>
      </p:sp>
      <p:sp>
        <p:nvSpPr>
          <p:cNvPr id="450" name="Google Shape;450;p10">
            <a:extLst xmlns:a="http://schemas.openxmlformats.org/drawingml/2006/main">
              <a:ext uri="{FF2B5EF4-FFF2-40B4-BE49-F238E27FC236}">
                <a16:creationId xmlns:a16="http://schemas.microsoft.com/office/drawing/2014/main" id="{727D48A0-8F07-4A1D-B10C-14E23F9037E2}"/>
              </a:ext>
            </a:extLst>
          </p:cNvPr>
          <p:cNvSpPr>
            <a:spLocks xmlns:a="http://schemas.openxmlformats.org/drawingml/2006/main" noGrp="1"/>
          </p:cNvSpPr>
          <p:nvPr/>
        </p:nvSpPr>
        <p:spPr>
          <a:xfrm xmlns:a="http://schemas.openxmlformats.org/drawingml/2006/main">
            <a:off x="3200400" y="3392280"/>
            <a:ext cx="369396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51" name="Google Shape;451;p10">
            <a:extLst xmlns:a="http://schemas.openxmlformats.org/drawingml/2006/main">
              <a:ext uri="{FF2B5EF4-FFF2-40B4-BE49-F238E27FC236}">
                <a16:creationId xmlns:a16="http://schemas.microsoft.com/office/drawing/2014/main" id="{DC460DA6-7C01-4BD3-944C-DDB11FA15DA0}"/>
              </a:ext>
            </a:extLst>
          </p:cNvPr>
          <p:cNvSpPr>
            <a:spLocks xmlns:a="http://schemas.openxmlformats.org/drawingml/2006/main" noGrp="1"/>
          </p:cNvSpPr>
          <p:nvPr/>
        </p:nvSpPr>
        <p:spPr>
          <a:xfrm xmlns:a="http://schemas.openxmlformats.org/drawingml/2006/main">
            <a:off x="3200400" y="3392280"/>
            <a:ext cx="451105" cy="16416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52" name="Google Shape;452;p10">
            <a:extLst xmlns:a="http://schemas.openxmlformats.org/drawingml/2006/main">
              <a:ext uri="{FF2B5EF4-FFF2-40B4-BE49-F238E27FC236}">
                <a16:creationId xmlns:a16="http://schemas.microsoft.com/office/drawing/2014/main" id="{D312AD84-ED97-4E1F-878B-5F4A1D6E07A1}"/>
              </a:ext>
            </a:extLst>
          </p:cNvPr>
          <p:cNvSpPr>
            <a:spLocks xmlns:a="http://schemas.openxmlformats.org/drawingml/2006/main" noGrp="1"/>
          </p:cNvSpPr>
          <p:nvPr/>
        </p:nvSpPr>
        <p:spPr>
          <a:xfrm xmlns:a="http://schemas.openxmlformats.org/drawingml/2006/main">
            <a:off x="7013520" y="3241440"/>
            <a:ext cx="80424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56869F"/>
                </a:solidFill>
                <a:latin typeface="Arial"/>
                <a:ea typeface="Arial"/>
                <a:cs typeface="Arial"/>
              </a:rPr>
              <a:t>0.0073</a:t>
            </a:r>
            <a:endParaRPr sz="1300" b="0" i="0" u="none" strike="noStrike" cap="none">
              <a:solidFill>
                <a:srgbClr val="000000"/>
              </a:solidFill>
              <a:latin typeface="Arial"/>
              <a:ea typeface="Arial"/>
              <a:cs typeface="Arial"/>
            </a:endParaRPr>
          </a:p>
        </p:txBody>
      </p:sp>
      <p:sp>
        <p:nvSpPr>
          <p:cNvPr id="453" name="Google Shape;453;p10">
            <a:extLst xmlns:a="http://schemas.openxmlformats.org/drawingml/2006/main">
              <a:ext uri="{FF2B5EF4-FFF2-40B4-BE49-F238E27FC236}">
                <a16:creationId xmlns:a16="http://schemas.microsoft.com/office/drawing/2014/main" id="{9E23178B-37AF-46B0-B143-0FE6FA933507}"/>
              </a:ext>
            </a:extLst>
          </p:cNvPr>
          <p:cNvSpPr>
            <a:spLocks xmlns:a="http://schemas.openxmlformats.org/drawingml/2006/main" noGrp="1"/>
          </p:cNvSpPr>
          <p:nvPr/>
        </p:nvSpPr>
        <p:spPr>
          <a:xfrm xmlns:a="http://schemas.openxmlformats.org/drawingml/2006/main">
            <a:off x="731520" y="3803760"/>
            <a:ext cx="234972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24343B"/>
                </a:solidFill>
                <a:latin typeface="Arial"/>
                <a:ea typeface="Arial"/>
                <a:cs typeface="Arial"/>
              </a:rPr>
              <a:t>Diagnosis count</a:t>
            </a:r>
            <a:endParaRPr sz="1150" b="0" i="0" u="none" strike="noStrike" cap="none">
              <a:solidFill>
                <a:srgbClr val="000000"/>
              </a:solidFill>
              <a:latin typeface="Arial"/>
              <a:ea typeface="Arial"/>
              <a:cs typeface="Arial"/>
            </a:endParaRPr>
          </a:p>
        </p:txBody>
      </p:sp>
      <p:sp>
        <p:nvSpPr>
          <p:cNvPr id="454" name="Google Shape;454;p10">
            <a:extLst xmlns:a="http://schemas.openxmlformats.org/drawingml/2006/main">
              <a:ext uri="{FF2B5EF4-FFF2-40B4-BE49-F238E27FC236}">
                <a16:creationId xmlns:a16="http://schemas.microsoft.com/office/drawing/2014/main" id="{46DDFFD1-3A0A-4976-BD87-0CE25AC4B872}"/>
              </a:ext>
            </a:extLst>
          </p:cNvPr>
          <p:cNvSpPr>
            <a:spLocks xmlns:a="http://schemas.openxmlformats.org/drawingml/2006/main" noGrp="1"/>
          </p:cNvSpPr>
          <p:nvPr/>
        </p:nvSpPr>
        <p:spPr>
          <a:xfrm xmlns:a="http://schemas.openxmlformats.org/drawingml/2006/main">
            <a:off x="3200400" y="3940920"/>
            <a:ext cx="369396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55" name="Google Shape;455;p10">
            <a:extLst xmlns:a="http://schemas.openxmlformats.org/drawingml/2006/main">
              <a:ext uri="{FF2B5EF4-FFF2-40B4-BE49-F238E27FC236}">
                <a16:creationId xmlns:a16="http://schemas.microsoft.com/office/drawing/2014/main" id="{A6A4D619-6A90-494D-8F9F-E25CED6BF3FB}"/>
              </a:ext>
            </a:extLst>
          </p:cNvPr>
          <p:cNvSpPr>
            <a:spLocks xmlns:a="http://schemas.openxmlformats.org/drawingml/2006/main" noGrp="1"/>
          </p:cNvSpPr>
          <p:nvPr/>
        </p:nvSpPr>
        <p:spPr>
          <a:xfrm xmlns:a="http://schemas.openxmlformats.org/drawingml/2006/main">
            <a:off x="3200400" y="3940920"/>
            <a:ext cx="324681" cy="16416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56" name="Google Shape;456;p10">
            <a:extLst xmlns:a="http://schemas.openxmlformats.org/drawingml/2006/main">
              <a:ext uri="{FF2B5EF4-FFF2-40B4-BE49-F238E27FC236}">
                <a16:creationId xmlns:a16="http://schemas.microsoft.com/office/drawing/2014/main" id="{28B8D841-50F6-4F0D-A9A4-9817AB4E0C73}"/>
              </a:ext>
            </a:extLst>
          </p:cNvPr>
          <p:cNvSpPr>
            <a:spLocks xmlns:a="http://schemas.openxmlformats.org/drawingml/2006/main" noGrp="1"/>
          </p:cNvSpPr>
          <p:nvPr/>
        </p:nvSpPr>
        <p:spPr>
          <a:xfrm xmlns:a="http://schemas.openxmlformats.org/drawingml/2006/main">
            <a:off x="7013520" y="3790080"/>
            <a:ext cx="80424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56869F"/>
                </a:solidFill>
                <a:latin typeface="Arial"/>
                <a:ea typeface="Arial"/>
                <a:cs typeface="Arial"/>
              </a:rPr>
              <a:t>0.0053</a:t>
            </a:r>
            <a:endParaRPr sz="1300" b="0" i="0" u="none" strike="noStrike" cap="none">
              <a:solidFill>
                <a:srgbClr val="000000"/>
              </a:solidFill>
              <a:latin typeface="Arial"/>
              <a:ea typeface="Arial"/>
              <a:cs typeface="Arial"/>
            </a:endParaRPr>
          </a:p>
        </p:txBody>
      </p:sp>
      <p:sp>
        <p:nvSpPr>
          <p:cNvPr id="457" name="Google Shape;457;p10">
            <a:extLst xmlns:a="http://schemas.openxmlformats.org/drawingml/2006/main">
              <a:ext uri="{FF2B5EF4-FFF2-40B4-BE49-F238E27FC236}">
                <a16:creationId xmlns:a16="http://schemas.microsoft.com/office/drawing/2014/main" id="{124EA26D-4D0F-4B52-9861-024E778402A8}"/>
              </a:ext>
            </a:extLst>
          </p:cNvPr>
          <p:cNvSpPr>
            <a:spLocks xmlns:a="http://schemas.openxmlformats.org/drawingml/2006/main" noGrp="1"/>
          </p:cNvSpPr>
          <p:nvPr/>
        </p:nvSpPr>
        <p:spPr>
          <a:xfrm xmlns:a="http://schemas.openxmlformats.org/drawingml/2006/main">
            <a:off x="731520" y="4352400"/>
            <a:ext cx="234972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24343B"/>
                </a:solidFill>
                <a:latin typeface="Arial"/>
                <a:ea typeface="Arial"/>
                <a:cs typeface="Arial"/>
              </a:rPr>
              <a:t>Age midpoint</a:t>
            </a:r>
            <a:endParaRPr sz="1150" b="0" i="0" u="none" strike="noStrike" cap="none">
              <a:solidFill>
                <a:srgbClr val="000000"/>
              </a:solidFill>
              <a:latin typeface="Arial"/>
              <a:ea typeface="Arial"/>
              <a:cs typeface="Arial"/>
            </a:endParaRPr>
          </a:p>
        </p:txBody>
      </p:sp>
      <p:sp>
        <p:nvSpPr>
          <p:cNvPr id="458" name="Google Shape;458;p10">
            <a:extLst xmlns:a="http://schemas.openxmlformats.org/drawingml/2006/main">
              <a:ext uri="{FF2B5EF4-FFF2-40B4-BE49-F238E27FC236}">
                <a16:creationId xmlns:a16="http://schemas.microsoft.com/office/drawing/2014/main" id="{13BE102F-0794-488E-90E6-E3497AA21BB7}"/>
              </a:ext>
            </a:extLst>
          </p:cNvPr>
          <p:cNvSpPr>
            <a:spLocks xmlns:a="http://schemas.openxmlformats.org/drawingml/2006/main" noGrp="1"/>
          </p:cNvSpPr>
          <p:nvPr/>
        </p:nvSpPr>
        <p:spPr>
          <a:xfrm xmlns:a="http://schemas.openxmlformats.org/drawingml/2006/main">
            <a:off x="3200400" y="4489560"/>
            <a:ext cx="369396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59" name="Google Shape;459;p10">
            <a:extLst xmlns:a="http://schemas.openxmlformats.org/drawingml/2006/main">
              <a:ext uri="{FF2B5EF4-FFF2-40B4-BE49-F238E27FC236}">
                <a16:creationId xmlns:a16="http://schemas.microsoft.com/office/drawing/2014/main" id="{E7E5E07A-7446-4CCA-907F-5961B144522D}"/>
              </a:ext>
            </a:extLst>
          </p:cNvPr>
          <p:cNvSpPr>
            <a:spLocks xmlns:a="http://schemas.openxmlformats.org/drawingml/2006/main" noGrp="1"/>
          </p:cNvSpPr>
          <p:nvPr/>
        </p:nvSpPr>
        <p:spPr>
          <a:xfrm xmlns:a="http://schemas.openxmlformats.org/drawingml/2006/main">
            <a:off x="3200400" y="4489560"/>
            <a:ext cx="153911" cy="164160"/>
          </a:xfrm>
          <a:prstGeom xmlns:a="http://schemas.openxmlformats.org/drawingml/2006/main" prst="rect">
            <a:avLst/>
          </a:prstGeom>
          <a:solidFill xmlns:a="http://schemas.openxmlformats.org/drawingml/2006/main">
            <a:srgbClr val="56869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60" name="Google Shape;460;p10">
            <a:extLst xmlns:a="http://schemas.openxmlformats.org/drawingml/2006/main">
              <a:ext uri="{FF2B5EF4-FFF2-40B4-BE49-F238E27FC236}">
                <a16:creationId xmlns:a16="http://schemas.microsoft.com/office/drawing/2014/main" id="{28663EC4-6BAC-41D7-9BC6-411F5FA512A5}"/>
              </a:ext>
            </a:extLst>
          </p:cNvPr>
          <p:cNvSpPr>
            <a:spLocks xmlns:a="http://schemas.openxmlformats.org/drawingml/2006/main" noGrp="1"/>
          </p:cNvSpPr>
          <p:nvPr/>
        </p:nvSpPr>
        <p:spPr>
          <a:xfrm xmlns:a="http://schemas.openxmlformats.org/drawingml/2006/main">
            <a:off x="7013520" y="4338720"/>
            <a:ext cx="804240" cy="244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56869F"/>
                </a:solidFill>
                <a:latin typeface="Arial"/>
                <a:ea typeface="Arial"/>
                <a:cs typeface="Arial"/>
              </a:rPr>
              <a:t>0.0025</a:t>
            </a:r>
            <a:endParaRPr sz="1300" b="0" i="0" u="none" strike="noStrike" cap="none">
              <a:solidFill>
                <a:srgbClr val="000000"/>
              </a:solidFill>
              <a:latin typeface="Arial"/>
              <a:ea typeface="Arial"/>
              <a:cs typeface="Arial"/>
            </a:endParaRPr>
          </a:p>
        </p:txBody>
      </p:sp>
      <p:cxnSp>
        <p:nvCxnSpPr>
          <p:cNvPr id="461" name="Google Shape;461;p10">
            <a:extLst xmlns:a="http://schemas.openxmlformats.org/drawingml/2006/main">
              <a:ext uri="{FF2B5EF4-FFF2-40B4-BE49-F238E27FC236}">
                <a16:creationId xmlns:a16="http://schemas.microsoft.com/office/drawing/2014/main" id="{456AA063-A50C-46F4-9CC8-B9A624510548}"/>
              </a:ext>
            </a:extLst>
          </p:cNvPr>
          <p:cNvCxnSpPr/>
          <p:nvPr/>
        </p:nvCxnSpPr>
        <p:spPr>
          <a:xfrm xmlns:a="http://schemas.openxmlformats.org/drawingml/2006/main">
            <a:off x="8147160" y="1846800"/>
            <a:ext cx="360" cy="360324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469" name="Google Shape;469;p10">
            <a:extLst xmlns:a="http://schemas.openxmlformats.org/drawingml/2006/main">
              <a:ext uri="{FF2B5EF4-FFF2-40B4-BE49-F238E27FC236}">
                <a16:creationId xmlns:a16="http://schemas.microsoft.com/office/drawing/2014/main" id="{2A0E45F6-D0E9-40C0-8AEC-0A403657BD11}"/>
              </a:ext>
            </a:extLst>
          </p:cNvPr>
          <p:cNvSpPr>
            <a:spLocks xmlns:a="http://schemas.openxmlformats.org/drawingml/2006/main" noGrp="1"/>
          </p:cNvSpPr>
          <p:nvPr/>
        </p:nvSpPr>
        <p:spPr>
          <a:xfrm xmlns:a="http://schemas.openxmlformats.org/drawingml/2006/main">
            <a:off x="667440" y="5843160"/>
            <a:ext cx="10899360" cy="42012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70" name="Google Shape;470;p10">
            <a:extLst xmlns:a="http://schemas.openxmlformats.org/drawingml/2006/main">
              <a:ext uri="{FF2B5EF4-FFF2-40B4-BE49-F238E27FC236}">
                <a16:creationId xmlns:a16="http://schemas.microsoft.com/office/drawing/2014/main" id="{4760D1FF-9289-439B-BB2F-F6CDCEE0BA02}"/>
              </a:ext>
            </a:extLst>
          </p:cNvPr>
          <p:cNvSpPr>
            <a:spLocks xmlns:a="http://schemas.openxmlformats.org/drawingml/2006/main" noGrp="1"/>
          </p:cNvSpPr>
          <p:nvPr/>
        </p:nvSpPr>
        <p:spPr>
          <a:xfrm xmlns:a="http://schemas.openxmlformats.org/drawingml/2006/main">
            <a:off x="667440" y="5843160"/>
            <a:ext cx="50040" cy="42012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71" name="Google Shape;471;p10">
            <a:extLst xmlns:a="http://schemas.openxmlformats.org/drawingml/2006/main">
              <a:ext uri="{FF2B5EF4-FFF2-40B4-BE49-F238E27FC236}">
                <a16:creationId xmlns:a16="http://schemas.microsoft.com/office/drawing/2014/main" id="{70E72AAC-9942-446E-9325-2E3A05A5A5BA}"/>
              </a:ext>
            </a:extLst>
          </p:cNvPr>
          <p:cNvSpPr>
            <a:spLocks xmlns:a="http://schemas.openxmlformats.org/drawingml/2006/main" noGrp="1"/>
          </p:cNvSpPr>
          <p:nvPr/>
        </p:nvSpPr>
        <p:spPr>
          <a:xfrm xmlns:a="http://schemas.openxmlformats.org/drawingml/2006/main">
            <a:off x="868680" y="5916240"/>
            <a:ext cx="10478520" cy="28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1C3138"/>
                </a:solidFill>
                <a:latin typeface="Arial"/>
                <a:ea typeface="Arial"/>
                <a:cs typeface="Arial"/>
              </a:rPr>
              <a:t>Variable importance and PDP/ICE reveal model reliance, not why readmissions happen.</a:t>
            </a:r>
            <a:endParaRPr sz="1150" b="0" i="0" u="none" strike="noStrike" cap="none">
              <a:solidFill>
                <a:srgbClr val="000000"/>
              </a:solidFill>
              <a:latin typeface="Arial"/>
              <a:ea typeface="Arial"/>
              <a:cs typeface="Arial"/>
            </a:endParaRPr>
          </a:p>
        </p:txBody>
      </p:sp>
      <p:sp>
        <p:nvSpPr>
          <p:cNvPr id="472" name="">
            <a:extLst xmlns:a="http://schemas.openxmlformats.org/drawingml/2006/main">
              <a:ext uri="{FF2B5EF4-FFF2-40B4-BE49-F238E27FC236}">
                <a16:creationId xmlns:a16="http://schemas.microsoft.com/office/drawing/2014/main" id="{D4048EA0-0485-47B4-91BC-898163994EC0}"/>
              </a:ext>
            </a:extLst>
          </p:cNvPr>
          <p:cNvSpPr>
            <a:spLocks xmlns:a="http://schemas.openxmlformats.org/drawingml/2006/main" noGrp="1"/>
          </p:cNvSpPr>
          <p:nvPr/>
        </p:nvSpPr>
        <p:spPr>
          <a:xfrm xmlns:a="http://schemas.openxmlformats.org/drawingml/2006/main">
            <a:off x="8334375" y="1762125"/>
            <a:ext cx="319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1">
                <a:solidFill>
                  <a:srgbClr val="66757B"/>
                </a:solidFill>
                <a:latin typeface="Arial"/>
                <a:ea typeface="Arial"/>
                <a:cs typeface="Arial"/>
              </a:defRPr>
            </a:defPPr>
          </a:lstStyle>
          <a:p xmlns:a="http://schemas.openxmlformats.org/drawingml/2006/main">
            <a:pPr>
              <a:defRPr sz="1000" b="1">
                <a:solidFill>
                  <a:srgbClr val="66757B"/>
                </a:solidFill>
                <a:latin typeface="Arial"/>
                <a:ea typeface="Arial"/>
                <a:cs typeface="Arial"/>
              </a:defRPr>
            </a:pPr>
            <a:r>
              <a:rPr sz="1000" b="1">
                <a:solidFill>
                  <a:srgbClr val="66757B"/>
                </a:solidFill>
                <a:latin typeface="Arial"/>
                <a:ea typeface="Arial"/>
                <a:cs typeface="Arial"/>
              </a:rPr>
              <a:t>PDP AND REPRESENTATIVE ICE</a:t>
            </a:r>
          </a:p>
        </p:txBody>
      </p:sp>
      <p:graphicFrame>
        <p:nvGraphicFramePr>
          <p:cNvPr id="473" name="Chart">
            <a:extLst xmlns:a="http://schemas.openxmlformats.org/drawingml/2006/main">
              <a:ext uri="{FF2B5EF4-FFF2-40B4-BE49-F238E27FC236}">
                <a16:creationId xmlns:a16="http://schemas.microsoft.com/office/drawing/2014/main" id="{8BAB2741-5E70-4385-A2A7-0D11EF0200D2}"/>
              </a:ext>
            </a:extLst>
          </p:cNvPr>
          <p:cNvGraphicFramePr/>
          <p:nvPr/>
        </p:nvGraphicFramePr>
        <p:xfrm>
          <a:off xmlns:a="http://schemas.openxmlformats.org/drawingml/2006/main" x="8286750" y="2143125"/>
          <a:ext xmlns:a="http://schemas.openxmlformats.org/drawingml/2006/main" cx="3238500" cy="2857500"/>
        </p:xfrm>
        <a:graphic xmlns:a="http://schemas.openxmlformats.org/drawingml/2006/main">
          <a:graphicData uri="http://schemas.openxmlformats.org/drawingml/2006/chart">
            <c:chart xmlns:r="http://schemas.openxmlformats.org/officeDocument/2006/relationships" xmlns:c="http://schemas.openxmlformats.org/drawingml/2006/chart" r:id="R0449310a23eb4d46"/>
          </a:graphicData>
        </a:graphic>
      </p:graphicFrame>
      <p:sp>
        <p:nvSpPr>
          <p:cNvPr id="474" name="">
            <a:extLst xmlns:a="http://schemas.openxmlformats.org/drawingml/2006/main">
              <a:ext uri="{FF2B5EF4-FFF2-40B4-BE49-F238E27FC236}">
                <a16:creationId xmlns:a16="http://schemas.microsoft.com/office/drawing/2014/main" id="{743EE123-29B9-408A-BF87-B38969848E17}"/>
              </a:ext>
            </a:extLst>
          </p:cNvPr>
          <p:cNvSpPr>
            <a:spLocks xmlns:a="http://schemas.openxmlformats.org/drawingml/2006/main" noGrp="1"/>
          </p:cNvSpPr>
          <p:nvPr/>
        </p:nvSpPr>
        <p:spPr>
          <a:xfrm xmlns:a="http://schemas.openxmlformats.org/drawingml/2006/main">
            <a:off x="8420100" y="5133975"/>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4343B"/>
                </a:solidFill>
                <a:latin typeface="Arial"/>
                <a:ea typeface="Arial"/>
                <a:cs typeface="Arial"/>
              </a:defRPr>
            </a:defPPr>
          </a:lstStyle>
          <a:p xmlns:a="http://schemas.openxmlformats.org/drawingml/2006/main">
            <a:pPr>
              <a:defRPr sz="1275" b="0">
                <a:solidFill>
                  <a:srgbClr val="24343B"/>
                </a:solidFill>
                <a:latin typeface="Arial"/>
                <a:ea typeface="Arial"/>
                <a:cs typeface="Arial"/>
              </a:defRPr>
            </a:pPr>
            <a:r>
              <a:rPr sz="1275" b="0">
                <a:solidFill>
                  <a:srgbClr val="24343B"/>
                </a:solidFill>
                <a:latin typeface="Arial"/>
                <a:ea typeface="Arial"/>
                <a:cs typeface="Arial"/>
              </a:rPr>
              <a:t>Prior inpatient visits: 0 vs 1</a:t>
            </a:r>
          </a:p>
          <a:p xmlns:a="http://schemas.openxmlformats.org/drawingml/2006/main">
            <a:pPr>
              <a:defRPr sz="1275" b="0">
                <a:solidFill>
                  <a:srgbClr val="24343B"/>
                </a:solidFill>
                <a:latin typeface="Arial"/>
                <a:ea typeface="Arial"/>
                <a:cs typeface="Arial"/>
              </a:defRPr>
            </a:pPr>
            <a:r>
              <a:rPr sz="1275" b="0">
                <a:solidFill>
                  <a:srgbClr val="24343B"/>
                </a:solidFill>
                <a:latin typeface="Arial"/>
                <a:ea typeface="Arial"/>
                <a:cs typeface="Arial"/>
              </a:rPr>
              <a:t>Mean score: 8.37% to 11.71%</a:t>
            </a:r>
          </a:p>
        </p:txBody>
      </p:sp>
    </p:spTree>
    <p:extLst>
      <p:ext uri="{BB962C8B-B14F-4D97-AF65-F5344CB8AC3E}">
        <p14:creationId xmlns:p14="http://schemas.microsoft.com/office/powerpoint/2010/main" val="119394853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77" name="Google Shape;477;p11">
            <a:extLst xmlns:a="http://schemas.openxmlformats.org/drawingml/2006/main">
              <a:ext uri="{FF2B5EF4-FFF2-40B4-BE49-F238E27FC236}">
                <a16:creationId xmlns:a16="http://schemas.microsoft.com/office/drawing/2014/main" id="{E06DF304-D8B8-41F7-AFF2-073AB3E3A1E9}"/>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F9F8F5"/>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78" name="Google Shape;478;p11">
            <a:extLst xmlns:a="http://schemas.openxmlformats.org/drawingml/2006/main">
              <a:ext uri="{FF2B5EF4-FFF2-40B4-BE49-F238E27FC236}">
                <a16:creationId xmlns:a16="http://schemas.microsoft.com/office/drawing/2014/main" id="{6B874493-BEDF-4F73-8CBC-3E6B3B2F3E67}"/>
              </a:ext>
            </a:extLst>
          </p:cNvPr>
          <p:cNvSpPr>
            <a:spLocks xmlns:a="http://schemas.openxmlformats.org/drawingml/2006/main" noGrp="1"/>
          </p:cNvSpPr>
          <p:nvPr/>
        </p:nvSpPr>
        <p:spPr>
          <a:xfrm xmlns:a="http://schemas.openxmlformats.org/drawingml/2006/main">
            <a:off x="493920" y="365760"/>
            <a:ext cx="109440" cy="109440"/>
          </a:xfrm>
          <a:prstGeom xmlns:a="http://schemas.openxmlformats.org/drawingml/2006/main" prst="ellipse">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32750" rIns="90000" bIns="327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79" name="Google Shape;479;p11">
            <a:extLst xmlns:a="http://schemas.openxmlformats.org/drawingml/2006/main">
              <a:ext uri="{FF2B5EF4-FFF2-40B4-BE49-F238E27FC236}">
                <a16:creationId xmlns:a16="http://schemas.microsoft.com/office/drawing/2014/main" id="{0768E0BD-AA17-4E18-84D6-4E543F41EA72}"/>
              </a:ext>
            </a:extLst>
          </p:cNvPr>
          <p:cNvSpPr>
            <a:spLocks xmlns:a="http://schemas.openxmlformats.org/drawingml/2006/main" noGrp="1"/>
          </p:cNvSpPr>
          <p:nvPr/>
        </p:nvSpPr>
        <p:spPr>
          <a:xfrm xmlns:a="http://schemas.openxmlformats.org/drawingml/2006/main">
            <a:off x="7434000" y="311040"/>
            <a:ext cx="415116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66757B"/>
                </a:solidFill>
                <a:latin typeface="Arial"/>
                <a:ea typeface="Arial"/>
                <a:cs typeface="Arial"/>
              </a:rPr>
              <a:t>05  /  FAIRNESS AUDIT</a:t>
            </a:r>
            <a:endParaRPr sz="900" b="0" i="0" u="none" strike="noStrike" cap="none">
              <a:solidFill>
                <a:srgbClr val="000000"/>
              </a:solidFill>
              <a:latin typeface="Arial"/>
              <a:ea typeface="Arial"/>
              <a:cs typeface="Arial"/>
            </a:endParaRPr>
          </a:p>
        </p:txBody>
      </p:sp>
      <p:sp>
        <p:nvSpPr>
          <p:cNvPr id="480" name="Google Shape;480;p11">
            <a:extLst xmlns:a="http://schemas.openxmlformats.org/drawingml/2006/main">
              <a:ext uri="{FF2B5EF4-FFF2-40B4-BE49-F238E27FC236}">
                <a16:creationId xmlns:a16="http://schemas.microsoft.com/office/drawing/2014/main" id="{9910FE60-3F7C-4E47-8398-6F4FD52DE064}"/>
              </a:ext>
            </a:extLst>
          </p:cNvPr>
          <p:cNvSpPr>
            <a:spLocks xmlns:a="http://schemas.openxmlformats.org/drawingml/2006/main" noGrp="1"/>
          </p:cNvSpPr>
          <p:nvPr/>
        </p:nvSpPr>
        <p:spPr>
          <a:xfrm xmlns:a="http://schemas.openxmlformats.org/drawingml/2006/main">
            <a:off x="612720" y="713160"/>
            <a:ext cx="10972440" cy="630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900" b="1" i="0" u="none" strike="noStrike" cap="none">
                <a:solidFill>
                  <a:srgbClr val="1C3138"/>
                </a:solidFill>
                <a:latin typeface="Georgia"/>
                <a:ea typeface="Georgia"/>
                <a:cs typeface="Georgia"/>
              </a:rPr>
              <a:t>A single contact policy reaches groups differently</a:t>
            </a:r>
            <a:endParaRPr sz="2900" b="0" i="0" u="none" strike="noStrike" cap="none">
              <a:solidFill>
                <a:srgbClr val="000000"/>
              </a:solidFill>
              <a:latin typeface="Arial"/>
              <a:ea typeface="Arial"/>
              <a:cs typeface="Arial"/>
            </a:endParaRPr>
          </a:p>
        </p:txBody>
      </p:sp>
      <p:cxnSp>
        <p:nvCxnSpPr>
          <p:cNvPr id="481" name="Google Shape;481;p11">
            <a:extLst xmlns:a="http://schemas.openxmlformats.org/drawingml/2006/main">
              <a:ext uri="{FF2B5EF4-FFF2-40B4-BE49-F238E27FC236}">
                <a16:creationId xmlns:a16="http://schemas.microsoft.com/office/drawing/2014/main" id="{3CEAAFEA-909A-4B42-97E9-FA997732BC80}"/>
              </a:ext>
            </a:extLst>
          </p:cNvPr>
          <p:cNvCxnSpPr/>
          <p:nvPr/>
        </p:nvCxnSpPr>
        <p:spPr>
          <a:xfrm xmlns:a="http://schemas.openxmlformats.org/drawingml/2006/main">
            <a:off x="640080" y="1453680"/>
            <a:ext cx="10918080" cy="360"/>
          </a:xfrm>
          <a:prstGeom xmlns:a="http://schemas.openxmlformats.org/drawingml/2006/main" prst="straightConnector1">
            <a:avLst/>
          </a:prstGeom>
          <a:ln xmlns:a="http://schemas.openxmlformats.org/drawingml/2006/main" w="15875" cap="flat">
            <a:solidFill>
              <a:srgbClr val="1C3138"/>
            </a:solidFill>
            <a:prstDash val="solid"/>
            <a:round/>
            <a:headEnd type="none" w="sm" len="sm"/>
            <a:tailEnd type="none" w="sm" len="sm"/>
          </a:ln>
        </p:spPr>
      </p:cxnSp>
      <p:cxnSp>
        <p:nvCxnSpPr>
          <p:cNvPr id="482" name="Google Shape;482;p11">
            <a:extLst xmlns:a="http://schemas.openxmlformats.org/drawingml/2006/main">
              <a:ext uri="{FF2B5EF4-FFF2-40B4-BE49-F238E27FC236}">
                <a16:creationId xmlns:a16="http://schemas.microsoft.com/office/drawing/2014/main" id="{82DE1606-A2B1-498B-9954-6214BC31435A}"/>
              </a:ext>
            </a:extLst>
          </p:cNvPr>
          <p:cNvCxnSpPr/>
          <p:nvPr/>
        </p:nvCxnSpPr>
        <p:spPr>
          <a:xfrm xmlns:a="http://schemas.openxmlformats.org/drawingml/2006/main">
            <a:off x="630720" y="6464520"/>
            <a:ext cx="10927440" cy="360"/>
          </a:xfrm>
          <a:prstGeom xmlns:a="http://schemas.openxmlformats.org/drawingml/2006/main" prst="straightConnector1">
            <a:avLst/>
          </a:prstGeom>
          <a:ln xmlns:a="http://schemas.openxmlformats.org/drawingml/2006/main" w="10150" cap="flat">
            <a:solidFill>
              <a:srgbClr val="D6DEDA"/>
            </a:solidFill>
            <a:prstDash val="solid"/>
            <a:round/>
            <a:headEnd type="none" w="sm" len="sm"/>
            <a:tailEnd type="none" w="sm" len="sm"/>
          </a:ln>
        </p:spPr>
      </p:cxnSp>
      <p:sp>
        <p:nvSpPr>
          <p:cNvPr id="483" name="Google Shape;483;p11">
            <a:extLst xmlns:a="http://schemas.openxmlformats.org/drawingml/2006/main">
              <a:ext uri="{FF2B5EF4-FFF2-40B4-BE49-F238E27FC236}">
                <a16:creationId xmlns:a16="http://schemas.microsoft.com/office/drawing/2014/main" id="{033F8E4B-68A6-4ABC-9B72-80B5F32F19A4}"/>
              </a:ext>
            </a:extLst>
          </p:cNvPr>
          <p:cNvSpPr>
            <a:spLocks xmlns:a="http://schemas.openxmlformats.org/drawingml/2006/main" noGrp="1"/>
          </p:cNvSpPr>
          <p:nvPr/>
        </p:nvSpPr>
        <p:spPr>
          <a:xfrm xmlns:a="http://schemas.openxmlformats.org/drawingml/2006/main">
            <a:off x="649080" y="6519600"/>
            <a:ext cx="10496880" cy="200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800" b="0" i="0" u="none" strike="noStrike" cap="none">
                <a:solidFill>
                  <a:srgbClr val="66757B"/>
                </a:solidFill>
                <a:latin typeface="Arial"/>
                <a:ea typeface="Arial"/>
                <a:cs typeface="Arial"/>
              </a:rPr>
              <a:t>Notebook 06 §6.8 · Test top-20% policy; recall among recorded readmissions</a:t>
            </a:r>
            <a:endParaRPr sz="800" b="0" i="0" u="none" strike="noStrike" cap="none">
              <a:solidFill>
                <a:srgbClr val="000000"/>
              </a:solidFill>
              <a:latin typeface="Arial"/>
              <a:ea typeface="Arial"/>
              <a:cs typeface="Arial"/>
            </a:endParaRPr>
          </a:p>
        </p:txBody>
      </p:sp>
      <p:sp>
        <p:nvSpPr>
          <p:cNvPr id="484" name="Google Shape;484;p11">
            <a:extLst xmlns:a="http://schemas.openxmlformats.org/drawingml/2006/main">
              <a:ext uri="{FF2B5EF4-FFF2-40B4-BE49-F238E27FC236}">
                <a16:creationId xmlns:a16="http://schemas.microsoft.com/office/drawing/2014/main" id="{12725C4F-714B-4528-B288-04BDF93FA60A}"/>
              </a:ext>
            </a:extLst>
          </p:cNvPr>
          <p:cNvSpPr>
            <a:spLocks xmlns:a="http://schemas.openxmlformats.org/drawingml/2006/main" noGrp="1"/>
          </p:cNvSpPr>
          <p:nvPr/>
        </p:nvSpPr>
        <p:spPr>
          <a:xfrm xmlns:a="http://schemas.openxmlformats.org/drawingml/2006/main">
            <a:off x="11137320" y="6501240"/>
            <a:ext cx="4384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1C3138"/>
                </a:solidFill>
                <a:latin typeface="Arial"/>
                <a:ea typeface="Arial"/>
                <a:cs typeface="Arial"/>
              </a:rPr>
              <a:t>11</a:t>
            </a:r>
            <a:endParaRPr sz="900" b="0" i="0" u="none" strike="noStrike" cap="none">
              <a:solidFill>
                <a:srgbClr val="000000"/>
              </a:solidFill>
              <a:latin typeface="Arial"/>
              <a:ea typeface="Arial"/>
              <a:cs typeface="Arial"/>
            </a:endParaRPr>
          </a:p>
        </p:txBody>
      </p:sp>
      <p:sp>
        <p:nvSpPr>
          <p:cNvPr id="485" name="Google Shape;485;p11">
            <a:extLst xmlns:a="http://schemas.openxmlformats.org/drawingml/2006/main">
              <a:ext uri="{FF2B5EF4-FFF2-40B4-BE49-F238E27FC236}">
                <a16:creationId xmlns:a16="http://schemas.microsoft.com/office/drawing/2014/main" id="{FB493015-33C8-44F3-A646-8C369C682AA3}"/>
              </a:ext>
            </a:extLst>
          </p:cNvPr>
          <p:cNvSpPr>
            <a:spLocks xmlns:a="http://schemas.openxmlformats.org/drawingml/2006/main" noGrp="1"/>
          </p:cNvSpPr>
          <p:nvPr/>
        </p:nvSpPr>
        <p:spPr>
          <a:xfrm xmlns:a="http://schemas.openxmlformats.org/drawingml/2006/main">
            <a:off x="749880" y="177408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RECALL AT THE OVERALL TOP-20% SELECTION RULE</a:t>
            </a:r>
            <a:endParaRPr sz="1000" b="0" i="0" u="none" strike="noStrike" cap="none">
              <a:solidFill>
                <a:srgbClr val="000000"/>
              </a:solidFill>
              <a:latin typeface="Arial"/>
              <a:ea typeface="Arial"/>
              <a:cs typeface="Arial"/>
            </a:endParaRPr>
          </a:p>
        </p:txBody>
      </p:sp>
      <p:sp>
        <p:nvSpPr>
          <p:cNvPr id="486" name="Google Shape;486;p11">
            <a:extLst xmlns:a="http://schemas.openxmlformats.org/drawingml/2006/main">
              <a:ext uri="{FF2B5EF4-FFF2-40B4-BE49-F238E27FC236}">
                <a16:creationId xmlns:a16="http://schemas.microsoft.com/office/drawing/2014/main" id="{380B742A-2E08-40C9-856A-5916DB46097B}"/>
              </a:ext>
            </a:extLst>
          </p:cNvPr>
          <p:cNvSpPr>
            <a:spLocks xmlns:a="http://schemas.openxmlformats.org/drawingml/2006/main" noGrp="1"/>
          </p:cNvSpPr>
          <p:nvPr/>
        </p:nvSpPr>
        <p:spPr>
          <a:xfrm xmlns:a="http://schemas.openxmlformats.org/drawingml/2006/main">
            <a:off x="758880" y="2185560"/>
            <a:ext cx="209376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Caucasian</a:t>
            </a:r>
            <a:endParaRPr sz="1300" b="0" i="0" u="none" strike="noStrike" cap="none">
              <a:solidFill>
                <a:srgbClr val="000000"/>
              </a:solidFill>
              <a:latin typeface="Arial"/>
              <a:ea typeface="Arial"/>
              <a:cs typeface="Arial"/>
            </a:endParaRPr>
          </a:p>
        </p:txBody>
      </p:sp>
      <p:sp>
        <p:nvSpPr>
          <p:cNvPr id="487" name="Google Shape;487;p11">
            <a:extLst xmlns:a="http://schemas.openxmlformats.org/drawingml/2006/main">
              <a:ext uri="{FF2B5EF4-FFF2-40B4-BE49-F238E27FC236}">
                <a16:creationId xmlns:a16="http://schemas.microsoft.com/office/drawing/2014/main" id="{DF93D818-BDB2-4301-A537-0C85F1293F90}"/>
              </a:ext>
            </a:extLst>
          </p:cNvPr>
          <p:cNvSpPr>
            <a:spLocks xmlns:a="http://schemas.openxmlformats.org/drawingml/2006/main" noGrp="1"/>
          </p:cNvSpPr>
          <p:nvPr/>
        </p:nvSpPr>
        <p:spPr>
          <a:xfrm xmlns:a="http://schemas.openxmlformats.org/drawingml/2006/main">
            <a:off x="2971800" y="2322720"/>
            <a:ext cx="561420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88" name="Google Shape;488;p11">
            <a:extLst xmlns:a="http://schemas.openxmlformats.org/drawingml/2006/main">
              <a:ext uri="{FF2B5EF4-FFF2-40B4-BE49-F238E27FC236}">
                <a16:creationId xmlns:a16="http://schemas.microsoft.com/office/drawing/2014/main" id="{BE968996-B98A-4B57-AA9C-3CD0E1952131}"/>
              </a:ext>
            </a:extLst>
          </p:cNvPr>
          <p:cNvSpPr>
            <a:spLocks xmlns:a="http://schemas.openxmlformats.org/drawingml/2006/main" noGrp="1"/>
          </p:cNvSpPr>
          <p:nvPr/>
        </p:nvSpPr>
        <p:spPr>
          <a:xfrm xmlns:a="http://schemas.openxmlformats.org/drawingml/2006/main">
            <a:off x="2971800" y="2322720"/>
            <a:ext cx="4706640" cy="16416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89" name="Google Shape;489;p11">
            <a:extLst xmlns:a="http://schemas.openxmlformats.org/drawingml/2006/main">
              <a:ext uri="{FF2B5EF4-FFF2-40B4-BE49-F238E27FC236}">
                <a16:creationId xmlns:a16="http://schemas.microsoft.com/office/drawing/2014/main" id="{C2F14A04-0D86-4703-9159-252AC3375D03}"/>
              </a:ext>
            </a:extLst>
          </p:cNvPr>
          <p:cNvSpPr>
            <a:spLocks xmlns:a="http://schemas.openxmlformats.org/drawingml/2006/main" noGrp="1"/>
          </p:cNvSpPr>
          <p:nvPr/>
        </p:nvSpPr>
        <p:spPr>
          <a:xfrm xmlns:a="http://schemas.openxmlformats.org/drawingml/2006/main">
            <a:off x="8705160" y="2171880"/>
            <a:ext cx="80424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397A7C"/>
                </a:solidFill>
                <a:latin typeface="Arial"/>
                <a:ea typeface="Arial"/>
                <a:cs typeface="Arial"/>
              </a:rPr>
              <a:t>41.92%</a:t>
            </a:r>
            <a:endParaRPr sz="1300" b="0" i="0" u="none" strike="noStrike" cap="none">
              <a:solidFill>
                <a:srgbClr val="000000"/>
              </a:solidFill>
              <a:latin typeface="Arial"/>
              <a:ea typeface="Arial"/>
              <a:cs typeface="Arial"/>
            </a:endParaRPr>
          </a:p>
        </p:txBody>
      </p:sp>
      <p:sp>
        <p:nvSpPr>
          <p:cNvPr id="490" name="Google Shape;490;p11">
            <a:extLst xmlns:a="http://schemas.openxmlformats.org/drawingml/2006/main">
              <a:ext uri="{FF2B5EF4-FFF2-40B4-BE49-F238E27FC236}">
                <a16:creationId xmlns:a16="http://schemas.microsoft.com/office/drawing/2014/main" id="{77977990-A966-48C5-BA47-C28CBBEB6922}"/>
              </a:ext>
            </a:extLst>
          </p:cNvPr>
          <p:cNvSpPr>
            <a:spLocks xmlns:a="http://schemas.openxmlformats.org/drawingml/2006/main" noGrp="1"/>
          </p:cNvSpPr>
          <p:nvPr/>
        </p:nvSpPr>
        <p:spPr>
          <a:xfrm xmlns:a="http://schemas.openxmlformats.org/drawingml/2006/main">
            <a:off x="9683640" y="2249280"/>
            <a:ext cx="159084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100" b="0" i="0" u="none" strike="noStrike" cap="none">
                <a:solidFill>
                  <a:srgbClr val="66757B"/>
                </a:solidFill>
                <a:latin typeface="Arial"/>
                <a:ea typeface="Arial"/>
                <a:cs typeface="Arial"/>
              </a:rPr>
              <a:t>718 positives</a:t>
            </a:r>
            <a:endParaRPr sz="1100" b="0" i="0" u="none" strike="noStrike" cap="none">
              <a:solidFill>
                <a:srgbClr val="000000"/>
              </a:solidFill>
              <a:latin typeface="Arial"/>
              <a:ea typeface="Arial"/>
              <a:cs typeface="Arial"/>
            </a:endParaRPr>
          </a:p>
        </p:txBody>
      </p:sp>
      <p:sp>
        <p:nvSpPr>
          <p:cNvPr id="491" name="Google Shape;491;p11">
            <a:extLst xmlns:a="http://schemas.openxmlformats.org/drawingml/2006/main">
              <a:ext uri="{FF2B5EF4-FFF2-40B4-BE49-F238E27FC236}">
                <a16:creationId xmlns:a16="http://schemas.microsoft.com/office/drawing/2014/main" id="{2FA963B7-B3D7-4F69-877F-ECC1AE2A0D1D}"/>
              </a:ext>
            </a:extLst>
          </p:cNvPr>
          <p:cNvSpPr>
            <a:spLocks xmlns:a="http://schemas.openxmlformats.org/drawingml/2006/main" noGrp="1"/>
          </p:cNvSpPr>
          <p:nvPr/>
        </p:nvSpPr>
        <p:spPr>
          <a:xfrm xmlns:a="http://schemas.openxmlformats.org/drawingml/2006/main">
            <a:off x="758880" y="2807280"/>
            <a:ext cx="209376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African American</a:t>
            </a:r>
            <a:endParaRPr sz="1300" b="0" i="0" u="none" strike="noStrike" cap="none">
              <a:solidFill>
                <a:srgbClr val="000000"/>
              </a:solidFill>
              <a:latin typeface="Arial"/>
              <a:ea typeface="Arial"/>
              <a:cs typeface="Arial"/>
            </a:endParaRPr>
          </a:p>
        </p:txBody>
      </p:sp>
      <p:sp>
        <p:nvSpPr>
          <p:cNvPr id="492" name="Google Shape;492;p11">
            <a:extLst xmlns:a="http://schemas.openxmlformats.org/drawingml/2006/main">
              <a:ext uri="{FF2B5EF4-FFF2-40B4-BE49-F238E27FC236}">
                <a16:creationId xmlns:a16="http://schemas.microsoft.com/office/drawing/2014/main" id="{ADC723A2-A4DB-4EE4-99DC-3B35859404FA}"/>
              </a:ext>
            </a:extLst>
          </p:cNvPr>
          <p:cNvSpPr>
            <a:spLocks xmlns:a="http://schemas.openxmlformats.org/drawingml/2006/main" noGrp="1"/>
          </p:cNvSpPr>
          <p:nvPr/>
        </p:nvSpPr>
        <p:spPr>
          <a:xfrm xmlns:a="http://schemas.openxmlformats.org/drawingml/2006/main">
            <a:off x="2971800" y="2944440"/>
            <a:ext cx="561420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93" name="Google Shape;493;p11">
            <a:extLst xmlns:a="http://schemas.openxmlformats.org/drawingml/2006/main">
              <a:ext uri="{FF2B5EF4-FFF2-40B4-BE49-F238E27FC236}">
                <a16:creationId xmlns:a16="http://schemas.microsoft.com/office/drawing/2014/main" id="{0E728183-3F99-4886-9555-D82DC79DA532}"/>
              </a:ext>
            </a:extLst>
          </p:cNvPr>
          <p:cNvSpPr>
            <a:spLocks xmlns:a="http://schemas.openxmlformats.org/drawingml/2006/main" noGrp="1"/>
          </p:cNvSpPr>
          <p:nvPr/>
        </p:nvSpPr>
        <p:spPr>
          <a:xfrm xmlns:a="http://schemas.openxmlformats.org/drawingml/2006/main">
            <a:off x="2971800" y="2944440"/>
            <a:ext cx="3111120" cy="16416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94" name="Google Shape;494;p11">
            <a:extLst xmlns:a="http://schemas.openxmlformats.org/drawingml/2006/main">
              <a:ext uri="{FF2B5EF4-FFF2-40B4-BE49-F238E27FC236}">
                <a16:creationId xmlns:a16="http://schemas.microsoft.com/office/drawing/2014/main" id="{EBBC5387-7BD3-4EB5-881C-361A1E6C8361}"/>
              </a:ext>
            </a:extLst>
          </p:cNvPr>
          <p:cNvSpPr>
            <a:spLocks xmlns:a="http://schemas.openxmlformats.org/drawingml/2006/main" noGrp="1"/>
          </p:cNvSpPr>
          <p:nvPr/>
        </p:nvSpPr>
        <p:spPr>
          <a:xfrm xmlns:a="http://schemas.openxmlformats.org/drawingml/2006/main">
            <a:off x="8705160" y="2793600"/>
            <a:ext cx="80424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BE7E5B"/>
                </a:solidFill>
                <a:latin typeface="Arial"/>
                <a:ea typeface="Arial"/>
                <a:cs typeface="Arial"/>
              </a:rPr>
              <a:t>27.71%</a:t>
            </a:r>
            <a:endParaRPr sz="1300" b="0" i="0" u="none" strike="noStrike" cap="none">
              <a:solidFill>
                <a:srgbClr val="000000"/>
              </a:solidFill>
              <a:latin typeface="Arial"/>
              <a:ea typeface="Arial"/>
              <a:cs typeface="Arial"/>
            </a:endParaRPr>
          </a:p>
        </p:txBody>
      </p:sp>
      <p:sp>
        <p:nvSpPr>
          <p:cNvPr id="495" name="Google Shape;495;p11">
            <a:extLst xmlns:a="http://schemas.openxmlformats.org/drawingml/2006/main">
              <a:ext uri="{FF2B5EF4-FFF2-40B4-BE49-F238E27FC236}">
                <a16:creationId xmlns:a16="http://schemas.microsoft.com/office/drawing/2014/main" id="{1C6E0CC8-6286-4E50-BC20-F31F1E55AA8B}"/>
              </a:ext>
            </a:extLst>
          </p:cNvPr>
          <p:cNvSpPr>
            <a:spLocks xmlns:a="http://schemas.openxmlformats.org/drawingml/2006/main" noGrp="1"/>
          </p:cNvSpPr>
          <p:nvPr/>
        </p:nvSpPr>
        <p:spPr>
          <a:xfrm xmlns:a="http://schemas.openxmlformats.org/drawingml/2006/main">
            <a:off x="9683640" y="2871360"/>
            <a:ext cx="159084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100" b="0" i="0" u="none" strike="noStrike" cap="none">
                <a:solidFill>
                  <a:srgbClr val="66757B"/>
                </a:solidFill>
                <a:latin typeface="Arial"/>
                <a:ea typeface="Arial"/>
                <a:cs typeface="Arial"/>
              </a:rPr>
              <a:t>166 positives</a:t>
            </a:r>
            <a:endParaRPr sz="1100" b="0" i="0" u="none" strike="noStrike" cap="none">
              <a:solidFill>
                <a:srgbClr val="000000"/>
              </a:solidFill>
              <a:latin typeface="Arial"/>
              <a:ea typeface="Arial"/>
              <a:cs typeface="Arial"/>
            </a:endParaRPr>
          </a:p>
        </p:txBody>
      </p:sp>
      <p:sp>
        <p:nvSpPr>
          <p:cNvPr id="496" name="Google Shape;496;p11">
            <a:extLst xmlns:a="http://schemas.openxmlformats.org/drawingml/2006/main">
              <a:ext uri="{FF2B5EF4-FFF2-40B4-BE49-F238E27FC236}">
                <a16:creationId xmlns:a16="http://schemas.microsoft.com/office/drawing/2014/main" id="{05F77B01-3A15-4FE8-90A8-D87AE822295E}"/>
              </a:ext>
            </a:extLst>
          </p:cNvPr>
          <p:cNvSpPr>
            <a:spLocks xmlns:a="http://schemas.openxmlformats.org/drawingml/2006/main" noGrp="1"/>
          </p:cNvSpPr>
          <p:nvPr/>
        </p:nvSpPr>
        <p:spPr>
          <a:xfrm xmlns:a="http://schemas.openxmlformats.org/drawingml/2006/main">
            <a:off x="758880" y="3429000"/>
            <a:ext cx="209376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Female</a:t>
            </a:r>
            <a:endParaRPr sz="1300" b="0" i="0" u="none" strike="noStrike" cap="none">
              <a:solidFill>
                <a:srgbClr val="000000"/>
              </a:solidFill>
              <a:latin typeface="Arial"/>
              <a:ea typeface="Arial"/>
              <a:cs typeface="Arial"/>
            </a:endParaRPr>
          </a:p>
        </p:txBody>
      </p:sp>
      <p:sp>
        <p:nvSpPr>
          <p:cNvPr id="497" name="Google Shape;497;p11">
            <a:extLst xmlns:a="http://schemas.openxmlformats.org/drawingml/2006/main">
              <a:ext uri="{FF2B5EF4-FFF2-40B4-BE49-F238E27FC236}">
                <a16:creationId xmlns:a16="http://schemas.microsoft.com/office/drawing/2014/main" id="{F9CEF14D-B1DE-4DE6-A2B2-DB70C5EB4889}"/>
              </a:ext>
            </a:extLst>
          </p:cNvPr>
          <p:cNvSpPr>
            <a:spLocks xmlns:a="http://schemas.openxmlformats.org/drawingml/2006/main" noGrp="1"/>
          </p:cNvSpPr>
          <p:nvPr/>
        </p:nvSpPr>
        <p:spPr>
          <a:xfrm xmlns:a="http://schemas.openxmlformats.org/drawingml/2006/main">
            <a:off x="2971800" y="3566160"/>
            <a:ext cx="561420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98" name="Google Shape;498;p11">
            <a:extLst xmlns:a="http://schemas.openxmlformats.org/drawingml/2006/main">
              <a:ext uri="{FF2B5EF4-FFF2-40B4-BE49-F238E27FC236}">
                <a16:creationId xmlns:a16="http://schemas.microsoft.com/office/drawing/2014/main" id="{36FF6E6C-E655-4E85-976F-CC43EEB304CE}"/>
              </a:ext>
            </a:extLst>
          </p:cNvPr>
          <p:cNvSpPr>
            <a:spLocks xmlns:a="http://schemas.openxmlformats.org/drawingml/2006/main" noGrp="1"/>
          </p:cNvSpPr>
          <p:nvPr/>
        </p:nvSpPr>
        <p:spPr>
          <a:xfrm xmlns:a="http://schemas.openxmlformats.org/drawingml/2006/main">
            <a:off x="2971800" y="3566160"/>
            <a:ext cx="4724640" cy="16416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499" name="Google Shape;499;p11">
            <a:extLst xmlns:a="http://schemas.openxmlformats.org/drawingml/2006/main">
              <a:ext uri="{FF2B5EF4-FFF2-40B4-BE49-F238E27FC236}">
                <a16:creationId xmlns:a16="http://schemas.microsoft.com/office/drawing/2014/main" id="{99736C83-3EBC-40C4-B54D-A05A5B4AC0A5}"/>
              </a:ext>
            </a:extLst>
          </p:cNvPr>
          <p:cNvSpPr>
            <a:spLocks xmlns:a="http://schemas.openxmlformats.org/drawingml/2006/main" noGrp="1"/>
          </p:cNvSpPr>
          <p:nvPr/>
        </p:nvSpPr>
        <p:spPr>
          <a:xfrm xmlns:a="http://schemas.openxmlformats.org/drawingml/2006/main">
            <a:off x="8705160" y="3415320"/>
            <a:ext cx="80424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397A7C"/>
                </a:solidFill>
                <a:latin typeface="Arial"/>
                <a:ea typeface="Arial"/>
                <a:cs typeface="Arial"/>
              </a:rPr>
              <a:t>42.08%</a:t>
            </a:r>
            <a:endParaRPr sz="1300" b="0" i="0" u="none" strike="noStrike" cap="none">
              <a:solidFill>
                <a:srgbClr val="000000"/>
              </a:solidFill>
              <a:latin typeface="Arial"/>
              <a:ea typeface="Arial"/>
              <a:cs typeface="Arial"/>
            </a:endParaRPr>
          </a:p>
        </p:txBody>
      </p:sp>
      <p:sp>
        <p:nvSpPr>
          <p:cNvPr id="500" name="Google Shape;500;p11">
            <a:extLst xmlns:a="http://schemas.openxmlformats.org/drawingml/2006/main">
              <a:ext uri="{FF2B5EF4-FFF2-40B4-BE49-F238E27FC236}">
                <a16:creationId xmlns:a16="http://schemas.microsoft.com/office/drawing/2014/main" id="{B9FB58FD-8E9E-490A-A002-31E7D205529F}"/>
              </a:ext>
            </a:extLst>
          </p:cNvPr>
          <p:cNvSpPr>
            <a:spLocks xmlns:a="http://schemas.openxmlformats.org/drawingml/2006/main" noGrp="1"/>
          </p:cNvSpPr>
          <p:nvPr/>
        </p:nvSpPr>
        <p:spPr>
          <a:xfrm xmlns:a="http://schemas.openxmlformats.org/drawingml/2006/main">
            <a:off x="9683640" y="3493080"/>
            <a:ext cx="159084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100" b="0" i="0" u="none" strike="noStrike" cap="none">
                <a:solidFill>
                  <a:srgbClr val="66757B"/>
                </a:solidFill>
                <a:latin typeface="Arial"/>
                <a:ea typeface="Arial"/>
                <a:cs typeface="Arial"/>
              </a:rPr>
              <a:t>499 positives</a:t>
            </a:r>
            <a:endParaRPr sz="1100" b="0" i="0" u="none" strike="noStrike" cap="none">
              <a:solidFill>
                <a:srgbClr val="000000"/>
              </a:solidFill>
              <a:latin typeface="Arial"/>
              <a:ea typeface="Arial"/>
              <a:cs typeface="Arial"/>
            </a:endParaRPr>
          </a:p>
        </p:txBody>
      </p:sp>
      <p:sp>
        <p:nvSpPr>
          <p:cNvPr id="501" name="Google Shape;501;p11">
            <a:extLst xmlns:a="http://schemas.openxmlformats.org/drawingml/2006/main">
              <a:ext uri="{FF2B5EF4-FFF2-40B4-BE49-F238E27FC236}">
                <a16:creationId xmlns:a16="http://schemas.microsoft.com/office/drawing/2014/main" id="{5625F0CB-DB38-436C-8910-187376C79886}"/>
              </a:ext>
            </a:extLst>
          </p:cNvPr>
          <p:cNvSpPr>
            <a:spLocks xmlns:a="http://schemas.openxmlformats.org/drawingml/2006/main" noGrp="1"/>
          </p:cNvSpPr>
          <p:nvPr/>
        </p:nvSpPr>
        <p:spPr>
          <a:xfrm xmlns:a="http://schemas.openxmlformats.org/drawingml/2006/main">
            <a:off x="758880" y="4050720"/>
            <a:ext cx="2093760" cy="402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300" b="0" i="0" u="none" strike="noStrike" cap="none">
                <a:solidFill>
                  <a:srgbClr val="24343B"/>
                </a:solidFill>
                <a:latin typeface="Arial"/>
                <a:ea typeface="Arial"/>
                <a:cs typeface="Arial"/>
              </a:rPr>
              <a:t>Male</a:t>
            </a:r>
            <a:endParaRPr sz="1300" b="0" i="0" u="none" strike="noStrike" cap="none">
              <a:solidFill>
                <a:srgbClr val="000000"/>
              </a:solidFill>
              <a:latin typeface="Arial"/>
              <a:ea typeface="Arial"/>
              <a:cs typeface="Arial"/>
            </a:endParaRPr>
          </a:p>
        </p:txBody>
      </p:sp>
      <p:sp>
        <p:nvSpPr>
          <p:cNvPr id="502" name="Google Shape;502;p11">
            <a:extLst xmlns:a="http://schemas.openxmlformats.org/drawingml/2006/main">
              <a:ext uri="{FF2B5EF4-FFF2-40B4-BE49-F238E27FC236}">
                <a16:creationId xmlns:a16="http://schemas.microsoft.com/office/drawing/2014/main" id="{330838B6-B304-463E-877E-C5ADA2730C22}"/>
              </a:ext>
            </a:extLst>
          </p:cNvPr>
          <p:cNvSpPr>
            <a:spLocks xmlns:a="http://schemas.openxmlformats.org/drawingml/2006/main" noGrp="1"/>
          </p:cNvSpPr>
          <p:nvPr/>
        </p:nvSpPr>
        <p:spPr>
          <a:xfrm xmlns:a="http://schemas.openxmlformats.org/drawingml/2006/main">
            <a:off x="2971800" y="4187880"/>
            <a:ext cx="5614200" cy="164160"/>
          </a:xfrm>
          <a:prstGeom xmlns:a="http://schemas.openxmlformats.org/drawingml/2006/main" prst="rect">
            <a:avLst/>
          </a:prstGeom>
          <a:solidFill xmlns:a="http://schemas.openxmlformats.org/drawingml/2006/main">
            <a:srgbClr val="F0F1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503" name="Google Shape;503;p11">
            <a:extLst xmlns:a="http://schemas.openxmlformats.org/drawingml/2006/main">
              <a:ext uri="{FF2B5EF4-FFF2-40B4-BE49-F238E27FC236}">
                <a16:creationId xmlns:a16="http://schemas.microsoft.com/office/drawing/2014/main" id="{A2A65E9B-18B5-4D90-A323-DACC730DEFFB}"/>
              </a:ext>
            </a:extLst>
          </p:cNvPr>
          <p:cNvSpPr>
            <a:spLocks xmlns:a="http://schemas.openxmlformats.org/drawingml/2006/main" noGrp="1"/>
          </p:cNvSpPr>
          <p:nvPr/>
        </p:nvSpPr>
        <p:spPr>
          <a:xfrm xmlns:a="http://schemas.openxmlformats.org/drawingml/2006/main">
            <a:off x="2971800" y="4187880"/>
            <a:ext cx="4029840" cy="16416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504" name="Google Shape;504;p11">
            <a:extLst xmlns:a="http://schemas.openxmlformats.org/drawingml/2006/main">
              <a:ext uri="{FF2B5EF4-FFF2-40B4-BE49-F238E27FC236}">
                <a16:creationId xmlns:a16="http://schemas.microsoft.com/office/drawing/2014/main" id="{75C39EF5-DD20-4DFA-BFC0-AD938B804A71}"/>
              </a:ext>
            </a:extLst>
          </p:cNvPr>
          <p:cNvSpPr>
            <a:spLocks xmlns:a="http://schemas.openxmlformats.org/drawingml/2006/main" noGrp="1"/>
          </p:cNvSpPr>
          <p:nvPr/>
        </p:nvSpPr>
        <p:spPr>
          <a:xfrm xmlns:a="http://schemas.openxmlformats.org/drawingml/2006/main">
            <a:off x="8705160" y="4037040"/>
            <a:ext cx="80424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300" b="1" i="0" u="none" strike="noStrike" cap="none">
                <a:solidFill>
                  <a:srgbClr val="397A7C"/>
                </a:solidFill>
                <a:latin typeface="Arial"/>
                <a:ea typeface="Arial"/>
                <a:cs typeface="Arial"/>
              </a:rPr>
              <a:t>35.89%</a:t>
            </a:r>
            <a:endParaRPr sz="1300" b="0" i="0" u="none" strike="noStrike" cap="none">
              <a:solidFill>
                <a:srgbClr val="000000"/>
              </a:solidFill>
              <a:latin typeface="Arial"/>
              <a:ea typeface="Arial"/>
              <a:cs typeface="Arial"/>
            </a:endParaRPr>
          </a:p>
        </p:txBody>
      </p:sp>
      <p:sp>
        <p:nvSpPr>
          <p:cNvPr id="505" name="Google Shape;505;p11">
            <a:extLst xmlns:a="http://schemas.openxmlformats.org/drawingml/2006/main">
              <a:ext uri="{FF2B5EF4-FFF2-40B4-BE49-F238E27FC236}">
                <a16:creationId xmlns:a16="http://schemas.microsoft.com/office/drawing/2014/main" id="{806EA205-17AD-4125-A27E-944B075752C7}"/>
              </a:ext>
            </a:extLst>
          </p:cNvPr>
          <p:cNvSpPr>
            <a:spLocks xmlns:a="http://schemas.openxmlformats.org/drawingml/2006/main" noGrp="1"/>
          </p:cNvSpPr>
          <p:nvPr/>
        </p:nvSpPr>
        <p:spPr>
          <a:xfrm xmlns:a="http://schemas.openxmlformats.org/drawingml/2006/main">
            <a:off x="9683640" y="4114800"/>
            <a:ext cx="1590840" cy="273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1100" b="0" i="0" u="none" strike="noStrike" cap="none">
                <a:solidFill>
                  <a:srgbClr val="66757B"/>
                </a:solidFill>
                <a:latin typeface="Arial"/>
                <a:ea typeface="Arial"/>
                <a:cs typeface="Arial"/>
              </a:rPr>
              <a:t>443 positives</a:t>
            </a:r>
            <a:endParaRPr sz="1100" b="0" i="0" u="none" strike="noStrike" cap="none">
              <a:solidFill>
                <a:srgbClr val="000000"/>
              </a:solidFill>
              <a:latin typeface="Arial"/>
              <a:ea typeface="Arial"/>
              <a:cs typeface="Arial"/>
            </a:endParaRPr>
          </a:p>
        </p:txBody>
      </p:sp>
      <p:sp>
        <p:nvSpPr>
          <p:cNvPr id="506" name="Google Shape;506;p11">
            <a:extLst xmlns:a="http://schemas.openxmlformats.org/drawingml/2006/main">
              <a:ext uri="{FF2B5EF4-FFF2-40B4-BE49-F238E27FC236}">
                <a16:creationId xmlns:a16="http://schemas.microsoft.com/office/drawing/2014/main" id="{52F5580F-F6B4-40E0-9A89-2D218F5A16C9}"/>
              </a:ext>
            </a:extLst>
          </p:cNvPr>
          <p:cNvSpPr>
            <a:spLocks xmlns:a="http://schemas.openxmlformats.org/drawingml/2006/main" noGrp="1"/>
          </p:cNvSpPr>
          <p:nvPr/>
        </p:nvSpPr>
        <p:spPr>
          <a:xfrm xmlns:a="http://schemas.openxmlformats.org/drawingml/2006/main">
            <a:off x="758880" y="4965120"/>
            <a:ext cx="10579320" cy="557280"/>
          </a:xfrm>
          <a:prstGeom xmlns:a="http://schemas.openxmlformats.org/drawingml/2006/main" prst="rect">
            <a:avLst/>
          </a:prstGeom>
          <a:solidFill xmlns:a="http://schemas.openxmlformats.org/drawingml/2006/main">
            <a:srgbClr val="F8EAD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507" name="Google Shape;507;p11">
            <a:extLst xmlns:a="http://schemas.openxmlformats.org/drawingml/2006/main">
              <a:ext uri="{FF2B5EF4-FFF2-40B4-BE49-F238E27FC236}">
                <a16:creationId xmlns:a16="http://schemas.microsoft.com/office/drawing/2014/main" id="{7A933112-DA25-44A2-B08B-AE84B68DBFF1}"/>
              </a:ext>
            </a:extLst>
          </p:cNvPr>
          <p:cNvSpPr>
            <a:spLocks xmlns:a="http://schemas.openxmlformats.org/drawingml/2006/main" noGrp="1"/>
          </p:cNvSpPr>
          <p:nvPr/>
        </p:nvSpPr>
        <p:spPr>
          <a:xfrm xmlns:a="http://schemas.openxmlformats.org/drawingml/2006/main">
            <a:off x="960120" y="5120640"/>
            <a:ext cx="10149480" cy="2927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600" b="1" i="0" u="none" strike="noStrike" cap="none">
                <a:solidFill>
                  <a:srgbClr val="1C3138"/>
                </a:solidFill>
                <a:latin typeface="Arial"/>
                <a:ea typeface="Arial"/>
                <a:cs typeface="Arial"/>
              </a:rPr>
              <a:t>Race TPR difference: −14.21 points (95% interval −21.90 to −6.06).</a:t>
            </a:r>
            <a:endParaRPr sz="1600" b="0" i="0" u="none" strike="noStrike" cap="none">
              <a:solidFill>
                <a:srgbClr val="000000"/>
              </a:solidFill>
              <a:latin typeface="Arial"/>
              <a:ea typeface="Arial"/>
              <a:cs typeface="Arial"/>
            </a:endParaRPr>
          </a:p>
        </p:txBody>
      </p:sp>
      <p:sp>
        <p:nvSpPr>
          <p:cNvPr id="508" name="Google Shape;508;p11">
            <a:extLst xmlns:a="http://schemas.openxmlformats.org/drawingml/2006/main">
              <a:ext uri="{FF2B5EF4-FFF2-40B4-BE49-F238E27FC236}">
                <a16:creationId xmlns:a16="http://schemas.microsoft.com/office/drawing/2014/main" id="{87E176D5-22AC-484E-A4E8-4FC7CB42E354}"/>
              </a:ext>
            </a:extLst>
          </p:cNvPr>
          <p:cNvSpPr>
            <a:spLocks xmlns:a="http://schemas.openxmlformats.org/drawingml/2006/main" noGrp="1"/>
          </p:cNvSpPr>
          <p:nvPr/>
        </p:nvSpPr>
        <p:spPr>
          <a:xfrm xmlns:a="http://schemas.openxmlformats.org/drawingml/2006/main">
            <a:off x="667440" y="5843160"/>
            <a:ext cx="10899360" cy="420120"/>
          </a:xfrm>
          <a:prstGeom xmlns:a="http://schemas.openxmlformats.org/drawingml/2006/main" prst="rect">
            <a:avLst/>
          </a:prstGeom>
          <a:solidFill xmlns:a="http://schemas.openxmlformats.org/drawingml/2006/main">
            <a:srgbClr val="F8EADF"/>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509" name="Google Shape;509;p11">
            <a:extLst xmlns:a="http://schemas.openxmlformats.org/drawingml/2006/main">
              <a:ext uri="{FF2B5EF4-FFF2-40B4-BE49-F238E27FC236}">
                <a16:creationId xmlns:a16="http://schemas.microsoft.com/office/drawing/2014/main" id="{5E3D4303-C939-4AAA-BCF0-FDF024606470}"/>
              </a:ext>
            </a:extLst>
          </p:cNvPr>
          <p:cNvSpPr>
            <a:spLocks xmlns:a="http://schemas.openxmlformats.org/drawingml/2006/main" noGrp="1"/>
          </p:cNvSpPr>
          <p:nvPr/>
        </p:nvSpPr>
        <p:spPr>
          <a:xfrm xmlns:a="http://schemas.openxmlformats.org/drawingml/2006/main">
            <a:off x="667440" y="5843160"/>
            <a:ext cx="50040" cy="420120"/>
          </a:xfrm>
          <a:prstGeom xmlns:a="http://schemas.openxmlformats.org/drawingml/2006/main" prst="rect">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510" name="Google Shape;510;p11">
            <a:extLst xmlns:a="http://schemas.openxmlformats.org/drawingml/2006/main">
              <a:ext uri="{FF2B5EF4-FFF2-40B4-BE49-F238E27FC236}">
                <a16:creationId xmlns:a16="http://schemas.microsoft.com/office/drawing/2014/main" id="{27488CEA-70CA-4EEB-82FE-11095986881B}"/>
              </a:ext>
            </a:extLst>
          </p:cNvPr>
          <p:cNvSpPr>
            <a:spLocks xmlns:a="http://schemas.openxmlformats.org/drawingml/2006/main" noGrp="1"/>
          </p:cNvSpPr>
          <p:nvPr/>
        </p:nvSpPr>
        <p:spPr>
          <a:xfrm xmlns:a="http://schemas.openxmlformats.org/drawingml/2006/main">
            <a:off x="868680" y="5857875"/>
            <a:ext cx="10478520" cy="2287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defPPr>
              <a:defRPr sz="1200">
                <a:solidFill>
                  <a:srgbClr val="1C3138"/>
                </a:solidFill>
              </a:defRPr>
            </a:defPPr>
          </a:lstStyle>
          <a:p xmlns:a="http://schemas.openxmlformats.org/drawingml/2006/main">
            <a:pPr marL="0" marR="0" lvl="0" indent="0" algn="l">
              <a:lnSpc>
                <a:spcPct val="105000"/>
              </a:lnSpc>
              <a:spcBef>
                <a:spcPts val="0"/>
              </a:spcBef>
              <a:spcAft>
                <a:spcPts val="0"/>
              </a:spcAft>
              <a:buNone/>
              <a:defRPr sz="1200">
                <a:solidFill>
                  <a:srgbClr val="1C3138"/>
                </a:solidFill>
              </a:defRPr>
            </a:pPr>
            <a:r>
              <a:rPr sz="1200" b="0" i="0" u="none" strike="noStrike" cap="none">
                <a:solidFill>
                  <a:srgbClr val="1C3138"/>
                </a:solidFill>
                <a:latin typeface="Arial"/>
                <a:ea typeface="Arial"/>
                <a:cs typeface="Arial"/>
              </a:rPr>
              <a:t>Mitigation: test reweighting on training data. Compare validation AP, group TPR/FPR and calibration before independent evaluation.</a:t>
            </a:r>
            <a:endParaRPr sz="115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26370425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16" name="Google Shape;516;p12">
            <a:extLst xmlns:a="http://schemas.openxmlformats.org/drawingml/2006/main">
              <a:ext uri="{FF2B5EF4-FFF2-40B4-BE49-F238E27FC236}">
                <a16:creationId xmlns:a16="http://schemas.microsoft.com/office/drawing/2014/main" id="{B4A4849A-9A2D-4529-A6D6-4EC22CE887A5}"/>
              </a:ext>
            </a:extLst>
          </p:cNvPr>
          <p:cNvSpPr>
            <a:spLocks xmlns:a="http://schemas.openxmlformats.org/drawingml/2006/main" noGrp="1"/>
          </p:cNvSpPr>
          <p:nvPr/>
        </p:nvSpPr>
        <p:spPr>
          <a:xfrm xmlns:a="http://schemas.openxmlformats.org/drawingml/2006/main">
            <a:off x="0" y="0"/>
            <a:ext cx="12191400" cy="6857640"/>
          </a:xfrm>
          <a:prstGeom xmlns:a="http://schemas.openxmlformats.org/drawingml/2006/main" prst="rect">
            <a:avLst/>
          </a:prstGeom>
          <a:solidFill xmlns:a="http://schemas.openxmlformats.org/drawingml/2006/main">
            <a:srgbClr val="F9F8F5"/>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517" name="Google Shape;517;p12">
            <a:extLst xmlns:a="http://schemas.openxmlformats.org/drawingml/2006/main">
              <a:ext uri="{FF2B5EF4-FFF2-40B4-BE49-F238E27FC236}">
                <a16:creationId xmlns:a16="http://schemas.microsoft.com/office/drawing/2014/main" id="{03FBFA92-D728-48BA-AF05-2F78374DCD6C}"/>
              </a:ext>
            </a:extLst>
          </p:cNvPr>
          <p:cNvSpPr>
            <a:spLocks xmlns:a="http://schemas.openxmlformats.org/drawingml/2006/main" noGrp="1"/>
          </p:cNvSpPr>
          <p:nvPr/>
        </p:nvSpPr>
        <p:spPr>
          <a:xfrm xmlns:a="http://schemas.openxmlformats.org/drawingml/2006/main">
            <a:off x="493920" y="365760"/>
            <a:ext cx="109440" cy="109440"/>
          </a:xfrm>
          <a:prstGeom xmlns:a="http://schemas.openxmlformats.org/drawingml/2006/main" prst="ellipse">
            <a:avLst/>
          </a:prstGeom>
          <a:solidFill xmlns:a="http://schemas.openxmlformats.org/drawingml/2006/main">
            <a:srgbClr val="BE7E5B"/>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32750" rIns="90000" bIns="3275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518" name="Google Shape;518;p12">
            <a:extLst xmlns:a="http://schemas.openxmlformats.org/drawingml/2006/main">
              <a:ext uri="{FF2B5EF4-FFF2-40B4-BE49-F238E27FC236}">
                <a16:creationId xmlns:a16="http://schemas.microsoft.com/office/drawing/2014/main" id="{C01B8AF3-2066-4CB8-A676-E013F40C50C9}"/>
              </a:ext>
            </a:extLst>
          </p:cNvPr>
          <p:cNvSpPr>
            <a:spLocks xmlns:a="http://schemas.openxmlformats.org/drawingml/2006/main" noGrp="1"/>
          </p:cNvSpPr>
          <p:nvPr/>
        </p:nvSpPr>
        <p:spPr>
          <a:xfrm xmlns:a="http://schemas.openxmlformats.org/drawingml/2006/main">
            <a:off x="7434000" y="311040"/>
            <a:ext cx="4151160" cy="25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66757B"/>
                </a:solidFill>
                <a:latin typeface="Arial"/>
                <a:ea typeface="Arial"/>
                <a:cs typeface="Arial"/>
              </a:rPr>
              <a:t>06–07  /  DELIVERY</a:t>
            </a:r>
            <a:endParaRPr sz="900" b="0" i="0" u="none" strike="noStrike" cap="none">
              <a:solidFill>
                <a:srgbClr val="000000"/>
              </a:solidFill>
              <a:latin typeface="Arial"/>
              <a:ea typeface="Arial"/>
              <a:cs typeface="Arial"/>
            </a:endParaRPr>
          </a:p>
        </p:txBody>
      </p:sp>
      <p:sp>
        <p:nvSpPr>
          <p:cNvPr id="519" name="Google Shape;519;p12">
            <a:extLst xmlns:a="http://schemas.openxmlformats.org/drawingml/2006/main">
              <a:ext uri="{FF2B5EF4-FFF2-40B4-BE49-F238E27FC236}">
                <a16:creationId xmlns:a16="http://schemas.microsoft.com/office/drawing/2014/main" id="{18E2311E-595C-49C5-9492-D1E2D42EC78B}"/>
              </a:ext>
            </a:extLst>
          </p:cNvPr>
          <p:cNvSpPr>
            <a:spLocks xmlns:a="http://schemas.openxmlformats.org/drawingml/2006/main" noGrp="1"/>
          </p:cNvSpPr>
          <p:nvPr/>
        </p:nvSpPr>
        <p:spPr>
          <a:xfrm xmlns:a="http://schemas.openxmlformats.org/drawingml/2006/main">
            <a:off x="612720" y="713160"/>
            <a:ext cx="10972440" cy="630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900" b="1" i="0" u="none" strike="noStrike" cap="none">
                <a:solidFill>
                  <a:srgbClr val="1C3138"/>
                </a:solidFill>
                <a:latin typeface="Georgia"/>
                <a:ea typeface="Georgia"/>
                <a:cs typeface="Georgia"/>
              </a:rPr>
              <a:t>The target is met; deployment questions remain</a:t>
            </a:r>
            <a:endParaRPr sz="2900" b="0" i="0" u="none" strike="noStrike" cap="none">
              <a:solidFill>
                <a:srgbClr val="000000"/>
              </a:solidFill>
              <a:latin typeface="Arial"/>
              <a:ea typeface="Arial"/>
              <a:cs typeface="Arial"/>
            </a:endParaRPr>
          </a:p>
        </p:txBody>
      </p:sp>
      <p:cxnSp>
        <p:nvCxnSpPr>
          <p:cNvPr id="520" name="Google Shape;520;p12">
            <a:extLst xmlns:a="http://schemas.openxmlformats.org/drawingml/2006/main">
              <a:ext uri="{FF2B5EF4-FFF2-40B4-BE49-F238E27FC236}">
                <a16:creationId xmlns:a16="http://schemas.microsoft.com/office/drawing/2014/main" id="{655D30D8-A8A9-47DF-B42E-03087AE951B5}"/>
              </a:ext>
            </a:extLst>
          </p:cNvPr>
          <p:cNvCxnSpPr/>
          <p:nvPr/>
        </p:nvCxnSpPr>
        <p:spPr>
          <a:xfrm xmlns:a="http://schemas.openxmlformats.org/drawingml/2006/main">
            <a:off x="640080" y="1453680"/>
            <a:ext cx="10918080" cy="360"/>
          </a:xfrm>
          <a:prstGeom xmlns:a="http://schemas.openxmlformats.org/drawingml/2006/main" prst="straightConnector1">
            <a:avLst/>
          </a:prstGeom>
          <a:ln xmlns:a="http://schemas.openxmlformats.org/drawingml/2006/main" w="15875" cap="flat">
            <a:solidFill>
              <a:srgbClr val="1C3138"/>
            </a:solidFill>
            <a:prstDash val="solid"/>
            <a:round/>
            <a:headEnd type="none" w="sm" len="sm"/>
            <a:tailEnd type="none" w="sm" len="sm"/>
          </a:ln>
        </p:spPr>
      </p:cxnSp>
      <p:cxnSp>
        <p:nvCxnSpPr>
          <p:cNvPr id="521" name="Google Shape;521;p12">
            <a:extLst xmlns:a="http://schemas.openxmlformats.org/drawingml/2006/main">
              <a:ext uri="{FF2B5EF4-FFF2-40B4-BE49-F238E27FC236}">
                <a16:creationId xmlns:a16="http://schemas.microsoft.com/office/drawing/2014/main" id="{9DC404CB-4A45-472B-8ABE-AB856247949D}"/>
              </a:ext>
            </a:extLst>
          </p:cNvPr>
          <p:cNvCxnSpPr/>
          <p:nvPr/>
        </p:nvCxnSpPr>
        <p:spPr>
          <a:xfrm xmlns:a="http://schemas.openxmlformats.org/drawingml/2006/main">
            <a:off x="630720" y="6464520"/>
            <a:ext cx="10927440" cy="360"/>
          </a:xfrm>
          <a:prstGeom xmlns:a="http://schemas.openxmlformats.org/drawingml/2006/main" prst="straightConnector1">
            <a:avLst/>
          </a:prstGeom>
          <a:ln xmlns:a="http://schemas.openxmlformats.org/drawingml/2006/main" w="10150" cap="flat">
            <a:solidFill>
              <a:srgbClr val="D6DEDA"/>
            </a:solidFill>
            <a:prstDash val="solid"/>
            <a:round/>
            <a:headEnd type="none" w="sm" len="sm"/>
            <a:tailEnd type="none" w="sm" len="sm"/>
          </a:ln>
        </p:spPr>
      </p:cxnSp>
      <p:sp>
        <p:nvSpPr>
          <p:cNvPr id="522" name="Google Shape;522;p12">
            <a:extLst xmlns:a="http://schemas.openxmlformats.org/drawingml/2006/main">
              <a:ext uri="{FF2B5EF4-FFF2-40B4-BE49-F238E27FC236}">
                <a16:creationId xmlns:a16="http://schemas.microsoft.com/office/drawing/2014/main" id="{C5A19F34-4A26-458D-BE0B-0CB02ED4BC43}"/>
              </a:ext>
            </a:extLst>
          </p:cNvPr>
          <p:cNvSpPr>
            <a:spLocks xmlns:a="http://schemas.openxmlformats.org/drawingml/2006/main" noGrp="1"/>
          </p:cNvSpPr>
          <p:nvPr/>
        </p:nvSpPr>
        <p:spPr>
          <a:xfrm xmlns:a="http://schemas.openxmlformats.org/drawingml/2006/main">
            <a:off x="649080" y="6519600"/>
            <a:ext cx="10496880" cy="1647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800" b="0" i="0" u="none" strike="noStrike" cap="none">
                <a:solidFill>
                  <a:srgbClr val="66757B"/>
                </a:solidFill>
                <a:latin typeface="Arial"/>
                <a:ea typeface="Arial"/>
                <a:cs typeface="Arial"/>
              </a:rPr>
              <a:t>Repository: github.com/zeeld29/AIM_Capstone · Public access and submission link still need verification</a:t>
            </a:r>
            <a:endParaRPr sz="800" b="0" i="0" u="none" strike="noStrike" cap="none">
              <a:solidFill>
                <a:srgbClr val="000000"/>
              </a:solidFill>
              <a:latin typeface="Arial"/>
              <a:ea typeface="Arial"/>
              <a:cs typeface="Arial"/>
            </a:endParaRPr>
          </a:p>
        </p:txBody>
      </p:sp>
      <p:sp>
        <p:nvSpPr>
          <p:cNvPr id="523" name="Google Shape;523;p12">
            <a:extLst xmlns:a="http://schemas.openxmlformats.org/drawingml/2006/main">
              <a:ext uri="{FF2B5EF4-FFF2-40B4-BE49-F238E27FC236}">
                <a16:creationId xmlns:a16="http://schemas.microsoft.com/office/drawing/2014/main" id="{FB096379-D3D3-4434-9A91-D73C72363353}"/>
              </a:ext>
            </a:extLst>
          </p:cNvPr>
          <p:cNvSpPr>
            <a:spLocks xmlns:a="http://schemas.openxmlformats.org/drawingml/2006/main" noGrp="1"/>
          </p:cNvSpPr>
          <p:nvPr/>
        </p:nvSpPr>
        <p:spPr>
          <a:xfrm xmlns:a="http://schemas.openxmlformats.org/drawingml/2006/main">
            <a:off x="11137320" y="6501240"/>
            <a:ext cx="43848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r">
              <a:lnSpc>
                <a:spcPct val="105000"/>
              </a:lnSpc>
              <a:spcBef>
                <a:spcPts val="0"/>
              </a:spcBef>
              <a:spcAft>
                <a:spcPts val="0"/>
              </a:spcAft>
              <a:buNone/>
            </a:pPr>
            <a:r>
              <a:rPr sz="900" b="1" i="0" u="none" strike="noStrike" cap="none">
                <a:solidFill>
                  <a:srgbClr val="1C3138"/>
                </a:solidFill>
                <a:latin typeface="Arial"/>
                <a:ea typeface="Arial"/>
                <a:cs typeface="Arial"/>
              </a:rPr>
              <a:t>12</a:t>
            </a:r>
            <a:endParaRPr sz="900" b="0" i="0" u="none" strike="noStrike" cap="none">
              <a:solidFill>
                <a:srgbClr val="000000"/>
              </a:solidFill>
              <a:latin typeface="Arial"/>
              <a:ea typeface="Arial"/>
              <a:cs typeface="Arial"/>
            </a:endParaRPr>
          </a:p>
        </p:txBody>
      </p:sp>
      <p:sp>
        <p:nvSpPr>
          <p:cNvPr id="524" name="Google Shape;524;p12">
            <a:extLst xmlns:a="http://schemas.openxmlformats.org/drawingml/2006/main">
              <a:ext uri="{FF2B5EF4-FFF2-40B4-BE49-F238E27FC236}">
                <a16:creationId xmlns:a16="http://schemas.microsoft.com/office/drawing/2014/main" id="{6F651B50-B067-49AB-9902-E4E64B5E2991}"/>
              </a:ext>
            </a:extLst>
          </p:cNvPr>
          <p:cNvSpPr>
            <a:spLocks xmlns:a="http://schemas.openxmlformats.org/drawingml/2006/main" noGrp="1"/>
          </p:cNvSpPr>
          <p:nvPr/>
        </p:nvSpPr>
        <p:spPr>
          <a:xfrm xmlns:a="http://schemas.openxmlformats.org/drawingml/2006/main">
            <a:off x="722520" y="1801440"/>
            <a:ext cx="10679760" cy="923040"/>
          </a:xfrm>
          <a:prstGeom xmlns:a="http://schemas.openxmlformats.org/drawingml/2006/main" prst="rect">
            <a:avLst/>
          </a:prstGeom>
          <a:solidFill xmlns:a="http://schemas.openxmlformats.org/drawingml/2006/main">
            <a:srgbClr val="1C3138"/>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525" name="Google Shape;525;p12">
            <a:extLst xmlns:a="http://schemas.openxmlformats.org/drawingml/2006/main">
              <a:ext uri="{FF2B5EF4-FFF2-40B4-BE49-F238E27FC236}">
                <a16:creationId xmlns:a16="http://schemas.microsoft.com/office/drawing/2014/main" id="{7B762CCF-5B03-48DE-B531-6697598BB1D4}"/>
              </a:ext>
            </a:extLst>
          </p:cNvPr>
          <p:cNvSpPr>
            <a:spLocks xmlns:a="http://schemas.openxmlformats.org/drawingml/2006/main" noGrp="1"/>
          </p:cNvSpPr>
          <p:nvPr/>
        </p:nvSpPr>
        <p:spPr>
          <a:xfrm xmlns:a="http://schemas.openxmlformats.org/drawingml/2006/main">
            <a:off x="1005840" y="1956960"/>
            <a:ext cx="10012320" cy="74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2200" b="1" i="0" u="none" strike="noStrike" cap="none">
                <a:solidFill>
                  <a:srgbClr val="FFFFFF"/>
                </a:solidFill>
                <a:latin typeface="Georgia"/>
                <a:ea typeface="Georgia"/>
                <a:cs typeface="Georgia"/>
              </a:rPr>
              <a:t>The top 20% captures 39.17% of all recorded readmissions, exceeding the 30% goal.</a:t>
            </a:r>
            <a:endParaRPr sz="2200" b="0" i="0" u="none" strike="noStrike" cap="none">
              <a:solidFill>
                <a:srgbClr val="000000"/>
              </a:solidFill>
              <a:latin typeface="Arial"/>
              <a:ea typeface="Arial"/>
              <a:cs typeface="Arial"/>
            </a:endParaRPr>
          </a:p>
        </p:txBody>
      </p:sp>
      <p:sp>
        <p:nvSpPr>
          <p:cNvPr id="526" name="Google Shape;526;p12">
            <a:extLst xmlns:a="http://schemas.openxmlformats.org/drawingml/2006/main">
              <a:ext uri="{FF2B5EF4-FFF2-40B4-BE49-F238E27FC236}">
                <a16:creationId xmlns:a16="http://schemas.microsoft.com/office/drawing/2014/main" id="{35A07387-4783-4F92-8592-3056BC503BAE}"/>
              </a:ext>
            </a:extLst>
          </p:cNvPr>
          <p:cNvSpPr>
            <a:spLocks xmlns:a="http://schemas.openxmlformats.org/drawingml/2006/main" noGrp="1"/>
          </p:cNvSpPr>
          <p:nvPr/>
        </p:nvSpPr>
        <p:spPr>
          <a:xfrm xmlns:a="http://schemas.openxmlformats.org/drawingml/2006/main">
            <a:off x="768240" y="2999160"/>
            <a:ext cx="5303160" cy="228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000" b="1" i="0" u="none" strike="noStrike" cap="none">
                <a:solidFill>
                  <a:srgbClr val="66757B"/>
                </a:solidFill>
                <a:latin typeface="Arial"/>
                <a:ea typeface="Arial"/>
                <a:cs typeface="Arial"/>
              </a:rPr>
              <a:t>COVERAGE OF SEVEN PILLARS</a:t>
            </a:r>
            <a:endParaRPr sz="1000" b="0" i="0" u="none" strike="noStrike" cap="none">
              <a:solidFill>
                <a:srgbClr val="000000"/>
              </a:solidFill>
              <a:latin typeface="Arial"/>
              <a:ea typeface="Arial"/>
              <a:cs typeface="Arial"/>
            </a:endParaRPr>
          </a:p>
        </p:txBody>
      </p:sp>
      <p:cxnSp>
        <p:nvCxnSpPr>
          <p:cNvPr id="527" name="Google Shape;527;p12">
            <a:extLst xmlns:a="http://schemas.openxmlformats.org/drawingml/2006/main">
              <a:ext uri="{FF2B5EF4-FFF2-40B4-BE49-F238E27FC236}">
                <a16:creationId xmlns:a16="http://schemas.microsoft.com/office/drawing/2014/main" id="{9A8E9161-A772-415D-8241-537F3B2A32DF}"/>
              </a:ext>
            </a:extLst>
          </p:cNvPr>
          <p:cNvCxnSpPr/>
          <p:nvPr/>
        </p:nvCxnSpPr>
        <p:spPr>
          <a:xfrm xmlns:a="http://schemas.openxmlformats.org/drawingml/2006/main">
            <a:off x="786240" y="3492720"/>
            <a:ext cx="245088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528" name="Google Shape;528;p12">
            <a:extLst xmlns:a="http://schemas.openxmlformats.org/drawingml/2006/main">
              <a:ext uri="{FF2B5EF4-FFF2-40B4-BE49-F238E27FC236}">
                <a16:creationId xmlns:a16="http://schemas.microsoft.com/office/drawing/2014/main" id="{0EBC04A4-783B-4542-B9AC-13A4599FD9B1}"/>
              </a:ext>
            </a:extLst>
          </p:cNvPr>
          <p:cNvSpPr>
            <a:spLocks xmlns:a="http://schemas.openxmlformats.org/drawingml/2006/main" noGrp="1"/>
          </p:cNvSpPr>
          <p:nvPr/>
        </p:nvSpPr>
        <p:spPr>
          <a:xfrm xmlns:a="http://schemas.openxmlformats.org/drawingml/2006/main">
            <a:off x="786240" y="3602880"/>
            <a:ext cx="392760" cy="301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01</a:t>
            </a:r>
            <a:endParaRPr sz="1200" b="0" i="0" u="none" strike="noStrike" cap="none">
              <a:solidFill>
                <a:srgbClr val="000000"/>
              </a:solidFill>
              <a:latin typeface="Arial"/>
              <a:ea typeface="Arial"/>
              <a:cs typeface="Arial"/>
            </a:endParaRPr>
          </a:p>
        </p:txBody>
      </p:sp>
      <p:sp>
        <p:nvSpPr>
          <p:cNvPr id="529" name="Google Shape;529;p12">
            <a:extLst xmlns:a="http://schemas.openxmlformats.org/drawingml/2006/main">
              <a:ext uri="{FF2B5EF4-FFF2-40B4-BE49-F238E27FC236}">
                <a16:creationId xmlns:a16="http://schemas.microsoft.com/office/drawing/2014/main" id="{6182E92A-C4CB-4A97-B41E-D65B616D7FD4}"/>
              </a:ext>
            </a:extLst>
          </p:cNvPr>
          <p:cNvSpPr>
            <a:spLocks xmlns:a="http://schemas.openxmlformats.org/drawingml/2006/main" noGrp="1"/>
          </p:cNvSpPr>
          <p:nvPr/>
        </p:nvSpPr>
        <p:spPr>
          <a:xfrm xmlns:a="http://schemas.openxmlformats.org/drawingml/2006/main">
            <a:off x="1179720" y="3602880"/>
            <a:ext cx="203868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1C3138"/>
                </a:solidFill>
                <a:latin typeface="Arial"/>
                <a:ea typeface="Arial"/>
                <a:cs typeface="Arial"/>
              </a:rPr>
              <a:t>Problem framing</a:t>
            </a:r>
            <a:endParaRPr sz="1200" b="0" i="0" u="none" strike="noStrike" cap="none">
              <a:solidFill>
                <a:srgbClr val="000000"/>
              </a:solidFill>
              <a:latin typeface="Arial"/>
              <a:ea typeface="Arial"/>
              <a:cs typeface="Arial"/>
            </a:endParaRPr>
          </a:p>
        </p:txBody>
      </p:sp>
      <p:cxnSp>
        <p:nvCxnSpPr>
          <p:cNvPr id="530" name="Google Shape;530;p12">
            <a:extLst xmlns:a="http://schemas.openxmlformats.org/drawingml/2006/main">
              <a:ext uri="{FF2B5EF4-FFF2-40B4-BE49-F238E27FC236}">
                <a16:creationId xmlns:a16="http://schemas.microsoft.com/office/drawing/2014/main" id="{E749EE2A-A785-460B-937B-E583629284CF}"/>
              </a:ext>
            </a:extLst>
          </p:cNvPr>
          <p:cNvCxnSpPr/>
          <p:nvPr/>
        </p:nvCxnSpPr>
        <p:spPr>
          <a:xfrm xmlns:a="http://schemas.openxmlformats.org/drawingml/2006/main">
            <a:off x="3547800" y="3492720"/>
            <a:ext cx="245088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531" name="Google Shape;531;p12">
            <a:extLst xmlns:a="http://schemas.openxmlformats.org/drawingml/2006/main">
              <a:ext uri="{FF2B5EF4-FFF2-40B4-BE49-F238E27FC236}">
                <a16:creationId xmlns:a16="http://schemas.microsoft.com/office/drawing/2014/main" id="{1B168677-37F6-4F74-87F5-52BD50C8F4A3}"/>
              </a:ext>
            </a:extLst>
          </p:cNvPr>
          <p:cNvSpPr>
            <a:spLocks xmlns:a="http://schemas.openxmlformats.org/drawingml/2006/main" noGrp="1"/>
          </p:cNvSpPr>
          <p:nvPr/>
        </p:nvSpPr>
        <p:spPr>
          <a:xfrm xmlns:a="http://schemas.openxmlformats.org/drawingml/2006/main">
            <a:off x="3547800" y="3602880"/>
            <a:ext cx="392760" cy="301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02</a:t>
            </a:r>
            <a:endParaRPr sz="1200" b="0" i="0" u="none" strike="noStrike" cap="none">
              <a:solidFill>
                <a:srgbClr val="000000"/>
              </a:solidFill>
              <a:latin typeface="Arial"/>
              <a:ea typeface="Arial"/>
              <a:cs typeface="Arial"/>
            </a:endParaRPr>
          </a:p>
        </p:txBody>
      </p:sp>
      <p:sp>
        <p:nvSpPr>
          <p:cNvPr id="532" name="Google Shape;532;p12">
            <a:extLst xmlns:a="http://schemas.openxmlformats.org/drawingml/2006/main">
              <a:ext uri="{FF2B5EF4-FFF2-40B4-BE49-F238E27FC236}">
                <a16:creationId xmlns:a16="http://schemas.microsoft.com/office/drawing/2014/main" id="{BEF5A609-316F-4315-A3EE-B37CCFF8C8EF}"/>
              </a:ext>
            </a:extLst>
          </p:cNvPr>
          <p:cNvSpPr>
            <a:spLocks xmlns:a="http://schemas.openxmlformats.org/drawingml/2006/main" noGrp="1"/>
          </p:cNvSpPr>
          <p:nvPr/>
        </p:nvSpPr>
        <p:spPr>
          <a:xfrm xmlns:a="http://schemas.openxmlformats.org/drawingml/2006/main">
            <a:off x="3940920" y="3602880"/>
            <a:ext cx="203868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1C3138"/>
                </a:solidFill>
                <a:latin typeface="Arial"/>
                <a:ea typeface="Arial"/>
                <a:cs typeface="Arial"/>
              </a:rPr>
              <a:t>Data understanding</a:t>
            </a:r>
            <a:endParaRPr sz="1200" b="0" i="0" u="none" strike="noStrike" cap="none">
              <a:solidFill>
                <a:srgbClr val="000000"/>
              </a:solidFill>
              <a:latin typeface="Arial"/>
              <a:ea typeface="Arial"/>
              <a:cs typeface="Arial"/>
            </a:endParaRPr>
          </a:p>
        </p:txBody>
      </p:sp>
      <p:cxnSp>
        <p:nvCxnSpPr>
          <p:cNvPr id="533" name="Google Shape;533;p12">
            <a:extLst xmlns:a="http://schemas.openxmlformats.org/drawingml/2006/main">
              <a:ext uri="{FF2B5EF4-FFF2-40B4-BE49-F238E27FC236}">
                <a16:creationId xmlns:a16="http://schemas.microsoft.com/office/drawing/2014/main" id="{46952434-DA33-4942-AD0F-EB5695F0AAC2}"/>
              </a:ext>
            </a:extLst>
          </p:cNvPr>
          <p:cNvCxnSpPr/>
          <p:nvPr/>
        </p:nvCxnSpPr>
        <p:spPr>
          <a:xfrm xmlns:a="http://schemas.openxmlformats.org/drawingml/2006/main">
            <a:off x="6309360" y="3492720"/>
            <a:ext cx="245088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534" name="Google Shape;534;p12">
            <a:extLst xmlns:a="http://schemas.openxmlformats.org/drawingml/2006/main">
              <a:ext uri="{FF2B5EF4-FFF2-40B4-BE49-F238E27FC236}">
                <a16:creationId xmlns:a16="http://schemas.microsoft.com/office/drawing/2014/main" id="{AED695CA-6D50-4673-9EEB-E49AD02293D8}"/>
              </a:ext>
            </a:extLst>
          </p:cNvPr>
          <p:cNvSpPr>
            <a:spLocks xmlns:a="http://schemas.openxmlformats.org/drawingml/2006/main" noGrp="1"/>
          </p:cNvSpPr>
          <p:nvPr/>
        </p:nvSpPr>
        <p:spPr>
          <a:xfrm xmlns:a="http://schemas.openxmlformats.org/drawingml/2006/main">
            <a:off x="6309360" y="3602880"/>
            <a:ext cx="392760" cy="301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03</a:t>
            </a:r>
            <a:endParaRPr sz="1200" b="0" i="0" u="none" strike="noStrike" cap="none">
              <a:solidFill>
                <a:srgbClr val="000000"/>
              </a:solidFill>
              <a:latin typeface="Arial"/>
              <a:ea typeface="Arial"/>
              <a:cs typeface="Arial"/>
            </a:endParaRPr>
          </a:p>
        </p:txBody>
      </p:sp>
      <p:sp>
        <p:nvSpPr>
          <p:cNvPr id="535" name="Google Shape;535;p12">
            <a:extLst xmlns:a="http://schemas.openxmlformats.org/drawingml/2006/main">
              <a:ext uri="{FF2B5EF4-FFF2-40B4-BE49-F238E27FC236}">
                <a16:creationId xmlns:a16="http://schemas.microsoft.com/office/drawing/2014/main" id="{771C996B-DF8F-4239-AAF0-140FD028ABD4}"/>
              </a:ext>
            </a:extLst>
          </p:cNvPr>
          <p:cNvSpPr>
            <a:spLocks xmlns:a="http://schemas.openxmlformats.org/drawingml/2006/main" noGrp="1"/>
          </p:cNvSpPr>
          <p:nvPr/>
        </p:nvSpPr>
        <p:spPr>
          <a:xfrm xmlns:a="http://schemas.openxmlformats.org/drawingml/2006/main">
            <a:off x="6702480" y="3602880"/>
            <a:ext cx="203868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1C3138"/>
                </a:solidFill>
                <a:latin typeface="Arial"/>
                <a:ea typeface="Arial"/>
                <a:cs typeface="Arial"/>
              </a:rPr>
              <a:t>EDA + engineering</a:t>
            </a:r>
            <a:endParaRPr sz="1200" b="0" i="0" u="none" strike="noStrike" cap="none">
              <a:solidFill>
                <a:srgbClr val="000000"/>
              </a:solidFill>
              <a:latin typeface="Arial"/>
              <a:ea typeface="Arial"/>
              <a:cs typeface="Arial"/>
            </a:endParaRPr>
          </a:p>
        </p:txBody>
      </p:sp>
      <p:cxnSp>
        <p:nvCxnSpPr>
          <p:cNvPr id="536" name="Google Shape;536;p12">
            <a:extLst xmlns:a="http://schemas.openxmlformats.org/drawingml/2006/main">
              <a:ext uri="{FF2B5EF4-FFF2-40B4-BE49-F238E27FC236}">
                <a16:creationId xmlns:a16="http://schemas.microsoft.com/office/drawing/2014/main" id="{9028281E-BC65-4000-8EC8-C6F070273A67}"/>
              </a:ext>
            </a:extLst>
          </p:cNvPr>
          <p:cNvCxnSpPr/>
          <p:nvPr/>
        </p:nvCxnSpPr>
        <p:spPr>
          <a:xfrm xmlns:a="http://schemas.openxmlformats.org/drawingml/2006/main">
            <a:off x="9070560" y="3492720"/>
            <a:ext cx="245124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537" name="Google Shape;537;p12">
            <a:extLst xmlns:a="http://schemas.openxmlformats.org/drawingml/2006/main">
              <a:ext uri="{FF2B5EF4-FFF2-40B4-BE49-F238E27FC236}">
                <a16:creationId xmlns:a16="http://schemas.microsoft.com/office/drawing/2014/main" id="{C3247132-EB77-438F-9E67-D82A0435D54B}"/>
              </a:ext>
            </a:extLst>
          </p:cNvPr>
          <p:cNvSpPr>
            <a:spLocks xmlns:a="http://schemas.openxmlformats.org/drawingml/2006/main" noGrp="1"/>
          </p:cNvSpPr>
          <p:nvPr/>
        </p:nvSpPr>
        <p:spPr>
          <a:xfrm xmlns:a="http://schemas.openxmlformats.org/drawingml/2006/main">
            <a:off x="9070920" y="3602880"/>
            <a:ext cx="392760" cy="301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04</a:t>
            </a:r>
            <a:endParaRPr sz="1200" b="0" i="0" u="none" strike="noStrike" cap="none">
              <a:solidFill>
                <a:srgbClr val="000000"/>
              </a:solidFill>
              <a:latin typeface="Arial"/>
              <a:ea typeface="Arial"/>
              <a:cs typeface="Arial"/>
            </a:endParaRPr>
          </a:p>
        </p:txBody>
      </p:sp>
      <p:sp>
        <p:nvSpPr>
          <p:cNvPr id="538" name="Google Shape;538;p12">
            <a:extLst xmlns:a="http://schemas.openxmlformats.org/drawingml/2006/main">
              <a:ext uri="{FF2B5EF4-FFF2-40B4-BE49-F238E27FC236}">
                <a16:creationId xmlns:a16="http://schemas.microsoft.com/office/drawing/2014/main" id="{D77F364C-155F-4A2B-A896-80CBB9D874F4}"/>
              </a:ext>
            </a:extLst>
          </p:cNvPr>
          <p:cNvSpPr>
            <a:spLocks xmlns:a="http://schemas.openxmlformats.org/drawingml/2006/main" noGrp="1"/>
          </p:cNvSpPr>
          <p:nvPr/>
        </p:nvSpPr>
        <p:spPr>
          <a:xfrm xmlns:a="http://schemas.openxmlformats.org/drawingml/2006/main">
            <a:off x="9464040" y="3602880"/>
            <a:ext cx="203868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1C3138"/>
                </a:solidFill>
                <a:latin typeface="Arial"/>
                <a:ea typeface="Arial"/>
                <a:cs typeface="Arial"/>
              </a:rPr>
              <a:t>Model comparison</a:t>
            </a:r>
            <a:endParaRPr sz="1200" b="0" i="0" u="none" strike="noStrike" cap="none">
              <a:solidFill>
                <a:srgbClr val="000000"/>
              </a:solidFill>
              <a:latin typeface="Arial"/>
              <a:ea typeface="Arial"/>
              <a:cs typeface="Arial"/>
            </a:endParaRPr>
          </a:p>
        </p:txBody>
      </p:sp>
      <p:cxnSp>
        <p:nvCxnSpPr>
          <p:cNvPr id="539" name="Google Shape;539;p12">
            <a:extLst xmlns:a="http://schemas.openxmlformats.org/drawingml/2006/main">
              <a:ext uri="{FF2B5EF4-FFF2-40B4-BE49-F238E27FC236}">
                <a16:creationId xmlns:a16="http://schemas.microsoft.com/office/drawing/2014/main" id="{E5765BBD-1E08-4B30-BD39-6EF71ABCCFBD}"/>
              </a:ext>
            </a:extLst>
          </p:cNvPr>
          <p:cNvCxnSpPr/>
          <p:nvPr/>
        </p:nvCxnSpPr>
        <p:spPr>
          <a:xfrm xmlns:a="http://schemas.openxmlformats.org/drawingml/2006/main">
            <a:off x="786240" y="4224240"/>
            <a:ext cx="245088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540" name="Google Shape;540;p12">
            <a:extLst xmlns:a="http://schemas.openxmlformats.org/drawingml/2006/main">
              <a:ext uri="{FF2B5EF4-FFF2-40B4-BE49-F238E27FC236}">
                <a16:creationId xmlns:a16="http://schemas.microsoft.com/office/drawing/2014/main" id="{AF3E7B44-6134-4C64-9A7C-F25D6F624589}"/>
              </a:ext>
            </a:extLst>
          </p:cNvPr>
          <p:cNvSpPr>
            <a:spLocks xmlns:a="http://schemas.openxmlformats.org/drawingml/2006/main" noGrp="1"/>
          </p:cNvSpPr>
          <p:nvPr/>
        </p:nvSpPr>
        <p:spPr>
          <a:xfrm xmlns:a="http://schemas.openxmlformats.org/drawingml/2006/main">
            <a:off x="786240" y="4334400"/>
            <a:ext cx="392760" cy="301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05</a:t>
            </a:r>
            <a:endParaRPr sz="1200" b="0" i="0" u="none" strike="noStrike" cap="none">
              <a:solidFill>
                <a:srgbClr val="000000"/>
              </a:solidFill>
              <a:latin typeface="Arial"/>
              <a:ea typeface="Arial"/>
              <a:cs typeface="Arial"/>
            </a:endParaRPr>
          </a:p>
        </p:txBody>
      </p:sp>
      <p:sp>
        <p:nvSpPr>
          <p:cNvPr id="541" name="Google Shape;541;p12">
            <a:extLst xmlns:a="http://schemas.openxmlformats.org/drawingml/2006/main">
              <a:ext uri="{FF2B5EF4-FFF2-40B4-BE49-F238E27FC236}">
                <a16:creationId xmlns:a16="http://schemas.microsoft.com/office/drawing/2014/main" id="{AFE49E6A-B41D-4C6A-A385-67EDBF512C08}"/>
              </a:ext>
            </a:extLst>
          </p:cNvPr>
          <p:cNvSpPr>
            <a:spLocks xmlns:a="http://schemas.openxmlformats.org/drawingml/2006/main" noGrp="1"/>
          </p:cNvSpPr>
          <p:nvPr/>
        </p:nvSpPr>
        <p:spPr>
          <a:xfrm xmlns:a="http://schemas.openxmlformats.org/drawingml/2006/main">
            <a:off x="1179720" y="4334400"/>
            <a:ext cx="203868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1C3138"/>
                </a:solidFill>
                <a:latin typeface="Arial"/>
                <a:ea typeface="Arial"/>
                <a:cs typeface="Arial"/>
              </a:rPr>
              <a:t>Explain + audit</a:t>
            </a:r>
            <a:endParaRPr sz="1200" b="0" i="0" u="none" strike="noStrike" cap="none">
              <a:solidFill>
                <a:srgbClr val="000000"/>
              </a:solidFill>
              <a:latin typeface="Arial"/>
              <a:ea typeface="Arial"/>
              <a:cs typeface="Arial"/>
            </a:endParaRPr>
          </a:p>
        </p:txBody>
      </p:sp>
      <p:cxnSp>
        <p:nvCxnSpPr>
          <p:cNvPr id="542" name="Google Shape;542;p12">
            <a:extLst xmlns:a="http://schemas.openxmlformats.org/drawingml/2006/main">
              <a:ext uri="{FF2B5EF4-FFF2-40B4-BE49-F238E27FC236}">
                <a16:creationId xmlns:a16="http://schemas.microsoft.com/office/drawing/2014/main" id="{41876C06-2F40-4D15-9811-4C547509D2C0}"/>
              </a:ext>
            </a:extLst>
          </p:cNvPr>
          <p:cNvCxnSpPr/>
          <p:nvPr/>
        </p:nvCxnSpPr>
        <p:spPr>
          <a:xfrm xmlns:a="http://schemas.openxmlformats.org/drawingml/2006/main">
            <a:off x="3547800" y="4224240"/>
            <a:ext cx="245088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543" name="Google Shape;543;p12">
            <a:extLst xmlns:a="http://schemas.openxmlformats.org/drawingml/2006/main">
              <a:ext uri="{FF2B5EF4-FFF2-40B4-BE49-F238E27FC236}">
                <a16:creationId xmlns:a16="http://schemas.microsoft.com/office/drawing/2014/main" id="{E6538278-0910-4CA8-9F6E-C3B85A172423}"/>
              </a:ext>
            </a:extLst>
          </p:cNvPr>
          <p:cNvSpPr>
            <a:spLocks xmlns:a="http://schemas.openxmlformats.org/drawingml/2006/main" noGrp="1"/>
          </p:cNvSpPr>
          <p:nvPr/>
        </p:nvSpPr>
        <p:spPr>
          <a:xfrm xmlns:a="http://schemas.openxmlformats.org/drawingml/2006/main">
            <a:off x="3547800" y="4334400"/>
            <a:ext cx="392760" cy="301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06</a:t>
            </a:r>
            <a:endParaRPr sz="1200" b="0" i="0" u="none" strike="noStrike" cap="none">
              <a:solidFill>
                <a:srgbClr val="000000"/>
              </a:solidFill>
              <a:latin typeface="Arial"/>
              <a:ea typeface="Arial"/>
              <a:cs typeface="Arial"/>
            </a:endParaRPr>
          </a:p>
        </p:txBody>
      </p:sp>
      <p:sp>
        <p:nvSpPr>
          <p:cNvPr id="544" name="Google Shape;544;p12">
            <a:extLst xmlns:a="http://schemas.openxmlformats.org/drawingml/2006/main">
              <a:ext uri="{FF2B5EF4-FFF2-40B4-BE49-F238E27FC236}">
                <a16:creationId xmlns:a16="http://schemas.microsoft.com/office/drawing/2014/main" id="{99D5D295-2DE1-425A-865E-D51444CD8D9E}"/>
              </a:ext>
            </a:extLst>
          </p:cNvPr>
          <p:cNvSpPr>
            <a:spLocks xmlns:a="http://schemas.openxmlformats.org/drawingml/2006/main" noGrp="1"/>
          </p:cNvSpPr>
          <p:nvPr/>
        </p:nvSpPr>
        <p:spPr>
          <a:xfrm xmlns:a="http://schemas.openxmlformats.org/drawingml/2006/main">
            <a:off x="3940920" y="4334400"/>
            <a:ext cx="2038680" cy="392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1C3138"/>
                </a:solidFill>
                <a:latin typeface="Arial"/>
                <a:ea typeface="Arial"/>
                <a:cs typeface="Arial"/>
              </a:rPr>
              <a:t>Two audiences</a:t>
            </a:r>
            <a:endParaRPr sz="1200" b="0" i="0" u="none" strike="noStrike" cap="none">
              <a:solidFill>
                <a:srgbClr val="000000"/>
              </a:solidFill>
              <a:latin typeface="Arial"/>
              <a:ea typeface="Arial"/>
              <a:cs typeface="Arial"/>
            </a:endParaRPr>
          </a:p>
        </p:txBody>
      </p:sp>
      <p:cxnSp>
        <p:nvCxnSpPr>
          <p:cNvPr id="545" name="Google Shape;545;p12">
            <a:extLst xmlns:a="http://schemas.openxmlformats.org/drawingml/2006/main">
              <a:ext uri="{FF2B5EF4-FFF2-40B4-BE49-F238E27FC236}">
                <a16:creationId xmlns:a16="http://schemas.microsoft.com/office/drawing/2014/main" id="{F5807AD7-8CB1-491B-B11E-192F44CD7121}"/>
              </a:ext>
            </a:extLst>
          </p:cNvPr>
          <p:cNvCxnSpPr/>
          <p:nvPr/>
        </p:nvCxnSpPr>
        <p:spPr>
          <a:xfrm xmlns:a="http://schemas.openxmlformats.org/drawingml/2006/main">
            <a:off x="6309360" y="4224240"/>
            <a:ext cx="2450880" cy="360"/>
          </a:xfrm>
          <a:prstGeom xmlns:a="http://schemas.openxmlformats.org/drawingml/2006/main" prst="straightConnector1">
            <a:avLst/>
          </a:prstGeom>
          <a:ln xmlns:a="http://schemas.openxmlformats.org/drawingml/2006/main" w="11425" cap="flat">
            <a:solidFill>
              <a:srgbClr val="D6DEDA"/>
            </a:solidFill>
            <a:prstDash val="solid"/>
            <a:round/>
            <a:headEnd type="none" w="sm" len="sm"/>
            <a:tailEnd type="none" w="sm" len="sm"/>
          </a:ln>
        </p:spPr>
      </p:cxnSp>
      <p:sp>
        <p:nvSpPr>
          <p:cNvPr id="546" name="Google Shape;546;p12">
            <a:extLst xmlns:a="http://schemas.openxmlformats.org/drawingml/2006/main">
              <a:ext uri="{FF2B5EF4-FFF2-40B4-BE49-F238E27FC236}">
                <a16:creationId xmlns:a16="http://schemas.microsoft.com/office/drawing/2014/main" id="{BA31FA92-B12E-4F4C-BFE6-E91AACCED196}"/>
              </a:ext>
            </a:extLst>
          </p:cNvPr>
          <p:cNvSpPr>
            <a:spLocks xmlns:a="http://schemas.openxmlformats.org/drawingml/2006/main" noGrp="1"/>
          </p:cNvSpPr>
          <p:nvPr/>
        </p:nvSpPr>
        <p:spPr>
          <a:xfrm xmlns:a="http://schemas.openxmlformats.org/drawingml/2006/main">
            <a:off x="6309360" y="4334400"/>
            <a:ext cx="392760" cy="301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BE7E5B"/>
                </a:solidFill>
                <a:latin typeface="Arial"/>
                <a:ea typeface="Arial"/>
                <a:cs typeface="Arial"/>
              </a:rPr>
              <a:t>07</a:t>
            </a:r>
            <a:endParaRPr sz="1200" b="0" i="0" u="none" strike="noStrike" cap="none">
              <a:solidFill>
                <a:srgbClr val="000000"/>
              </a:solidFill>
              <a:latin typeface="Arial"/>
              <a:ea typeface="Arial"/>
              <a:cs typeface="Arial"/>
            </a:endParaRPr>
          </a:p>
        </p:txBody>
      </p:sp>
      <p:sp>
        <p:nvSpPr>
          <p:cNvPr id="547" name="Google Shape;547;p12">
            <a:extLst xmlns:a="http://schemas.openxmlformats.org/drawingml/2006/main">
              <a:ext uri="{FF2B5EF4-FFF2-40B4-BE49-F238E27FC236}">
                <a16:creationId xmlns:a16="http://schemas.microsoft.com/office/drawing/2014/main" id="{4DCDB3BF-A744-41CA-AF07-E27AD7FACCB1}"/>
              </a:ext>
            </a:extLst>
          </p:cNvPr>
          <p:cNvSpPr>
            <a:spLocks xmlns:a="http://schemas.openxmlformats.org/drawingml/2006/main" noGrp="1"/>
          </p:cNvSpPr>
          <p:nvPr/>
        </p:nvSpPr>
        <p:spPr>
          <a:xfrm xmlns:a="http://schemas.openxmlformats.org/drawingml/2006/main">
            <a:off x="6702480" y="4334400"/>
            <a:ext cx="2038680" cy="2287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t">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200" b="1" i="0" u="none" strike="noStrike" cap="none">
                <a:solidFill>
                  <a:srgbClr val="1C3138"/>
                </a:solidFill>
                <a:latin typeface="Arial"/>
                <a:ea typeface="Arial"/>
                <a:cs typeface="Arial"/>
              </a:rPr>
              <a:t>Repository and reports</a:t>
            </a:r>
            <a:endParaRPr sz="1200" b="0" i="0" u="none" strike="noStrike" cap="none">
              <a:solidFill>
                <a:srgbClr val="000000"/>
              </a:solidFill>
              <a:latin typeface="Arial"/>
              <a:ea typeface="Arial"/>
              <a:cs typeface="Arial"/>
            </a:endParaRPr>
          </a:p>
        </p:txBody>
      </p:sp>
      <p:sp>
        <p:nvSpPr>
          <p:cNvPr id="548" name="Google Shape;548;p12">
            <a:extLst xmlns:a="http://schemas.openxmlformats.org/drawingml/2006/main">
              <a:ext uri="{FF2B5EF4-FFF2-40B4-BE49-F238E27FC236}">
                <a16:creationId xmlns:a16="http://schemas.microsoft.com/office/drawing/2014/main" id="{82D9FE46-2B44-4E7C-8E4B-4A036514B058}"/>
              </a:ext>
            </a:extLst>
          </p:cNvPr>
          <p:cNvSpPr>
            <a:spLocks xmlns:a="http://schemas.openxmlformats.org/drawingml/2006/main" noGrp="1"/>
          </p:cNvSpPr>
          <p:nvPr/>
        </p:nvSpPr>
        <p:spPr>
          <a:xfrm xmlns:a="http://schemas.openxmlformats.org/drawingml/2006/main">
            <a:off x="667440" y="5797440"/>
            <a:ext cx="10899360" cy="420120"/>
          </a:xfrm>
          <a:prstGeom xmlns:a="http://schemas.openxmlformats.org/drawingml/2006/main" prst="rect">
            <a:avLst/>
          </a:prstGeom>
          <a:solidFill xmlns:a="http://schemas.openxmlformats.org/drawingml/2006/main">
            <a:srgbClr val="E8F0ED"/>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549" name="Google Shape;549;p12">
            <a:extLst xmlns:a="http://schemas.openxmlformats.org/drawingml/2006/main">
              <a:ext uri="{FF2B5EF4-FFF2-40B4-BE49-F238E27FC236}">
                <a16:creationId xmlns:a16="http://schemas.microsoft.com/office/drawing/2014/main" id="{AFC1D85D-F5DB-4038-92D5-B52FBAF932AC}"/>
              </a:ext>
            </a:extLst>
          </p:cNvPr>
          <p:cNvSpPr>
            <a:spLocks xmlns:a="http://schemas.openxmlformats.org/drawingml/2006/main" noGrp="1"/>
          </p:cNvSpPr>
          <p:nvPr/>
        </p:nvSpPr>
        <p:spPr>
          <a:xfrm xmlns:a="http://schemas.openxmlformats.org/drawingml/2006/main">
            <a:off x="667440" y="5797440"/>
            <a:ext cx="50040" cy="420120"/>
          </a:xfrm>
          <a:prstGeom xmlns:a="http://schemas.openxmlformats.org/drawingml/2006/main" prst="rect">
            <a:avLst/>
          </a:prstGeom>
          <a:solidFill xmlns:a="http://schemas.openxmlformats.org/drawingml/2006/main">
            <a:srgbClr val="397A7C"/>
          </a:solidFill>
          <a:ln xmlns:a="http://schemas.openxmlformats.org/drawingml/2006/main">
            <a:noFill/>
          </a:ln>
          <a:effectLst xmlns:a="http://schemas.openxmlformats.org/drawingml/2006/main">
            <a:outerShdw blurRad="39960" dist="23040" dir="5400000" rotWithShape="0">
              <a:srgbClr val="000000">
                <a:alpha val="34902"/>
              </a:srgbClr>
            </a:outerShdw>
          </a:effectLst>
        </p:spPr>
        <p:txBody>
          <a:bodyPr xmlns:a="http://schemas.openxmlformats.org/drawingml/2006/main" spcFirstLastPara="1" wrap="square" lIns="90000" tIns="45000" rIns="90000" bIns="450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r>
              <a:t/>
            </a:r>
            <a:endParaRPr sz="1800" b="0" i="0" u="none" strike="noStrike" cap="none">
              <a:solidFill>
                <a:schemeClr val="lt1"/>
              </a:solidFill>
              <a:latin typeface="Calibri"/>
              <a:ea typeface="Calibri"/>
              <a:cs typeface="Calibri"/>
            </a:endParaRPr>
          </a:p>
        </p:txBody>
      </p:sp>
      <p:sp>
        <p:nvSpPr>
          <p:cNvPr id="550" name="Google Shape;550;p12">
            <a:extLst xmlns:a="http://schemas.openxmlformats.org/drawingml/2006/main">
              <a:ext uri="{FF2B5EF4-FFF2-40B4-BE49-F238E27FC236}">
                <a16:creationId xmlns:a16="http://schemas.microsoft.com/office/drawing/2014/main" id="{14196360-7604-4CF3-B82D-7ECE4F6FE7BE}"/>
              </a:ext>
            </a:extLst>
          </p:cNvPr>
          <p:cNvSpPr>
            <a:spLocks xmlns:a="http://schemas.openxmlformats.org/drawingml/2006/main" noGrp="1"/>
          </p:cNvSpPr>
          <p:nvPr/>
        </p:nvSpPr>
        <p:spPr>
          <a:xfrm xmlns:a="http://schemas.openxmlformats.org/drawingml/2006/main">
            <a:off x="868680" y="5870520"/>
            <a:ext cx="10478520" cy="28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000" tIns="18350" rIns="9000" bIns="18350" anchor="ctr">
            <a:spAutoFit/>
          </a:bodyPr>
          <a:lstStyle xmlns:a="http://schemas.openxmlformats.org/drawingml/2006/main"/>
          <a:p xmlns:a="http://schemas.openxmlformats.org/drawingml/2006/main">
            <a:pPr marL="0" marR="0" lvl="0" indent="0" algn="l">
              <a:lnSpc>
                <a:spcPct val="105000"/>
              </a:lnSpc>
              <a:spcBef>
                <a:spcPts val="0"/>
              </a:spcBef>
              <a:spcAft>
                <a:spcPts val="0"/>
              </a:spcAft>
              <a:buNone/>
            </a:pPr>
            <a:r>
              <a:rPr sz="1150" b="0" i="0" u="none" strike="noStrike" cap="none">
                <a:solidFill>
                  <a:srgbClr val="1C3138"/>
                </a:solidFill>
                <a:latin typeface="Arial"/>
                <a:ea typeface="Arial"/>
                <a:cs typeface="Arial"/>
              </a:rPr>
              <a:t>Before application: validate in new hospitals, investigate subgroup gaps, agree capacity, and test clinical outcomes.</a:t>
            </a:r>
            <a:endParaRPr sz="115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505974701"/>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2026-10-15T10:19:13.7220000Z</dcterms:created>
  <dcterms:modified xsi:type="dcterms:W3CDTF">2026-10-15T10:19:13.7220000Z</dcterms:modified>
</coreProperties>
</file>