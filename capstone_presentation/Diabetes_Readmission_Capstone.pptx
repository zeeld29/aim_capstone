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5238b063ab44cf7" /><Relationship Type="http://schemas.openxmlformats.org/officeDocument/2006/relationships/extended-properties" Target="/docProps/app.xml" Id="R90ec884dc8c84af6" /><Relationship Type="http://schemas.openxmlformats.org/officeDocument/2006/relationships/officeDocument" Target="/ppt/presentation.xml" Id="R72aa4d6b914c4cb8" /></Relationships>
</file>

<file path=ppt/presentation.xml><?xml version="1.0" encoding="utf-8"?>
<p:presentation xmlns:p="http://schemas.openxmlformats.org/presentationml/2006/main">
  <p:sldMasterIdLst>
    <p:sldMasterId xmlns:r="http://schemas.openxmlformats.org/officeDocument/2006/relationships" id="2147483648" r:id="R096aea521df5411e"/>
  </p:sldMasterIdLst>
  <p:notesMasterIdLst>
    <p:notesMasterId xmlns:r="http://schemas.openxmlformats.org/officeDocument/2006/relationships" r:id="R72d12c9d3aef4b7d"/>
  </p:notesMasterIdLst>
  <p:sldIdLst>
    <p:sldId xmlns:r="http://schemas.openxmlformats.org/officeDocument/2006/relationships" id="256" r:id="Rd9485ee0f9964487"/>
    <p:sldId xmlns:r="http://schemas.openxmlformats.org/officeDocument/2006/relationships" id="257" r:id="R8ddada8245784a95"/>
    <p:sldId xmlns:r="http://schemas.openxmlformats.org/officeDocument/2006/relationships" id="258" r:id="Rc1a98b2293b541a8"/>
    <p:sldId xmlns:r="http://schemas.openxmlformats.org/officeDocument/2006/relationships" id="259" r:id="Rad93058b3b434323"/>
    <p:sldId xmlns:r="http://schemas.openxmlformats.org/officeDocument/2006/relationships" id="260" r:id="Rfffc90df23d64f7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e179cb634f9496f" /><Relationship Type="http://schemas.openxmlformats.org/officeDocument/2006/relationships/slideMaster" Target="/ppt/slideMasters/slideMaster1.xml" Id="R096aea521df5411e" /><Relationship Type="http://schemas.openxmlformats.org/officeDocument/2006/relationships/notesMaster" Target="/ppt/notesMasters/notesMaster1.xml" Id="R72d12c9d3aef4b7d" /><Relationship Type="http://schemas.openxmlformats.org/officeDocument/2006/relationships/presProps" Target="/ppt/presProps.xml" Id="R2fc570b92b164d95" /><Relationship Type="http://schemas.openxmlformats.org/officeDocument/2006/relationships/tableStyles" Target="/ppt/tableStyles.xml" Id="Rd940bd07a4e94fb5" /><Relationship Type="http://schemas.openxmlformats.org/officeDocument/2006/relationships/slide" Target="/ppt/slides/slide1.xml" Id="Rd9485ee0f9964487" /><Relationship Type="http://schemas.openxmlformats.org/officeDocument/2006/relationships/slide" Target="/ppt/slides/slide2.xml" Id="R8ddada8245784a95" /><Relationship Type="http://schemas.openxmlformats.org/officeDocument/2006/relationships/slide" Target="/ppt/slides/slide3.xml" Id="Rc1a98b2293b541a8" /><Relationship Type="http://schemas.openxmlformats.org/officeDocument/2006/relationships/slide" Target="/ppt/slides/slide4.xml" Id="Rad93058b3b434323" /><Relationship Type="http://schemas.openxmlformats.org/officeDocument/2006/relationships/slide" Target="/ppt/slides/slide5.xml" Id="Rfffc90df23d64f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8dc223b6cd46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3952e21ffc4936" /><Relationship Type="http://schemas.openxmlformats.org/officeDocument/2006/relationships/notesMaster" Target="/ppt/notesMasters/notesMaster1.xml" Id="Rae662b5c8eb74b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ce2aa9dda549da" /><Relationship Type="http://schemas.openxmlformats.org/officeDocument/2006/relationships/notesMaster" Target="/ppt/notesMasters/notesMaster1.xml" Id="R01004ba740a340d6"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80207bdf484543" /><Relationship Type="http://schemas.openxmlformats.org/officeDocument/2006/relationships/notesMaster" Target="/ppt/notesMasters/notesMaster1.xml" Id="R79770b9a21bf41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3a1372b8084165" /><Relationship Type="http://schemas.openxmlformats.org/officeDocument/2006/relationships/notesMaster" Target="/ppt/notesMasters/notesMaster1.xml" Id="R60854a21193b463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6c457364f341ec" /><Relationship Type="http://schemas.openxmlformats.org/officeDocument/2006/relationships/notesMaster" Target="/ppt/notesMasters/notesMaster1.xml" Id="R4247bf0d04ea4b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00_problem_statement.ipynb and 01_data_cleaning_split.ipynb. Data: Diabetes 130-US Hospitals, 1999–2008. Records include inpatient encounters with diabetes coded. Scope is retrospective capstone analysis, with prediction at discharge. The question concerns prioritization, not proof that intervention prevents readmission.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01_data_cleaning_split.ipynb, 03_eda_feature_engineering.ipynb, 04_feature_engineering.ipynb, 05_model_evaluation.ipynb. Raw data contains 101,766 encounters. Keep lowest encounter ID per patient, exclude specified death/hospice dispositions, and remove three invalid-gender rows. Lowest ID approximates chronology. Final dataset: 69,970 patients and 6,277 positives. Training 48,978; validation 10,496; test 10,496. Stratified split seed 42. All learned preprocessing and CV tuning fit training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05_model_evaluation.ipynb recorded validation comparisons and reports/final_gradient_boosting_test_metrics.csv. Native chart shows validation average precision on the same validation set, not test performance. Dummy 0.0897, full logistic 0.1603, random forest 0.1662, tuned boosting 0.1696. Original boosting had higher AP 0.1713; tuning reduces train-validation gap from 0.1089 to 0.0679 at a small AP cost. Final model is HistGradientBoostingClassifier with seven leaves, L2=1, 3-fold CV optimized for AP. AP is not necessarily trapezoidal PR-AUC. Threshold 0.10 is the saved evaluated threshold; earlier notebook narrative conflicts with a 0.15 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05_model_evaluation.ipynb top-20% calculation and author-reported output. Test contains 10,496 patients and 942 positives. Selecting ceil(20% * 10,496)=2,100 gives workload 20.01%. Capture 369/942=39.17%, precision 369/2100=17.57%, lift (369/942)/(2100/10496)=1.96. Random expected capture is approximately 20.01%, displayed as 20% for readability. Target predefined in 00_problem_statement.ipynb is 30% capture. Top-20 policy differs from score threshold 0.10, which flags 2,932 (27.93%) and captures 450 (47.77%), precision 15.35%. Model does not establish prevention benefit.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06_final_results_&amp;_conclusions.ipynb and 05_model_evaluation.ipynb. Recommendations are proposed next steps, not observed intervention outcomes. Top-20 misses 573 of 942 positives and selects 1,731 patients without recorded readmission. Data are historical, and out-of-network outcomes may be incomplete. Calibration, fairness, and final-model explainability remain incomplete. Reconcile threshold narrative, preserve business KPI output, add uncertainty estimates, and evaluate a recent independent cohort before any clinical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ed1b2f0e52439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2ecf6317ebd4a9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1b38e1fe84946f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8e0d895665e4ac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9437217eb494ea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8c168f861a44d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6596F0-C77E-4D94-8B8A-4E68C8B8E8E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FDFDF13-BE4A-42BB-9A9A-2B5E9234882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C6F9405-83EE-452A-8F1C-73795DD46F0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36D553-F101-4940-968B-D0140C10E71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4F5F52A-F25A-45C8-AB62-F88FDF959F4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3B95577-BF3D-4A9F-9E5C-DA5C55060A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4F31CDF-211D-4CA0-8C90-7179DC04F42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31F8D6C-EF22-4CDD-96FE-BEFAD9E4901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F3EDC3-9DA7-4254-A586-9F4674E8EC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386669-A94E-465E-AD9C-6782E76651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fd42d4755e4f48" /><Relationship Type="http://schemas.openxmlformats.org/officeDocument/2006/relationships/slideLayout" Target="/ppt/slideLayouts/slideLayout1.xml" Id="R0d5aa1acc6ff4a74" /><Relationship Type="http://schemas.openxmlformats.org/officeDocument/2006/relationships/slideLayout" Target="/ppt/slideLayouts/slideLayout2.xml" Id="R051402e3c56646d4" /><Relationship Type="http://schemas.openxmlformats.org/officeDocument/2006/relationships/slideLayout" Target="/ppt/slideLayouts/slideLayout3.xml" Id="Rcc642d0ae37d4697" /><Relationship Type="http://schemas.openxmlformats.org/officeDocument/2006/relationships/slideLayout" Target="/ppt/slideLayouts/slideLayout4.xml" Id="R9b6836289dc84e69" /><Relationship Type="http://schemas.openxmlformats.org/officeDocument/2006/relationships/slideLayout" Target="/ppt/slideLayouts/slideLayout5.xml" Id="R6629def7b01541f2" /><Relationship Type="http://schemas.openxmlformats.org/officeDocument/2006/relationships/slideLayout" Target="/ppt/slideLayouts/slideLayout6.xml" Id="R667fa70116f746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d5aa1acc6ff4a74"/>
    <p:sldLayoutId xmlns:r="http://schemas.openxmlformats.org/officeDocument/2006/relationships" id="2147483650" r:id="R051402e3c56646d4"/>
    <p:sldLayoutId xmlns:r="http://schemas.openxmlformats.org/officeDocument/2006/relationships" id="2147483651" r:id="Rcc642d0ae37d4697"/>
    <p:sldLayoutId xmlns:r="http://schemas.openxmlformats.org/officeDocument/2006/relationships" id="2147483652" r:id="R9b6836289dc84e69"/>
    <p:sldLayoutId xmlns:r="http://schemas.openxmlformats.org/officeDocument/2006/relationships" id="2147483653" r:id="R6629def7b01541f2"/>
    <p:sldLayoutId xmlns:r="http://schemas.openxmlformats.org/officeDocument/2006/relationships" id="2147483654" r:id="R667fa70116f746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7d2d13ce5d34169" /><Relationship Type="http://schemas.openxmlformats.org/officeDocument/2006/relationships/notesSlide" Target="/ppt/notesSlides/notesSlide1.xml" Id="Raddd58f3530148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62c97a0f85a41c4" /><Relationship Type="http://schemas.openxmlformats.org/officeDocument/2006/relationships/notesSlide" Target="/ppt/notesSlides/notesSlide2.xml" Id="Rd1093bfcfef345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3011b4a641b4cd8" /><Relationship Type="http://schemas.openxmlformats.org/officeDocument/2006/relationships/chart" Target="/ppt/slides/charts/chart1.xml" Id="Ra60bc530d23e49f4" /><Relationship Type="http://schemas.openxmlformats.org/officeDocument/2006/relationships/notesSlide" Target="/ppt/notesSlides/notesSlide3.xml" Id="R66c63231952747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036de52225e402f" /><Relationship Type="http://schemas.openxmlformats.org/officeDocument/2006/relationships/chart" Target="/ppt/slides/charts/chart2.xml" Id="R79e0e5f077894ad4" /><Relationship Type="http://schemas.openxmlformats.org/officeDocument/2006/relationships/notesSlide" Target="/ppt/notesSlides/notesSlide4.xml" Id="R4fb92e2f13694d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9dcd878b4224030" /><Relationship Type="http://schemas.openxmlformats.org/officeDocument/2006/relationships/notesSlide" Target="/ppt/notesSlides/notesSlide5.xml" Id="Rb629eaf065c546c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Average precision</c:v>
          </c:tx>
          <c:spPr>
            <a:solidFill xmlns:a="http://schemas.openxmlformats.org/drawingml/2006/main">
              <a:srgbClr val="087F8C"/>
            </a:solidFill>
          </c:spPr>
          <c:cat>
            <c:strRef>
              <c:f>'Chart Data'!$A$2:$A$5</c:f>
              <c:strCache>
                <c:ptCount val="4"/>
                <c:pt idx="0">
                  <c:v>Dummy</c:v>
                </c:pt>
                <c:pt idx="1">
                  <c:v>Logistic</c:v>
                </c:pt>
                <c:pt idx="2">
                  <c:v>Random forest</c:v>
                </c:pt>
                <c:pt idx="3">
                  <c:v>Tuned boosting</c:v>
                </c:pt>
              </c:strCache>
            </c:strRef>
          </c:cat>
          <c:val>
            <c:numRef>
              <c:f>'Chart Data'!$B$2:$B$5</c:f>
              <c:numCache>
                <c:formatCode>0.00</c:formatCode>
                <c:ptCount val="4"/>
                <c:pt idx="0">
                  <c:v>0.0897</c:v>
                </c:pt>
                <c:pt idx="1">
                  <c:v>0.1603</c:v>
                </c:pt>
                <c:pt idx="2">
                  <c:v>0.1662</c:v>
                </c:pt>
                <c:pt idx="3">
                  <c:v>0.1696</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500">
                  <a:solidFill>
                    <a:srgbClr val="102B40"/>
                  </a:solidFill>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571"/>
                </a:solidFill>
                <a:latin typeface="Helvetica Neue"/>
                <a:ea typeface="Helvetica Neue"/>
                <a:cs typeface="Helvetica Neue"/>
              </a:defRPr>
            </a:pPr>
          </a:p>
        </c:txPr>
        <c:crossAx val="48672768"/>
      </c:catAx>
      <c:valAx>
        <c:axId val="48672768"/>
        <c:scaling>
          <c:orientation val="minMax"/>
        </c:scaling>
        <c:delete val="0"/>
        <c:axPos val="l"/>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571"/>
                </a:solidFill>
                <a:latin typeface="Helvetica Neue"/>
                <a:ea typeface="Helvetica Neue"/>
                <a:cs typeface="Helvetica Neue"/>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Capture rate</c:v>
          </c:tx>
          <c:spPr>
            <a:solidFill xmlns:a="http://schemas.openxmlformats.org/drawingml/2006/main">
              <a:srgbClr val="087F8C"/>
            </a:solidFill>
          </c:spPr>
          <c:cat>
            <c:strRef>
              <c:f>'Chart Data'!$A$2:$A$4</c:f>
              <c:strCache>
                <c:ptCount val="3"/>
                <c:pt idx="0">
                  <c:v>Random selection</c:v>
                </c:pt>
                <c:pt idx="1">
                  <c:v>Project target</c:v>
                </c:pt>
                <c:pt idx="2">
                  <c:v>Model ranking</c:v>
                </c:pt>
              </c:strCache>
            </c:strRef>
          </c:cat>
          <c:val>
            <c:numRef>
              <c:f>'Chart Data'!$B$2:$B$4</c:f>
              <c:numCache>
                <c:formatCode>0%</c:formatCode>
                <c:ptCount val="3"/>
                <c:pt idx="0">
                  <c:v>0.2</c:v>
                </c:pt>
                <c:pt idx="1">
                  <c:v>0.3</c:v>
                </c:pt>
                <c:pt idx="2">
                  <c:v>0.3917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a:solidFill>
                    <a:srgbClr val="102B40"/>
                  </a:solidFill>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26571"/>
                </a:solidFill>
                <a:latin typeface="Helvetica Neue"/>
                <a:ea typeface="Helvetica Neue"/>
                <a:cs typeface="Helvetica Neue"/>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571"/>
                </a:solidFill>
                <a:latin typeface="Helvetica Neue"/>
                <a:ea typeface="Helvetica Neue"/>
                <a:cs typeface="Helvetica Neue"/>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FA4CC38-03A3-4296-95CF-C5AB3CD2540E}"/>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B40"/>
                </a:solidFill>
                <a:latin typeface="Helvetica Neue"/>
                <a:ea typeface="Helvetica Neue"/>
                <a:cs typeface="Helvetica Neue"/>
              </a:defRPr>
            </a:defPPr>
          </a:lstStyle>
          <a:p xmlns:a="http://schemas.openxmlformats.org/drawingml/2006/main">
            <a:pPr>
              <a:defRPr sz="3300" b="1">
                <a:solidFill>
                  <a:srgbClr val="102B40"/>
                </a:solidFill>
                <a:latin typeface="Helvetica Neue"/>
                <a:ea typeface="Helvetica Neue"/>
                <a:cs typeface="Helvetica Neue"/>
              </a:defRPr>
            </a:pPr>
            <a:r>
              <a:rPr sz="3300" b="1">
                <a:solidFill>
                  <a:srgbClr val="102B40"/>
                </a:solidFill>
                <a:latin typeface="Helvetica Neue"/>
                <a:ea typeface="Helvetica Neue"/>
                <a:cs typeface="Helvetica Neue"/>
              </a:rPr>
              <a:t>Predicting readmission within 30 days</a:t>
            </a:r>
          </a:p>
        </p:txBody>
      </p:sp>
      <p:sp>
        <p:nvSpPr>
          <p:cNvPr id="2" name="">
            <a:extLst xmlns:a="http://schemas.openxmlformats.org/drawingml/2006/main">
              <a:ext uri="{FF2B5EF4-FFF2-40B4-BE49-F238E27FC236}">
                <a16:creationId xmlns:a16="http://schemas.microsoft.com/office/drawing/2014/main" id="{6717FBEF-4CB4-49C0-8FAE-163CD3A2302A}"/>
              </a:ext>
            </a:extLst>
          </p:cNvPr>
          <p:cNvSpPr>
            <a:spLocks xmlns:a="http://schemas.openxmlformats.org/drawingml/2006/main" noGrp="1"/>
          </p:cNvSpPr>
          <p:nvPr/>
        </p:nvSpPr>
        <p:spPr>
          <a:xfrm xmlns:a="http://schemas.openxmlformats.org/drawingml/2006/main">
            <a:off x="10858500" y="633412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571"/>
                </a:solidFill>
                <a:latin typeface="Helvetica Neue"/>
                <a:ea typeface="Helvetica Neue"/>
                <a:cs typeface="Helvetica Neue"/>
              </a:defRPr>
            </a:defPPr>
          </a:lstStyle>
          <a:p xmlns:a="http://schemas.openxmlformats.org/drawingml/2006/main">
            <a:pPr>
              <a:defRPr sz="1350" b="0">
                <a:solidFill>
                  <a:srgbClr val="526571"/>
                </a:solidFill>
                <a:latin typeface="Helvetica Neue"/>
                <a:ea typeface="Helvetica Neue"/>
                <a:cs typeface="Helvetica Neue"/>
              </a:defRPr>
            </a:pPr>
            <a:r>
              <a:rPr sz="1350" b="0">
                <a:solidFill>
                  <a:srgbClr val="526571"/>
                </a:solidFill>
                <a:latin typeface="Helvetica Neue"/>
                <a:ea typeface="Helvetica Neue"/>
                <a:cs typeface="Helvetica Neue"/>
              </a:rPr>
              <a:t>1 / 5</a:t>
            </a:r>
          </a:p>
        </p:txBody>
      </p:sp>
      <p:sp>
        <p:nvSpPr>
          <p:cNvPr id="3" name="">
            <a:extLst xmlns:a="http://schemas.openxmlformats.org/drawingml/2006/main">
              <a:ext uri="{FF2B5EF4-FFF2-40B4-BE49-F238E27FC236}">
                <a16:creationId xmlns:a16="http://schemas.microsoft.com/office/drawing/2014/main" id="{C912C181-C889-43DD-93E9-732D5606F6AD}"/>
              </a:ext>
            </a:extLst>
          </p:cNvPr>
          <p:cNvSpPr>
            <a:spLocks xmlns:a="http://schemas.openxmlformats.org/drawingml/2006/main" noGrp="1"/>
          </p:cNvSpPr>
          <p:nvPr/>
        </p:nvSpPr>
        <p:spPr>
          <a:xfrm xmlns:a="http://schemas.openxmlformats.org/drawingml/2006/main">
            <a:off x="609600" y="15144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87F8C"/>
                </a:solidFill>
                <a:latin typeface="Helvetica Neue"/>
                <a:ea typeface="Helvetica Neue"/>
                <a:cs typeface="Helvetica Neue"/>
              </a:defRPr>
            </a:defPPr>
          </a:lstStyle>
          <a:p xmlns:a="http://schemas.openxmlformats.org/drawingml/2006/main">
            <a:pPr>
              <a:defRPr sz="2550" b="1">
                <a:solidFill>
                  <a:srgbClr val="087F8C"/>
                </a:solidFill>
                <a:latin typeface="Helvetica Neue"/>
                <a:ea typeface="Helvetica Neue"/>
                <a:cs typeface="Helvetica Neue"/>
              </a:defRPr>
            </a:pPr>
            <a:r>
              <a:rPr sz="2550" b="1">
                <a:solidFill>
                  <a:srgbClr val="087F8C"/>
                </a:solidFill>
                <a:latin typeface="Helvetica Neue"/>
                <a:ea typeface="Helvetica Neue"/>
                <a:cs typeface="Helvetica Neue"/>
              </a:rPr>
              <a:t>Patients with diabetes</a:t>
            </a:r>
          </a:p>
        </p:txBody>
      </p:sp>
      <p:sp>
        <p:nvSpPr>
          <p:cNvPr id="4" name="">
            <a:extLst xmlns:a="http://schemas.openxmlformats.org/drawingml/2006/main">
              <a:ext uri="{FF2B5EF4-FFF2-40B4-BE49-F238E27FC236}">
                <a16:creationId xmlns:a16="http://schemas.microsoft.com/office/drawing/2014/main" id="{F54DBE9F-4927-4C48-8B85-7510D9C9C216}"/>
              </a:ext>
            </a:extLst>
          </p:cNvPr>
          <p:cNvSpPr>
            <a:spLocks xmlns:a="http://schemas.openxmlformats.org/drawingml/2006/main" noGrp="1"/>
          </p:cNvSpPr>
          <p:nvPr/>
        </p:nvSpPr>
        <p:spPr>
          <a:xfrm xmlns:a="http://schemas.openxmlformats.org/drawingml/2006/main">
            <a:off x="609600" y="23812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B40"/>
                </a:solidFill>
                <a:latin typeface="Helvetica Neue"/>
                <a:ea typeface="Helvetica Neue"/>
                <a:cs typeface="Helvetica Neue"/>
              </a:defRPr>
            </a:defPPr>
          </a:lstStyle>
          <a:p xmlns:a="http://schemas.openxmlformats.org/drawingml/2006/main">
            <a:pPr>
              <a:defRPr sz="2100" b="0">
                <a:solidFill>
                  <a:srgbClr val="102B40"/>
                </a:solidFill>
                <a:latin typeface="Helvetica Neue"/>
                <a:ea typeface="Helvetica Neue"/>
                <a:cs typeface="Helvetica Neue"/>
              </a:defRPr>
            </a:pPr>
            <a:r>
              <a:rPr sz="2100" b="0">
                <a:solidFill>
                  <a:srgbClr val="102B40"/>
                </a:solidFill>
                <a:latin typeface="Helvetica Neue"/>
                <a:ea typeface="Helvetica Neue"/>
                <a:cs typeface="Helvetica Neue"/>
              </a:rPr>
              <a:t>Hospitals have limited capacity to follow up after discharge.</a:t>
            </a:r>
          </a:p>
        </p:txBody>
      </p:sp>
      <p:sp>
        <p:nvSpPr>
          <p:cNvPr id="5" name="">
            <a:extLst xmlns:a="http://schemas.openxmlformats.org/drawingml/2006/main">
              <a:ext uri="{FF2B5EF4-FFF2-40B4-BE49-F238E27FC236}">
                <a16:creationId xmlns:a16="http://schemas.microsoft.com/office/drawing/2014/main" id="{537761B8-BA40-49A3-9E74-0870B9130FAB}"/>
              </a:ext>
            </a:extLst>
          </p:cNvPr>
          <p:cNvSpPr>
            <a:spLocks xmlns:a="http://schemas.openxmlformats.org/drawingml/2006/main" noGrp="1"/>
          </p:cNvSpPr>
          <p:nvPr/>
        </p:nvSpPr>
        <p:spPr>
          <a:xfrm xmlns:a="http://schemas.openxmlformats.org/drawingml/2006/main">
            <a:off x="609600" y="3381375"/>
            <a:ext cx="10001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B40"/>
                </a:solidFill>
                <a:latin typeface="Helvetica Neue"/>
                <a:ea typeface="Helvetica Neue"/>
                <a:cs typeface="Helvetica Neue"/>
              </a:defRPr>
            </a:defPPr>
          </a:lstStyle>
          <a:p xmlns:a="http://schemas.openxmlformats.org/drawingml/2006/main">
            <a:pPr>
              <a:defRPr sz="2100" b="0">
                <a:solidFill>
                  <a:srgbClr val="102B40"/>
                </a:solidFill>
                <a:latin typeface="Helvetica Neue"/>
                <a:ea typeface="Helvetica Neue"/>
                <a:cs typeface="Helvetica Neue"/>
              </a:defRPr>
            </a:pPr>
            <a:r>
              <a:rPr sz="2100" b="0">
                <a:solidFill>
                  <a:srgbClr val="102B40"/>
                </a:solidFill>
                <a:latin typeface="Helvetica Neue"/>
                <a:ea typeface="Helvetica Neue"/>
                <a:cs typeface="Helvetica Neue"/>
              </a:rPr>
              <a:t>Can information available at discharge identify patients most likely to return within 30 days?</a:t>
            </a:r>
          </a:p>
        </p:txBody>
      </p:sp>
      <p:sp>
        <p:nvSpPr>
          <p:cNvPr id="6" name="">
            <a:extLst xmlns:a="http://schemas.openxmlformats.org/drawingml/2006/main">
              <a:ext uri="{FF2B5EF4-FFF2-40B4-BE49-F238E27FC236}">
                <a16:creationId xmlns:a16="http://schemas.microsoft.com/office/drawing/2014/main" id="{3592CDA0-43B5-4D5E-B335-5974DAEC8C85}"/>
              </a:ext>
            </a:extLst>
          </p:cNvPr>
          <p:cNvSpPr>
            <a:spLocks xmlns:a="http://schemas.openxmlformats.org/drawingml/2006/main" noGrp="1"/>
          </p:cNvSpPr>
          <p:nvPr/>
        </p:nvSpPr>
        <p:spPr>
          <a:xfrm xmlns:a="http://schemas.openxmlformats.org/drawingml/2006/main">
            <a:off x="609600" y="4810125"/>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02B40"/>
                </a:solidFill>
                <a:latin typeface="Helvetica Neue"/>
                <a:ea typeface="Helvetica Neue"/>
                <a:cs typeface="Helvetica Neue"/>
              </a:defRPr>
            </a:defPPr>
          </a:lstStyle>
          <a:p xmlns:a="http://schemas.openxmlformats.org/drawingml/2006/main">
            <a:pPr>
              <a:defRPr sz="2400" b="1">
                <a:solidFill>
                  <a:srgbClr val="102B40"/>
                </a:solidFill>
                <a:latin typeface="Helvetica Neue"/>
                <a:ea typeface="Helvetica Neue"/>
                <a:cs typeface="Helvetica Neue"/>
              </a:defRPr>
            </a:pPr>
            <a:r>
              <a:rPr sz="2400" b="1">
                <a:solidFill>
                  <a:srgbClr val="102B40"/>
                </a:solidFill>
                <a:latin typeface="Helvetica Neue"/>
                <a:ea typeface="Helvetica Neue"/>
                <a:cs typeface="Helvetica Neue"/>
              </a:rPr>
              <a:t>Goal: capture at least 30% of readmissions by contacting the highest-risk 20% of patients.</a:t>
            </a:r>
          </a:p>
        </p:txBody>
      </p:sp>
    </p:spTree>
    <p:extLst>
      <p:ext uri="{BB962C8B-B14F-4D97-AF65-F5344CB8AC3E}">
        <p14:creationId xmlns:p14="http://schemas.microsoft.com/office/powerpoint/2010/main" val="84567391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C0522C2-2276-480D-B2CD-4B721E96AB3B}"/>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B40"/>
                </a:solidFill>
                <a:latin typeface="Helvetica Neue"/>
                <a:ea typeface="Helvetica Neue"/>
                <a:cs typeface="Helvetica Neue"/>
              </a:defRPr>
            </a:defPPr>
          </a:lstStyle>
          <a:p xmlns:a="http://schemas.openxmlformats.org/drawingml/2006/main">
            <a:pPr>
              <a:defRPr sz="3300" b="1">
                <a:solidFill>
                  <a:srgbClr val="102B40"/>
                </a:solidFill>
                <a:latin typeface="Helvetica Neue"/>
                <a:ea typeface="Helvetica Neue"/>
                <a:cs typeface="Helvetica Neue"/>
              </a:defRPr>
            </a:pPr>
            <a:r>
              <a:rPr sz="3300" b="1">
                <a:solidFill>
                  <a:srgbClr val="102B40"/>
                </a:solidFill>
                <a:latin typeface="Helvetica Neue"/>
                <a:ea typeface="Helvetica Neue"/>
                <a:cs typeface="Helvetica Neue"/>
              </a:rPr>
              <a:t>Data and modeling approach</a:t>
            </a:r>
          </a:p>
        </p:txBody>
      </p:sp>
      <p:sp>
        <p:nvSpPr>
          <p:cNvPr id="2" name="">
            <a:extLst xmlns:a="http://schemas.openxmlformats.org/drawingml/2006/main">
              <a:ext uri="{FF2B5EF4-FFF2-40B4-BE49-F238E27FC236}">
                <a16:creationId xmlns:a16="http://schemas.microsoft.com/office/drawing/2014/main" id="{E5ED7ED8-591E-4AE7-9022-4DDD0B7988DD}"/>
              </a:ext>
            </a:extLst>
          </p:cNvPr>
          <p:cNvSpPr>
            <a:spLocks xmlns:a="http://schemas.openxmlformats.org/drawingml/2006/main" noGrp="1"/>
          </p:cNvSpPr>
          <p:nvPr/>
        </p:nvSpPr>
        <p:spPr>
          <a:xfrm xmlns:a="http://schemas.openxmlformats.org/drawingml/2006/main">
            <a:off x="10858500" y="633412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571"/>
                </a:solidFill>
                <a:latin typeface="Helvetica Neue"/>
                <a:ea typeface="Helvetica Neue"/>
                <a:cs typeface="Helvetica Neue"/>
              </a:defRPr>
            </a:defPPr>
          </a:lstStyle>
          <a:p xmlns:a="http://schemas.openxmlformats.org/drawingml/2006/main">
            <a:pPr>
              <a:defRPr sz="1350" b="0">
                <a:solidFill>
                  <a:srgbClr val="526571"/>
                </a:solidFill>
                <a:latin typeface="Helvetica Neue"/>
                <a:ea typeface="Helvetica Neue"/>
                <a:cs typeface="Helvetica Neue"/>
              </a:defRPr>
            </a:pPr>
            <a:r>
              <a:rPr sz="1350" b="0">
                <a:solidFill>
                  <a:srgbClr val="526571"/>
                </a:solidFill>
                <a:latin typeface="Helvetica Neue"/>
                <a:ea typeface="Helvetica Neue"/>
                <a:cs typeface="Helvetica Neue"/>
              </a:rPr>
              <a:t>2 / 5</a:t>
            </a:r>
          </a:p>
        </p:txBody>
      </p:sp>
      <p:sp>
        <p:nvSpPr>
          <p:cNvPr id="3" name="">
            <a:extLst xmlns:a="http://schemas.openxmlformats.org/drawingml/2006/main">
              <a:ext uri="{FF2B5EF4-FFF2-40B4-BE49-F238E27FC236}">
                <a16:creationId xmlns:a16="http://schemas.microsoft.com/office/drawing/2014/main" id="{C9E3AB00-A857-4490-8826-D0B33C30B550}"/>
              </a:ext>
            </a:extLst>
          </p:cNvPr>
          <p:cNvSpPr>
            <a:spLocks xmlns:a="http://schemas.openxmlformats.org/drawingml/2006/main" noGrp="1"/>
          </p:cNvSpPr>
          <p:nvPr/>
        </p:nvSpPr>
        <p:spPr>
          <a:xfrm xmlns:a="http://schemas.openxmlformats.org/drawingml/2006/main">
            <a:off x="609600" y="16192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400" b="1">
                <a:solidFill>
                  <a:srgbClr val="087F8C"/>
                </a:solidFill>
                <a:latin typeface="Helvetica Neue"/>
                <a:ea typeface="Helvetica Neue"/>
                <a:cs typeface="Helvetica Neue"/>
              </a:defRPr>
            </a:defPPr>
          </a:lstStyle>
          <a:p xmlns:a="http://schemas.openxmlformats.org/drawingml/2006/main">
            <a:pPr>
              <a:defRPr sz="5400" b="1">
                <a:solidFill>
                  <a:srgbClr val="087F8C"/>
                </a:solidFill>
                <a:latin typeface="Helvetica Neue"/>
                <a:ea typeface="Helvetica Neue"/>
                <a:cs typeface="Helvetica Neue"/>
              </a:defRPr>
            </a:pPr>
            <a:r>
              <a:rPr sz="5400" b="1">
                <a:solidFill>
                  <a:srgbClr val="087F8C"/>
                </a:solidFill>
                <a:latin typeface="Helvetica Neue"/>
                <a:ea typeface="Helvetica Neue"/>
                <a:cs typeface="Helvetica Neue"/>
              </a:rPr>
              <a:t>69,970</a:t>
            </a:r>
          </a:p>
        </p:txBody>
      </p:sp>
      <p:sp>
        <p:nvSpPr>
          <p:cNvPr id="4" name="">
            <a:extLst xmlns:a="http://schemas.openxmlformats.org/drawingml/2006/main">
              <a:ext uri="{FF2B5EF4-FFF2-40B4-BE49-F238E27FC236}">
                <a16:creationId xmlns:a16="http://schemas.microsoft.com/office/drawing/2014/main" id="{B30BAD72-25C2-4368-988E-DB69BAEE100D}"/>
              </a:ext>
            </a:extLst>
          </p:cNvPr>
          <p:cNvSpPr>
            <a:spLocks xmlns:a="http://schemas.openxmlformats.org/drawingml/2006/main" noGrp="1"/>
          </p:cNvSpPr>
          <p:nvPr/>
        </p:nvSpPr>
        <p:spPr>
          <a:xfrm xmlns:a="http://schemas.openxmlformats.org/drawingml/2006/main">
            <a:off x="609600" y="252412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B40"/>
                </a:solidFill>
                <a:latin typeface="Helvetica Neue"/>
                <a:ea typeface="Helvetica Neue"/>
                <a:cs typeface="Helvetica Neue"/>
              </a:defRPr>
            </a:defPPr>
          </a:lstStyle>
          <a:p xmlns:a="http://schemas.openxmlformats.org/drawingml/2006/main">
            <a:pPr>
              <a:defRPr sz="2100" b="0">
                <a:solidFill>
                  <a:srgbClr val="102B40"/>
                </a:solidFill>
                <a:latin typeface="Helvetica Neue"/>
                <a:ea typeface="Helvetica Neue"/>
                <a:cs typeface="Helvetica Neue"/>
              </a:defRPr>
            </a:pPr>
            <a:r>
              <a:rPr sz="2100" b="0">
                <a:solidFill>
                  <a:srgbClr val="102B40"/>
                </a:solidFill>
                <a:latin typeface="Helvetica Neue"/>
                <a:ea typeface="Helvetica Neue"/>
                <a:cs typeface="Helvetica Neue"/>
              </a:rPr>
              <a:t>patients in the final dataset</a:t>
            </a:r>
          </a:p>
        </p:txBody>
      </p:sp>
      <p:sp>
        <p:nvSpPr>
          <p:cNvPr id="5" name="">
            <a:extLst xmlns:a="http://schemas.openxmlformats.org/drawingml/2006/main">
              <a:ext uri="{FF2B5EF4-FFF2-40B4-BE49-F238E27FC236}">
                <a16:creationId xmlns:a16="http://schemas.microsoft.com/office/drawing/2014/main" id="{3989CC8C-242F-4541-B69C-19DA2EBD4886}"/>
              </a:ext>
            </a:extLst>
          </p:cNvPr>
          <p:cNvSpPr>
            <a:spLocks xmlns:a="http://schemas.openxmlformats.org/drawingml/2006/main" noGrp="1"/>
          </p:cNvSpPr>
          <p:nvPr/>
        </p:nvSpPr>
        <p:spPr>
          <a:xfrm xmlns:a="http://schemas.openxmlformats.org/drawingml/2006/main">
            <a:off x="6572250" y="161925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400" b="1">
                <a:solidFill>
                  <a:srgbClr val="087F8C"/>
                </a:solidFill>
                <a:latin typeface="Helvetica Neue"/>
                <a:ea typeface="Helvetica Neue"/>
                <a:cs typeface="Helvetica Neue"/>
              </a:defRPr>
            </a:defPPr>
          </a:lstStyle>
          <a:p xmlns:a="http://schemas.openxmlformats.org/drawingml/2006/main">
            <a:pPr>
              <a:defRPr sz="5400" b="1">
                <a:solidFill>
                  <a:srgbClr val="087F8C"/>
                </a:solidFill>
                <a:latin typeface="Helvetica Neue"/>
                <a:ea typeface="Helvetica Neue"/>
                <a:cs typeface="Helvetica Neue"/>
              </a:defRPr>
            </a:pPr>
            <a:r>
              <a:rPr sz="5400" b="1">
                <a:solidFill>
                  <a:srgbClr val="087F8C"/>
                </a:solidFill>
                <a:latin typeface="Helvetica Neue"/>
                <a:ea typeface="Helvetica Neue"/>
                <a:cs typeface="Helvetica Neue"/>
              </a:rPr>
              <a:t>8.97%</a:t>
            </a:r>
          </a:p>
        </p:txBody>
      </p:sp>
      <p:sp>
        <p:nvSpPr>
          <p:cNvPr id="6" name="">
            <a:extLst xmlns:a="http://schemas.openxmlformats.org/drawingml/2006/main">
              <a:ext uri="{FF2B5EF4-FFF2-40B4-BE49-F238E27FC236}">
                <a16:creationId xmlns:a16="http://schemas.microsoft.com/office/drawing/2014/main" id="{0A1B12D4-5F24-48C9-80B5-5A1192F496E6}"/>
              </a:ext>
            </a:extLst>
          </p:cNvPr>
          <p:cNvSpPr>
            <a:spLocks xmlns:a="http://schemas.openxmlformats.org/drawingml/2006/main" noGrp="1"/>
          </p:cNvSpPr>
          <p:nvPr/>
        </p:nvSpPr>
        <p:spPr>
          <a:xfrm xmlns:a="http://schemas.openxmlformats.org/drawingml/2006/main">
            <a:off x="6572250" y="2524125"/>
            <a:ext cx="476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B40"/>
                </a:solidFill>
                <a:latin typeface="Helvetica Neue"/>
                <a:ea typeface="Helvetica Neue"/>
                <a:cs typeface="Helvetica Neue"/>
              </a:defRPr>
            </a:defPPr>
          </a:lstStyle>
          <a:p xmlns:a="http://schemas.openxmlformats.org/drawingml/2006/main">
            <a:pPr>
              <a:defRPr sz="2100" b="0">
                <a:solidFill>
                  <a:srgbClr val="102B40"/>
                </a:solidFill>
                <a:latin typeface="Helvetica Neue"/>
                <a:ea typeface="Helvetica Neue"/>
                <a:cs typeface="Helvetica Neue"/>
              </a:defRPr>
            </a:pPr>
            <a:r>
              <a:rPr sz="2100" b="0">
                <a:solidFill>
                  <a:srgbClr val="102B40"/>
                </a:solidFill>
                <a:latin typeface="Helvetica Neue"/>
                <a:ea typeface="Helvetica Neue"/>
                <a:cs typeface="Helvetica Neue"/>
              </a:rPr>
              <a:t>recorded readmission within 30 days</a:t>
            </a:r>
          </a:p>
        </p:txBody>
      </p:sp>
      <p:sp>
        <p:nvSpPr>
          <p:cNvPr id="7" name="">
            <a:extLst xmlns:a="http://schemas.openxmlformats.org/drawingml/2006/main">
              <a:ext uri="{FF2B5EF4-FFF2-40B4-BE49-F238E27FC236}">
                <a16:creationId xmlns:a16="http://schemas.microsoft.com/office/drawing/2014/main" id="{DAFEADD0-CD62-4288-AD48-3B80E27B1453}"/>
              </a:ext>
            </a:extLst>
          </p:cNvPr>
          <p:cNvSpPr>
            <a:spLocks xmlns:a="http://schemas.openxmlformats.org/drawingml/2006/main" noGrp="1"/>
          </p:cNvSpPr>
          <p:nvPr/>
        </p:nvSpPr>
        <p:spPr>
          <a:xfrm xmlns:a="http://schemas.openxmlformats.org/drawingml/2006/main">
            <a:off x="609600" y="347662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B40"/>
                </a:solidFill>
                <a:latin typeface="Helvetica Neue"/>
                <a:ea typeface="Helvetica Neue"/>
                <a:cs typeface="Helvetica Neue"/>
              </a:defRPr>
            </a:defPPr>
          </a:lstStyle>
          <a:p xmlns:a="http://schemas.openxmlformats.org/drawingml/2006/main">
            <a:pPr>
              <a:defRPr sz="2100" b="0">
                <a:solidFill>
                  <a:srgbClr val="102B40"/>
                </a:solidFill>
                <a:latin typeface="Helvetica Neue"/>
                <a:ea typeface="Helvetica Neue"/>
                <a:cs typeface="Helvetica Neue"/>
              </a:defRPr>
            </a:pPr>
            <a:r>
              <a:rPr sz="2100" b="0">
                <a:solidFill>
                  <a:srgbClr val="102B40"/>
                </a:solidFill>
                <a:latin typeface="Helvetica Neue"/>
                <a:ea typeface="Helvetica Neue"/>
                <a:cs typeface="Helvetica Neue"/>
              </a:rPr>
              <a:t>One hospital stay per patient. Training / validation / test split: 70% / 15% / 15%.</a:t>
            </a:r>
          </a:p>
        </p:txBody>
      </p:sp>
      <p:sp>
        <p:nvSpPr>
          <p:cNvPr id="8" name="">
            <a:extLst xmlns:a="http://schemas.openxmlformats.org/drawingml/2006/main">
              <a:ext uri="{FF2B5EF4-FFF2-40B4-BE49-F238E27FC236}">
                <a16:creationId xmlns:a16="http://schemas.microsoft.com/office/drawing/2014/main" id="{DCEC86DE-D52A-45F9-8609-E6D5A7381AF0}"/>
              </a:ext>
            </a:extLst>
          </p:cNvPr>
          <p:cNvSpPr>
            <a:spLocks xmlns:a="http://schemas.openxmlformats.org/drawingml/2006/main" noGrp="1"/>
          </p:cNvSpPr>
          <p:nvPr/>
        </p:nvSpPr>
        <p:spPr>
          <a:xfrm xmlns:a="http://schemas.openxmlformats.org/drawingml/2006/main">
            <a:off x="609600" y="43815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B40"/>
                </a:solidFill>
                <a:latin typeface="Helvetica Neue"/>
                <a:ea typeface="Helvetica Neue"/>
                <a:cs typeface="Helvetica Neue"/>
              </a:defRPr>
            </a:defPPr>
          </a:lstStyle>
          <a:p xmlns:a="http://schemas.openxmlformats.org/drawingml/2006/main">
            <a:pPr>
              <a:defRPr sz="2100" b="0">
                <a:solidFill>
                  <a:srgbClr val="102B40"/>
                </a:solidFill>
                <a:latin typeface="Helvetica Neue"/>
                <a:ea typeface="Helvetica Neue"/>
                <a:cs typeface="Helvetica Neue"/>
              </a:defRPr>
            </a:pPr>
            <a:r>
              <a:rPr sz="2100" b="0">
                <a:solidFill>
                  <a:srgbClr val="102B40"/>
                </a:solidFill>
                <a:latin typeface="Helvetica Neue"/>
                <a:ea typeface="Helvetica Neue"/>
                <a:cs typeface="Helvetica Neue"/>
              </a:rPr>
              <a:t>Predictors include age, diagnoses, prior visits, medications, and discharge information.</a:t>
            </a:r>
          </a:p>
        </p:txBody>
      </p:sp>
      <p:sp>
        <p:nvSpPr>
          <p:cNvPr id="9" name="">
            <a:extLst xmlns:a="http://schemas.openxmlformats.org/drawingml/2006/main">
              <a:ext uri="{FF2B5EF4-FFF2-40B4-BE49-F238E27FC236}">
                <a16:creationId xmlns:a16="http://schemas.microsoft.com/office/drawing/2014/main" id="{89DFA38E-4BCC-481D-A800-C4B402637683}"/>
              </a:ext>
            </a:extLst>
          </p:cNvPr>
          <p:cNvSpPr>
            <a:spLocks xmlns:a="http://schemas.openxmlformats.org/drawingml/2006/main" noGrp="1"/>
          </p:cNvSpPr>
          <p:nvPr/>
        </p:nvSpPr>
        <p:spPr>
          <a:xfrm xmlns:a="http://schemas.openxmlformats.org/drawingml/2006/main">
            <a:off x="609600" y="53816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571"/>
                </a:solidFill>
                <a:latin typeface="Helvetica Neue"/>
                <a:ea typeface="Helvetica Neue"/>
                <a:cs typeface="Helvetica Neue"/>
              </a:defRPr>
            </a:defPPr>
          </a:lstStyle>
          <a:p xmlns:a="http://schemas.openxmlformats.org/drawingml/2006/main">
            <a:pPr>
              <a:defRPr sz="2025" b="0">
                <a:solidFill>
                  <a:srgbClr val="526571"/>
                </a:solidFill>
                <a:latin typeface="Helvetica Neue"/>
                <a:ea typeface="Helvetica Neue"/>
                <a:cs typeface="Helvetica Neue"/>
              </a:defRPr>
            </a:pPr>
            <a:r>
              <a:rPr sz="2025" b="0">
                <a:solidFill>
                  <a:srgbClr val="526571"/>
                </a:solidFill>
                <a:latin typeface="Helvetica Neue"/>
                <a:ea typeface="Helvetica Neue"/>
                <a:cs typeface="Helvetica Neue"/>
              </a:rPr>
              <a:t>Compared logistic regression, random forest, and gradient boosting using training-fitted pipelines.</a:t>
            </a:r>
          </a:p>
        </p:txBody>
      </p:sp>
    </p:spTree>
    <p:extLst>
      <p:ext uri="{BB962C8B-B14F-4D97-AF65-F5344CB8AC3E}">
        <p14:creationId xmlns:p14="http://schemas.microsoft.com/office/powerpoint/2010/main" val="140989762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57A5995-7051-40B1-87CC-658EE50554E4}"/>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B40"/>
                </a:solidFill>
                <a:latin typeface="Helvetica Neue"/>
                <a:ea typeface="Helvetica Neue"/>
                <a:cs typeface="Helvetica Neue"/>
              </a:defRPr>
            </a:defPPr>
          </a:lstStyle>
          <a:p xmlns:a="http://schemas.openxmlformats.org/drawingml/2006/main">
            <a:pPr>
              <a:defRPr sz="3300" b="1">
                <a:solidFill>
                  <a:srgbClr val="102B40"/>
                </a:solidFill>
                <a:latin typeface="Helvetica Neue"/>
                <a:ea typeface="Helvetica Neue"/>
                <a:cs typeface="Helvetica Neue"/>
              </a:defRPr>
            </a:pPr>
            <a:r>
              <a:rPr sz="3300" b="1">
                <a:solidFill>
                  <a:srgbClr val="102B40"/>
                </a:solidFill>
                <a:latin typeface="Helvetica Neue"/>
                <a:ea typeface="Helvetica Neue"/>
                <a:cs typeface="Helvetica Neue"/>
              </a:rPr>
              <a:t>Gradient boosting improves on the baseline</a:t>
            </a:r>
          </a:p>
        </p:txBody>
      </p:sp>
      <p:sp>
        <p:nvSpPr>
          <p:cNvPr id="2" name="">
            <a:extLst xmlns:a="http://schemas.openxmlformats.org/drawingml/2006/main">
              <a:ext uri="{FF2B5EF4-FFF2-40B4-BE49-F238E27FC236}">
                <a16:creationId xmlns:a16="http://schemas.microsoft.com/office/drawing/2014/main" id="{BE627809-C241-4AAF-B0A2-14E36434BF4E}"/>
              </a:ext>
            </a:extLst>
          </p:cNvPr>
          <p:cNvSpPr>
            <a:spLocks xmlns:a="http://schemas.openxmlformats.org/drawingml/2006/main" noGrp="1"/>
          </p:cNvSpPr>
          <p:nvPr/>
        </p:nvSpPr>
        <p:spPr>
          <a:xfrm xmlns:a="http://schemas.openxmlformats.org/drawingml/2006/main">
            <a:off x="10858500" y="633412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571"/>
                </a:solidFill>
                <a:latin typeface="Helvetica Neue"/>
                <a:ea typeface="Helvetica Neue"/>
                <a:cs typeface="Helvetica Neue"/>
              </a:defRPr>
            </a:defPPr>
          </a:lstStyle>
          <a:p xmlns:a="http://schemas.openxmlformats.org/drawingml/2006/main">
            <a:pPr>
              <a:defRPr sz="1350" b="0">
                <a:solidFill>
                  <a:srgbClr val="526571"/>
                </a:solidFill>
                <a:latin typeface="Helvetica Neue"/>
                <a:ea typeface="Helvetica Neue"/>
                <a:cs typeface="Helvetica Neue"/>
              </a:defRPr>
            </a:pPr>
            <a:r>
              <a:rPr sz="1350" b="0">
                <a:solidFill>
                  <a:srgbClr val="526571"/>
                </a:solidFill>
                <a:latin typeface="Helvetica Neue"/>
                <a:ea typeface="Helvetica Neue"/>
                <a:cs typeface="Helvetica Neue"/>
              </a:rPr>
              <a:t>3 / 5</a:t>
            </a:r>
          </a:p>
        </p:txBody>
      </p:sp>
      <p:sp>
        <p:nvSpPr>
          <p:cNvPr id="3" name="">
            <a:extLst xmlns:a="http://schemas.openxmlformats.org/drawingml/2006/main">
              <a:ext uri="{FF2B5EF4-FFF2-40B4-BE49-F238E27FC236}">
                <a16:creationId xmlns:a16="http://schemas.microsoft.com/office/drawing/2014/main" id="{3631E245-6962-49E3-A970-A6B880A2A679}"/>
              </a:ext>
            </a:extLst>
          </p:cNvPr>
          <p:cNvSpPr>
            <a:spLocks xmlns:a="http://schemas.openxmlformats.org/drawingml/2006/main" noGrp="1"/>
          </p:cNvSpPr>
          <p:nvPr/>
        </p:nvSpPr>
        <p:spPr>
          <a:xfrm xmlns:a="http://schemas.openxmlformats.org/drawingml/2006/main">
            <a:off x="609600" y="1552575"/>
            <a:ext cx="695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571"/>
                </a:solidFill>
                <a:latin typeface="Helvetica Neue"/>
                <a:ea typeface="Helvetica Neue"/>
                <a:cs typeface="Helvetica Neue"/>
              </a:defRPr>
            </a:defPPr>
          </a:lstStyle>
          <a:p xmlns:a="http://schemas.openxmlformats.org/drawingml/2006/main">
            <a:pPr>
              <a:defRPr sz="2025" b="0">
                <a:solidFill>
                  <a:srgbClr val="526571"/>
                </a:solidFill>
                <a:latin typeface="Helvetica Neue"/>
                <a:ea typeface="Helvetica Neue"/>
                <a:cs typeface="Helvetica Neue"/>
              </a:defRPr>
            </a:pPr>
            <a:r>
              <a:rPr sz="2025" b="0">
                <a:solidFill>
                  <a:srgbClr val="526571"/>
                </a:solidFill>
                <a:latin typeface="Helvetica Neue"/>
                <a:ea typeface="Helvetica Neue"/>
                <a:cs typeface="Helvetica Neue"/>
              </a:rPr>
              <a:t>Validation average precision</a:t>
            </a:r>
          </a:p>
        </p:txBody>
      </p:sp>
      <p:graphicFrame>
        <p:nvGraphicFramePr>
          <p:cNvPr id="4" name="Chart">
            <a:extLst xmlns:a="http://schemas.openxmlformats.org/drawingml/2006/main">
              <a:ext uri="{FF2B5EF4-FFF2-40B4-BE49-F238E27FC236}">
                <a16:creationId xmlns:a16="http://schemas.microsoft.com/office/drawing/2014/main" id="{551F1429-4414-49FF-A72E-54CA754D4353}"/>
              </a:ext>
            </a:extLst>
          </p:cNvPr>
          <p:cNvGraphicFramePr/>
          <p:nvPr/>
        </p:nvGraphicFramePr>
        <p:xfrm>
          <a:off xmlns:a="http://schemas.openxmlformats.org/drawingml/2006/main" x="609600" y="2143125"/>
          <a:ext xmlns:a="http://schemas.openxmlformats.org/drawingml/2006/main" cx="6905625" cy="3143250"/>
        </p:xfrm>
        <a:graphic xmlns:a="http://schemas.openxmlformats.org/drawingml/2006/main">
          <a:graphicData uri="http://schemas.openxmlformats.org/drawingml/2006/chart">
            <c:chart xmlns:r="http://schemas.openxmlformats.org/officeDocument/2006/relationships" xmlns:c="http://schemas.openxmlformats.org/drawingml/2006/chart" r:id="Ra60bc530d23e49f4"/>
          </a:graphicData>
        </a:graphic>
      </p:graphicFrame>
      <p:sp>
        <p:nvSpPr>
          <p:cNvPr id="5" name="">
            <a:extLst xmlns:a="http://schemas.openxmlformats.org/drawingml/2006/main">
              <a:ext uri="{FF2B5EF4-FFF2-40B4-BE49-F238E27FC236}">
                <a16:creationId xmlns:a16="http://schemas.microsoft.com/office/drawing/2014/main" id="{C58DA231-8EAD-41C0-9B8F-E6510319EC09}"/>
              </a:ext>
            </a:extLst>
          </p:cNvPr>
          <p:cNvSpPr>
            <a:spLocks xmlns:a="http://schemas.openxmlformats.org/drawingml/2006/main" noGrp="1"/>
          </p:cNvSpPr>
          <p:nvPr/>
        </p:nvSpPr>
        <p:spPr>
          <a:xfrm xmlns:a="http://schemas.openxmlformats.org/drawingml/2006/main">
            <a:off x="8096250" y="161925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02B40"/>
                </a:solidFill>
                <a:latin typeface="Helvetica Neue"/>
                <a:ea typeface="Helvetica Neue"/>
                <a:cs typeface="Helvetica Neue"/>
              </a:defRPr>
            </a:defPPr>
          </a:lstStyle>
          <a:p xmlns:a="http://schemas.openxmlformats.org/drawingml/2006/main">
            <a:pPr>
              <a:defRPr sz="2100" b="1">
                <a:solidFill>
                  <a:srgbClr val="102B40"/>
                </a:solidFill>
                <a:latin typeface="Helvetica Neue"/>
                <a:ea typeface="Helvetica Neue"/>
                <a:cs typeface="Helvetica Neue"/>
              </a:defRPr>
            </a:pPr>
            <a:r>
              <a:rPr sz="2100" b="1">
                <a:solidFill>
                  <a:srgbClr val="102B40"/>
                </a:solidFill>
                <a:latin typeface="Helvetica Neue"/>
                <a:ea typeface="Helvetica Neue"/>
                <a:cs typeface="Helvetica Neue"/>
              </a:rPr>
              <a:t>Final test results</a:t>
            </a:r>
          </a:p>
        </p:txBody>
      </p:sp>
      <p:sp>
        <p:nvSpPr>
          <p:cNvPr id="6" name="">
            <a:extLst xmlns:a="http://schemas.openxmlformats.org/drawingml/2006/main">
              <a:ext uri="{FF2B5EF4-FFF2-40B4-BE49-F238E27FC236}">
                <a16:creationId xmlns:a16="http://schemas.microsoft.com/office/drawing/2014/main" id="{CD726CC6-D251-4D2E-8F9A-BD24A89B94FB}"/>
              </a:ext>
            </a:extLst>
          </p:cNvPr>
          <p:cNvSpPr>
            <a:spLocks xmlns:a="http://schemas.openxmlformats.org/drawingml/2006/main" noGrp="1"/>
          </p:cNvSpPr>
          <p:nvPr/>
        </p:nvSpPr>
        <p:spPr>
          <a:xfrm xmlns:a="http://schemas.openxmlformats.org/drawingml/2006/main">
            <a:off x="8096250" y="2333625"/>
            <a:ext cx="314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087F8C"/>
                </a:solidFill>
                <a:latin typeface="Helvetica Neue"/>
                <a:ea typeface="Helvetica Neue"/>
                <a:cs typeface="Helvetica Neue"/>
              </a:defRPr>
            </a:defPPr>
          </a:lstStyle>
          <a:p xmlns:a="http://schemas.openxmlformats.org/drawingml/2006/main">
            <a:pPr>
              <a:defRPr sz="4350" b="1">
                <a:solidFill>
                  <a:srgbClr val="087F8C"/>
                </a:solidFill>
                <a:latin typeface="Helvetica Neue"/>
                <a:ea typeface="Helvetica Neue"/>
                <a:cs typeface="Helvetica Neue"/>
              </a:defRPr>
            </a:pPr>
            <a:r>
              <a:rPr sz="4350" b="1">
                <a:solidFill>
                  <a:srgbClr val="087F8C"/>
                </a:solidFill>
                <a:latin typeface="Helvetica Neue"/>
                <a:ea typeface="Helvetica Neue"/>
                <a:cs typeface="Helvetica Neue"/>
              </a:rPr>
              <a:t>0.1866</a:t>
            </a:r>
          </a:p>
        </p:txBody>
      </p:sp>
      <p:sp>
        <p:nvSpPr>
          <p:cNvPr id="7" name="">
            <a:extLst xmlns:a="http://schemas.openxmlformats.org/drawingml/2006/main">
              <a:ext uri="{FF2B5EF4-FFF2-40B4-BE49-F238E27FC236}">
                <a16:creationId xmlns:a16="http://schemas.microsoft.com/office/drawing/2014/main" id="{74B6DC31-40D3-4C5B-837F-3CEEF710C6E3}"/>
              </a:ext>
            </a:extLst>
          </p:cNvPr>
          <p:cNvSpPr>
            <a:spLocks xmlns:a="http://schemas.openxmlformats.org/drawingml/2006/main" noGrp="1"/>
          </p:cNvSpPr>
          <p:nvPr/>
        </p:nvSpPr>
        <p:spPr>
          <a:xfrm xmlns:a="http://schemas.openxmlformats.org/drawingml/2006/main">
            <a:off x="8096250" y="30480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02B40"/>
                </a:solidFill>
                <a:latin typeface="Helvetica Neue"/>
                <a:ea typeface="Helvetica Neue"/>
                <a:cs typeface="Helvetica Neue"/>
              </a:defRPr>
            </a:defPPr>
          </a:lstStyle>
          <a:p xmlns:a="http://schemas.openxmlformats.org/drawingml/2006/main">
            <a:pPr>
              <a:defRPr sz="1875" b="0">
                <a:solidFill>
                  <a:srgbClr val="102B40"/>
                </a:solidFill>
                <a:latin typeface="Helvetica Neue"/>
                <a:ea typeface="Helvetica Neue"/>
                <a:cs typeface="Helvetica Neue"/>
              </a:defRPr>
            </a:pPr>
            <a:r>
              <a:rPr sz="1875" b="0">
                <a:solidFill>
                  <a:srgbClr val="102B40"/>
                </a:solidFill>
                <a:latin typeface="Helvetica Neue"/>
                <a:ea typeface="Helvetica Neue"/>
                <a:cs typeface="Helvetica Neue"/>
              </a:rPr>
              <a:t>Average precision</a:t>
            </a:r>
          </a:p>
        </p:txBody>
      </p:sp>
      <p:sp>
        <p:nvSpPr>
          <p:cNvPr id="8" name="">
            <a:extLst xmlns:a="http://schemas.openxmlformats.org/drawingml/2006/main">
              <a:ext uri="{FF2B5EF4-FFF2-40B4-BE49-F238E27FC236}">
                <a16:creationId xmlns:a16="http://schemas.microsoft.com/office/drawing/2014/main" id="{D7BEEE47-FDC2-4629-B569-ACD0D0C5D639}"/>
              </a:ext>
            </a:extLst>
          </p:cNvPr>
          <p:cNvSpPr>
            <a:spLocks xmlns:a="http://schemas.openxmlformats.org/drawingml/2006/main" noGrp="1"/>
          </p:cNvSpPr>
          <p:nvPr/>
        </p:nvSpPr>
        <p:spPr>
          <a:xfrm xmlns:a="http://schemas.openxmlformats.org/drawingml/2006/main">
            <a:off x="8096250" y="3714750"/>
            <a:ext cx="314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087F8C"/>
                </a:solidFill>
                <a:latin typeface="Helvetica Neue"/>
                <a:ea typeface="Helvetica Neue"/>
                <a:cs typeface="Helvetica Neue"/>
              </a:defRPr>
            </a:defPPr>
          </a:lstStyle>
          <a:p xmlns:a="http://schemas.openxmlformats.org/drawingml/2006/main">
            <a:pPr>
              <a:defRPr sz="4350" b="1">
                <a:solidFill>
                  <a:srgbClr val="087F8C"/>
                </a:solidFill>
                <a:latin typeface="Helvetica Neue"/>
                <a:ea typeface="Helvetica Neue"/>
                <a:cs typeface="Helvetica Neue"/>
              </a:defRPr>
            </a:pPr>
            <a:r>
              <a:rPr sz="4350" b="1">
                <a:solidFill>
                  <a:srgbClr val="087F8C"/>
                </a:solidFill>
                <a:latin typeface="Helvetica Neue"/>
                <a:ea typeface="Helvetica Neue"/>
                <a:cs typeface="Helvetica Neue"/>
              </a:rPr>
              <a:t>0.6523</a:t>
            </a:r>
          </a:p>
        </p:txBody>
      </p:sp>
      <p:sp>
        <p:nvSpPr>
          <p:cNvPr id="9" name="">
            <a:extLst xmlns:a="http://schemas.openxmlformats.org/drawingml/2006/main">
              <a:ext uri="{FF2B5EF4-FFF2-40B4-BE49-F238E27FC236}">
                <a16:creationId xmlns:a16="http://schemas.microsoft.com/office/drawing/2014/main" id="{F8AC868F-9A6B-4132-9D72-1FF94A7718B4}"/>
              </a:ext>
            </a:extLst>
          </p:cNvPr>
          <p:cNvSpPr>
            <a:spLocks xmlns:a="http://schemas.openxmlformats.org/drawingml/2006/main" noGrp="1"/>
          </p:cNvSpPr>
          <p:nvPr/>
        </p:nvSpPr>
        <p:spPr>
          <a:xfrm xmlns:a="http://schemas.openxmlformats.org/drawingml/2006/main">
            <a:off x="8096250" y="44291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02B40"/>
                </a:solidFill>
                <a:latin typeface="Helvetica Neue"/>
                <a:ea typeface="Helvetica Neue"/>
                <a:cs typeface="Helvetica Neue"/>
              </a:defRPr>
            </a:defPPr>
          </a:lstStyle>
          <a:p xmlns:a="http://schemas.openxmlformats.org/drawingml/2006/main">
            <a:pPr>
              <a:defRPr sz="1875" b="0">
                <a:solidFill>
                  <a:srgbClr val="102B40"/>
                </a:solidFill>
                <a:latin typeface="Helvetica Neue"/>
                <a:ea typeface="Helvetica Neue"/>
                <a:cs typeface="Helvetica Neue"/>
              </a:defRPr>
            </a:pPr>
            <a:r>
              <a:rPr sz="1875" b="0">
                <a:solidFill>
                  <a:srgbClr val="102B40"/>
                </a:solidFill>
                <a:latin typeface="Helvetica Neue"/>
                <a:ea typeface="Helvetica Neue"/>
                <a:cs typeface="Helvetica Neue"/>
              </a:rPr>
              <a:t>ROC-AUC</a:t>
            </a:r>
          </a:p>
        </p:txBody>
      </p:sp>
      <p:sp>
        <p:nvSpPr>
          <p:cNvPr id="10" name="">
            <a:extLst xmlns:a="http://schemas.openxmlformats.org/drawingml/2006/main">
              <a:ext uri="{FF2B5EF4-FFF2-40B4-BE49-F238E27FC236}">
                <a16:creationId xmlns:a16="http://schemas.microsoft.com/office/drawing/2014/main" id="{A966F467-C246-4440-B58C-CC0055AB03EA}"/>
              </a:ext>
            </a:extLst>
          </p:cNvPr>
          <p:cNvSpPr>
            <a:spLocks xmlns:a="http://schemas.openxmlformats.org/drawingml/2006/main" noGrp="1"/>
          </p:cNvSpPr>
          <p:nvPr/>
        </p:nvSpPr>
        <p:spPr>
          <a:xfrm xmlns:a="http://schemas.openxmlformats.org/drawingml/2006/main">
            <a:off x="609600" y="56197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571"/>
                </a:solidFill>
                <a:latin typeface="Helvetica Neue"/>
                <a:ea typeface="Helvetica Neue"/>
                <a:cs typeface="Helvetica Neue"/>
              </a:defRPr>
            </a:defPPr>
          </a:lstStyle>
          <a:p xmlns:a="http://schemas.openxmlformats.org/drawingml/2006/main">
            <a:pPr>
              <a:defRPr sz="2025" b="0">
                <a:solidFill>
                  <a:srgbClr val="526571"/>
                </a:solidFill>
                <a:latin typeface="Helvetica Neue"/>
                <a:ea typeface="Helvetica Neue"/>
                <a:cs typeface="Helvetica Neue"/>
              </a:defRPr>
            </a:pPr>
            <a:r>
              <a:rPr sz="2025" b="0">
                <a:solidFill>
                  <a:srgbClr val="526571"/>
                </a:solidFill>
                <a:latin typeface="Helvetica Neue"/>
                <a:ea typeface="Helvetica Neue"/>
                <a:cs typeface="Helvetica Neue"/>
              </a:rPr>
              <a:t>Tuning reduced the training–validation gap. Predictive discrimination remains modest.</a:t>
            </a:r>
          </a:p>
        </p:txBody>
      </p:sp>
    </p:spTree>
    <p:extLst>
      <p:ext uri="{BB962C8B-B14F-4D97-AF65-F5344CB8AC3E}">
        <p14:creationId xmlns:p14="http://schemas.microsoft.com/office/powerpoint/2010/main" val="3998453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8ECFC93-400B-405E-9730-E1B825EF6969}"/>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B40"/>
                </a:solidFill>
                <a:latin typeface="Helvetica Neue"/>
                <a:ea typeface="Helvetica Neue"/>
                <a:cs typeface="Helvetica Neue"/>
              </a:defRPr>
            </a:defPPr>
          </a:lstStyle>
          <a:p xmlns:a="http://schemas.openxmlformats.org/drawingml/2006/main">
            <a:pPr>
              <a:defRPr sz="3300" b="1">
                <a:solidFill>
                  <a:srgbClr val="102B40"/>
                </a:solidFill>
                <a:latin typeface="Helvetica Neue"/>
                <a:ea typeface="Helvetica Neue"/>
                <a:cs typeface="Helvetica Neue"/>
              </a:defRPr>
            </a:pPr>
            <a:r>
              <a:rPr sz="3300" b="1">
                <a:solidFill>
                  <a:srgbClr val="102B40"/>
                </a:solidFill>
                <a:latin typeface="Helvetica Neue"/>
                <a:ea typeface="Helvetica Neue"/>
                <a:cs typeface="Helvetica Neue"/>
              </a:rPr>
              <a:t>The top 20% captures 39.17% of readmissions</a:t>
            </a:r>
          </a:p>
        </p:txBody>
      </p:sp>
      <p:sp>
        <p:nvSpPr>
          <p:cNvPr id="2" name="">
            <a:extLst xmlns:a="http://schemas.openxmlformats.org/drawingml/2006/main">
              <a:ext uri="{FF2B5EF4-FFF2-40B4-BE49-F238E27FC236}">
                <a16:creationId xmlns:a16="http://schemas.microsoft.com/office/drawing/2014/main" id="{CB06308D-BD69-4074-962E-DE153EC3F1C1}"/>
              </a:ext>
            </a:extLst>
          </p:cNvPr>
          <p:cNvSpPr>
            <a:spLocks xmlns:a="http://schemas.openxmlformats.org/drawingml/2006/main" noGrp="1"/>
          </p:cNvSpPr>
          <p:nvPr/>
        </p:nvSpPr>
        <p:spPr>
          <a:xfrm xmlns:a="http://schemas.openxmlformats.org/drawingml/2006/main">
            <a:off x="10858500" y="633412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571"/>
                </a:solidFill>
                <a:latin typeface="Helvetica Neue"/>
                <a:ea typeface="Helvetica Neue"/>
                <a:cs typeface="Helvetica Neue"/>
              </a:defRPr>
            </a:defPPr>
          </a:lstStyle>
          <a:p xmlns:a="http://schemas.openxmlformats.org/drawingml/2006/main">
            <a:pPr>
              <a:defRPr sz="1350" b="0">
                <a:solidFill>
                  <a:srgbClr val="526571"/>
                </a:solidFill>
                <a:latin typeface="Helvetica Neue"/>
                <a:ea typeface="Helvetica Neue"/>
                <a:cs typeface="Helvetica Neue"/>
              </a:defRPr>
            </a:pPr>
            <a:r>
              <a:rPr sz="1350" b="0">
                <a:solidFill>
                  <a:srgbClr val="526571"/>
                </a:solidFill>
                <a:latin typeface="Helvetica Neue"/>
                <a:ea typeface="Helvetica Neue"/>
                <a:cs typeface="Helvetica Neue"/>
              </a:rPr>
              <a:t>4 / 5</a:t>
            </a:r>
          </a:p>
        </p:txBody>
      </p:sp>
      <p:sp>
        <p:nvSpPr>
          <p:cNvPr id="3" name="">
            <a:extLst xmlns:a="http://schemas.openxmlformats.org/drawingml/2006/main">
              <a:ext uri="{FF2B5EF4-FFF2-40B4-BE49-F238E27FC236}">
                <a16:creationId xmlns:a16="http://schemas.microsoft.com/office/drawing/2014/main" id="{49AB45D2-AD9F-4883-9A80-66C1A91902E6}"/>
              </a:ext>
            </a:extLst>
          </p:cNvPr>
          <p:cNvSpPr>
            <a:spLocks xmlns:a="http://schemas.openxmlformats.org/drawingml/2006/main" noGrp="1"/>
          </p:cNvSpPr>
          <p:nvPr/>
        </p:nvSpPr>
        <p:spPr>
          <a:xfrm xmlns:a="http://schemas.openxmlformats.org/drawingml/2006/main">
            <a:off x="609600" y="15811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571"/>
                </a:solidFill>
                <a:latin typeface="Helvetica Neue"/>
                <a:ea typeface="Helvetica Neue"/>
                <a:cs typeface="Helvetica Neue"/>
              </a:defRPr>
            </a:defPPr>
          </a:lstStyle>
          <a:p xmlns:a="http://schemas.openxmlformats.org/drawingml/2006/main">
            <a:pPr>
              <a:defRPr sz="2025" b="0">
                <a:solidFill>
                  <a:srgbClr val="526571"/>
                </a:solidFill>
                <a:latin typeface="Helvetica Neue"/>
                <a:ea typeface="Helvetica Neue"/>
                <a:cs typeface="Helvetica Neue"/>
              </a:defRPr>
            </a:pPr>
            <a:r>
              <a:rPr sz="2025" b="0">
                <a:solidFill>
                  <a:srgbClr val="526571"/>
                </a:solidFill>
                <a:latin typeface="Helvetica Neue"/>
                <a:ea typeface="Helvetica Neue"/>
                <a:cs typeface="Helvetica Neue"/>
              </a:rPr>
              <a:t>Readmission capture at a 20% follow-up workload</a:t>
            </a:r>
          </a:p>
        </p:txBody>
      </p:sp>
      <p:graphicFrame>
        <p:nvGraphicFramePr>
          <p:cNvPr id="4" name="Chart">
            <a:extLst xmlns:a="http://schemas.openxmlformats.org/drawingml/2006/main">
              <a:ext uri="{FF2B5EF4-FFF2-40B4-BE49-F238E27FC236}">
                <a16:creationId xmlns:a16="http://schemas.microsoft.com/office/drawing/2014/main" id="{D4F1B038-CCA1-4C88-A36A-ECDC7B608F8A}"/>
              </a:ext>
            </a:extLst>
          </p:cNvPr>
          <p:cNvGraphicFramePr/>
          <p:nvPr/>
        </p:nvGraphicFramePr>
        <p:xfrm>
          <a:off xmlns:a="http://schemas.openxmlformats.org/drawingml/2006/main" x="609600" y="2238375"/>
          <a:ext xmlns:a="http://schemas.openxmlformats.org/drawingml/2006/main" cx="7048500" cy="3000375"/>
        </p:xfrm>
        <a:graphic xmlns:a="http://schemas.openxmlformats.org/drawingml/2006/main">
          <a:graphicData uri="http://schemas.openxmlformats.org/drawingml/2006/chart">
            <c:chart xmlns:r="http://schemas.openxmlformats.org/officeDocument/2006/relationships" xmlns:c="http://schemas.openxmlformats.org/drawingml/2006/chart" r:id="R79e0e5f077894ad4"/>
          </a:graphicData>
        </a:graphic>
      </p:graphicFrame>
      <p:sp>
        <p:nvSpPr>
          <p:cNvPr id="5" name="">
            <a:extLst xmlns:a="http://schemas.openxmlformats.org/drawingml/2006/main">
              <a:ext uri="{FF2B5EF4-FFF2-40B4-BE49-F238E27FC236}">
                <a16:creationId xmlns:a16="http://schemas.microsoft.com/office/drawing/2014/main" id="{4B0E983A-1FAE-45E2-A295-D85F86867BF5}"/>
              </a:ext>
            </a:extLst>
          </p:cNvPr>
          <p:cNvSpPr>
            <a:spLocks xmlns:a="http://schemas.openxmlformats.org/drawingml/2006/main" noGrp="1"/>
          </p:cNvSpPr>
          <p:nvPr/>
        </p:nvSpPr>
        <p:spPr>
          <a:xfrm xmlns:a="http://schemas.openxmlformats.org/drawingml/2006/main">
            <a:off x="8239125" y="2333625"/>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087F8C"/>
                </a:solidFill>
                <a:latin typeface="Helvetica Neue"/>
                <a:ea typeface="Helvetica Neue"/>
                <a:cs typeface="Helvetica Neue"/>
              </a:defRPr>
            </a:defPPr>
          </a:lstStyle>
          <a:p xmlns:a="http://schemas.openxmlformats.org/drawingml/2006/main">
            <a:pPr>
              <a:defRPr sz="4800" b="1">
                <a:solidFill>
                  <a:srgbClr val="087F8C"/>
                </a:solidFill>
                <a:latin typeface="Helvetica Neue"/>
                <a:ea typeface="Helvetica Neue"/>
                <a:cs typeface="Helvetica Neue"/>
              </a:defRPr>
            </a:pPr>
            <a:r>
              <a:rPr sz="4800" b="1">
                <a:solidFill>
                  <a:srgbClr val="087F8C"/>
                </a:solidFill>
                <a:latin typeface="Helvetica Neue"/>
                <a:ea typeface="Helvetica Neue"/>
                <a:cs typeface="Helvetica Neue"/>
              </a:rPr>
              <a:t>1.96×</a:t>
            </a:r>
          </a:p>
        </p:txBody>
      </p:sp>
      <p:sp>
        <p:nvSpPr>
          <p:cNvPr id="6" name="">
            <a:extLst xmlns:a="http://schemas.openxmlformats.org/drawingml/2006/main">
              <a:ext uri="{FF2B5EF4-FFF2-40B4-BE49-F238E27FC236}">
                <a16:creationId xmlns:a16="http://schemas.microsoft.com/office/drawing/2014/main" id="{8424BEF3-A760-419E-98D5-4C6E52366103}"/>
              </a:ext>
            </a:extLst>
          </p:cNvPr>
          <p:cNvSpPr>
            <a:spLocks xmlns:a="http://schemas.openxmlformats.org/drawingml/2006/main" noGrp="1"/>
          </p:cNvSpPr>
          <p:nvPr/>
        </p:nvSpPr>
        <p:spPr>
          <a:xfrm xmlns:a="http://schemas.openxmlformats.org/drawingml/2006/main">
            <a:off x="8239125" y="3143250"/>
            <a:ext cx="314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02B40"/>
                </a:solidFill>
                <a:latin typeface="Helvetica Neue"/>
                <a:ea typeface="Helvetica Neue"/>
                <a:cs typeface="Helvetica Neue"/>
              </a:defRPr>
            </a:defPPr>
          </a:lstStyle>
          <a:p xmlns:a="http://schemas.openxmlformats.org/drawingml/2006/main">
            <a:pPr>
              <a:defRPr sz="2025" b="0">
                <a:solidFill>
                  <a:srgbClr val="102B40"/>
                </a:solidFill>
                <a:latin typeface="Helvetica Neue"/>
                <a:ea typeface="Helvetica Neue"/>
                <a:cs typeface="Helvetica Neue"/>
              </a:defRPr>
            </a:pPr>
            <a:r>
              <a:rPr sz="2025" b="0">
                <a:solidFill>
                  <a:srgbClr val="102B40"/>
                </a:solidFill>
                <a:latin typeface="Helvetica Neue"/>
                <a:ea typeface="Helvetica Neue"/>
                <a:cs typeface="Helvetica Neue"/>
              </a:rPr>
              <a:t>lift over random selection</a:t>
            </a:r>
          </a:p>
        </p:txBody>
      </p:sp>
      <p:sp>
        <p:nvSpPr>
          <p:cNvPr id="7" name="">
            <a:extLst xmlns:a="http://schemas.openxmlformats.org/drawingml/2006/main">
              <a:ext uri="{FF2B5EF4-FFF2-40B4-BE49-F238E27FC236}">
                <a16:creationId xmlns:a16="http://schemas.microsoft.com/office/drawing/2014/main" id="{F4EDC7D2-4435-433F-8A3D-FF55A4C785D9}"/>
              </a:ext>
            </a:extLst>
          </p:cNvPr>
          <p:cNvSpPr>
            <a:spLocks xmlns:a="http://schemas.openxmlformats.org/drawingml/2006/main" noGrp="1"/>
          </p:cNvSpPr>
          <p:nvPr/>
        </p:nvSpPr>
        <p:spPr>
          <a:xfrm xmlns:a="http://schemas.openxmlformats.org/drawingml/2006/main">
            <a:off x="8239125" y="40957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02B40"/>
                </a:solidFill>
                <a:latin typeface="Helvetica Neue"/>
                <a:ea typeface="Helvetica Neue"/>
                <a:cs typeface="Helvetica Neue"/>
              </a:defRPr>
            </a:defPPr>
          </a:lstStyle>
          <a:p xmlns:a="http://schemas.openxmlformats.org/drawingml/2006/main">
            <a:pPr>
              <a:defRPr sz="2700" b="1">
                <a:solidFill>
                  <a:srgbClr val="102B40"/>
                </a:solidFill>
                <a:latin typeface="Helvetica Neue"/>
                <a:ea typeface="Helvetica Neue"/>
                <a:cs typeface="Helvetica Neue"/>
              </a:defRPr>
            </a:pPr>
            <a:r>
              <a:rPr sz="2700" b="1">
                <a:solidFill>
                  <a:srgbClr val="102B40"/>
                </a:solidFill>
                <a:latin typeface="Helvetica Neue"/>
                <a:ea typeface="Helvetica Neue"/>
                <a:cs typeface="Helvetica Neue"/>
              </a:rPr>
              <a:t>369 of 942</a:t>
            </a:r>
          </a:p>
        </p:txBody>
      </p:sp>
      <p:sp>
        <p:nvSpPr>
          <p:cNvPr id="8" name="">
            <a:extLst xmlns:a="http://schemas.openxmlformats.org/drawingml/2006/main">
              <a:ext uri="{FF2B5EF4-FFF2-40B4-BE49-F238E27FC236}">
                <a16:creationId xmlns:a16="http://schemas.microsoft.com/office/drawing/2014/main" id="{06ABF85C-3998-493E-938B-BBFD005802B5}"/>
              </a:ext>
            </a:extLst>
          </p:cNvPr>
          <p:cNvSpPr>
            <a:spLocks xmlns:a="http://schemas.openxmlformats.org/drawingml/2006/main" noGrp="1"/>
          </p:cNvSpPr>
          <p:nvPr/>
        </p:nvSpPr>
        <p:spPr>
          <a:xfrm xmlns:a="http://schemas.openxmlformats.org/drawingml/2006/main">
            <a:off x="8239125" y="46863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02B40"/>
                </a:solidFill>
                <a:latin typeface="Helvetica Neue"/>
                <a:ea typeface="Helvetica Neue"/>
                <a:cs typeface="Helvetica Neue"/>
              </a:defRPr>
            </a:defPPr>
          </a:lstStyle>
          <a:p xmlns:a="http://schemas.openxmlformats.org/drawingml/2006/main">
            <a:pPr>
              <a:defRPr sz="1950" b="0">
                <a:solidFill>
                  <a:srgbClr val="102B40"/>
                </a:solidFill>
                <a:latin typeface="Helvetica Neue"/>
                <a:ea typeface="Helvetica Neue"/>
                <a:cs typeface="Helvetica Neue"/>
              </a:defRPr>
            </a:pPr>
            <a:r>
              <a:rPr sz="1950" b="0">
                <a:solidFill>
                  <a:srgbClr val="102B40"/>
                </a:solidFill>
                <a:latin typeface="Helvetica Neue"/>
                <a:ea typeface="Helvetica Neue"/>
                <a:cs typeface="Helvetica Neue"/>
              </a:rPr>
              <a:t>readmissions captured</a:t>
            </a:r>
          </a:p>
        </p:txBody>
      </p:sp>
      <p:sp>
        <p:nvSpPr>
          <p:cNvPr id="9" name="">
            <a:extLst xmlns:a="http://schemas.openxmlformats.org/drawingml/2006/main">
              <a:ext uri="{FF2B5EF4-FFF2-40B4-BE49-F238E27FC236}">
                <a16:creationId xmlns:a16="http://schemas.microsoft.com/office/drawing/2014/main" id="{DE10D40C-BBB4-4AED-B6EC-79934FA77798}"/>
              </a:ext>
            </a:extLst>
          </p:cNvPr>
          <p:cNvSpPr>
            <a:spLocks xmlns:a="http://schemas.openxmlformats.org/drawingml/2006/main" noGrp="1"/>
          </p:cNvSpPr>
          <p:nvPr/>
        </p:nvSpPr>
        <p:spPr>
          <a:xfrm xmlns:a="http://schemas.openxmlformats.org/drawingml/2006/main">
            <a:off x="609600" y="561975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02B40"/>
                </a:solidFill>
                <a:latin typeface="Helvetica Neue"/>
                <a:ea typeface="Helvetica Neue"/>
                <a:cs typeface="Helvetica Neue"/>
              </a:defRPr>
            </a:defPPr>
          </a:lstStyle>
          <a:p xmlns:a="http://schemas.openxmlformats.org/drawingml/2006/main">
            <a:pPr>
              <a:defRPr sz="2100" b="1">
                <a:solidFill>
                  <a:srgbClr val="102B40"/>
                </a:solidFill>
                <a:latin typeface="Helvetica Neue"/>
                <a:ea typeface="Helvetica Neue"/>
                <a:cs typeface="Helvetica Neue"/>
              </a:defRPr>
            </a:pPr>
            <a:r>
              <a:rPr sz="2100" b="1">
                <a:solidFill>
                  <a:srgbClr val="102B40"/>
                </a:solidFill>
                <a:latin typeface="Helvetica Neue"/>
                <a:ea typeface="Helvetica Neue"/>
                <a:cs typeface="Helvetica Neue"/>
              </a:rPr>
              <a:t>2,100 patients selected. Precision: 17.57%. The 30% capture target is met.</a:t>
            </a:r>
          </a:p>
        </p:txBody>
      </p:sp>
    </p:spTree>
    <p:extLst>
      <p:ext uri="{BB962C8B-B14F-4D97-AF65-F5344CB8AC3E}">
        <p14:creationId xmlns:p14="http://schemas.microsoft.com/office/powerpoint/2010/main" val="4274957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ABC53ED-7D33-4C66-977D-E9DF84CF82C7}"/>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B40"/>
                </a:solidFill>
                <a:latin typeface="Helvetica Neue"/>
                <a:ea typeface="Helvetica Neue"/>
                <a:cs typeface="Helvetica Neue"/>
              </a:defRPr>
            </a:defPPr>
          </a:lstStyle>
          <a:p xmlns:a="http://schemas.openxmlformats.org/drawingml/2006/main">
            <a:pPr>
              <a:defRPr sz="3300" b="1">
                <a:solidFill>
                  <a:srgbClr val="102B40"/>
                </a:solidFill>
                <a:latin typeface="Helvetica Neue"/>
                <a:ea typeface="Helvetica Neue"/>
                <a:cs typeface="Helvetica Neue"/>
              </a:defRPr>
            </a:pPr>
            <a:r>
              <a:rPr sz="3300" b="1">
                <a:solidFill>
                  <a:srgbClr val="102B40"/>
                </a:solidFill>
                <a:latin typeface="Helvetica Neue"/>
                <a:ea typeface="Helvetica Neue"/>
                <a:cs typeface="Helvetica Neue"/>
              </a:rPr>
              <a:t>Recommendations and remaining limits</a:t>
            </a:r>
          </a:p>
        </p:txBody>
      </p:sp>
      <p:sp>
        <p:nvSpPr>
          <p:cNvPr id="2" name="">
            <a:extLst xmlns:a="http://schemas.openxmlformats.org/drawingml/2006/main">
              <a:ext uri="{FF2B5EF4-FFF2-40B4-BE49-F238E27FC236}">
                <a16:creationId xmlns:a16="http://schemas.microsoft.com/office/drawing/2014/main" id="{DCAA9F9B-CC15-4685-B101-9A613C6C1FAF}"/>
              </a:ext>
            </a:extLst>
          </p:cNvPr>
          <p:cNvSpPr>
            <a:spLocks xmlns:a="http://schemas.openxmlformats.org/drawingml/2006/main" noGrp="1"/>
          </p:cNvSpPr>
          <p:nvPr/>
        </p:nvSpPr>
        <p:spPr>
          <a:xfrm xmlns:a="http://schemas.openxmlformats.org/drawingml/2006/main">
            <a:off x="10858500" y="6334125"/>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571"/>
                </a:solidFill>
                <a:latin typeface="Helvetica Neue"/>
                <a:ea typeface="Helvetica Neue"/>
                <a:cs typeface="Helvetica Neue"/>
              </a:defRPr>
            </a:defPPr>
          </a:lstStyle>
          <a:p xmlns:a="http://schemas.openxmlformats.org/drawingml/2006/main">
            <a:pPr>
              <a:defRPr sz="1350" b="0">
                <a:solidFill>
                  <a:srgbClr val="526571"/>
                </a:solidFill>
                <a:latin typeface="Helvetica Neue"/>
                <a:ea typeface="Helvetica Neue"/>
                <a:cs typeface="Helvetica Neue"/>
              </a:defRPr>
            </a:pPr>
            <a:r>
              <a:rPr sz="1350" b="0">
                <a:solidFill>
                  <a:srgbClr val="526571"/>
                </a:solidFill>
                <a:latin typeface="Helvetica Neue"/>
                <a:ea typeface="Helvetica Neue"/>
                <a:cs typeface="Helvetica Neue"/>
              </a:rPr>
              <a:t>5 / 5</a:t>
            </a:r>
          </a:p>
        </p:txBody>
      </p:sp>
      <p:sp>
        <p:nvSpPr>
          <p:cNvPr id="3" name="">
            <a:extLst xmlns:a="http://schemas.openxmlformats.org/drawingml/2006/main">
              <a:ext uri="{FF2B5EF4-FFF2-40B4-BE49-F238E27FC236}">
                <a16:creationId xmlns:a16="http://schemas.microsoft.com/office/drawing/2014/main" id="{C597B6A1-AD31-4922-91FC-0A1546E69B80}"/>
              </a:ext>
            </a:extLst>
          </p:cNvPr>
          <p:cNvSpPr>
            <a:spLocks xmlns:a="http://schemas.openxmlformats.org/drawingml/2006/main" noGrp="1"/>
          </p:cNvSpPr>
          <p:nvPr/>
        </p:nvSpPr>
        <p:spPr>
          <a:xfrm xmlns:a="http://schemas.openxmlformats.org/drawingml/2006/main">
            <a:off x="609600" y="15240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C"/>
                </a:solidFill>
                <a:latin typeface="Helvetica Neue"/>
                <a:ea typeface="Helvetica Neue"/>
                <a:cs typeface="Helvetica Neue"/>
              </a:defRPr>
            </a:defPPr>
          </a:lstStyle>
          <a:p xmlns:a="http://schemas.openxmlformats.org/drawingml/2006/main">
            <a:pPr>
              <a:defRPr sz="2400" b="1">
                <a:solidFill>
                  <a:srgbClr val="087F8C"/>
                </a:solidFill>
                <a:latin typeface="Helvetica Neue"/>
                <a:ea typeface="Helvetica Neue"/>
                <a:cs typeface="Helvetica Neue"/>
              </a:defRPr>
            </a:pPr>
            <a:r>
              <a:rPr sz="2400" b="1">
                <a:solidFill>
                  <a:srgbClr val="087F8C"/>
                </a:solidFill>
                <a:latin typeface="Helvetica Neue"/>
                <a:ea typeface="Helvetica Neue"/>
                <a:cs typeface="Helvetica Neue"/>
              </a:rPr>
              <a:t>A ranking can help prioritize limited follow-up capacity</a:t>
            </a:r>
          </a:p>
        </p:txBody>
      </p:sp>
      <p:sp>
        <p:nvSpPr>
          <p:cNvPr id="4" name="">
            <a:extLst xmlns:a="http://schemas.openxmlformats.org/drawingml/2006/main">
              <a:ext uri="{FF2B5EF4-FFF2-40B4-BE49-F238E27FC236}">
                <a16:creationId xmlns:a16="http://schemas.microsoft.com/office/drawing/2014/main" id="{D2E1CDBA-44ED-472F-BCDA-4CABFADF2E98}"/>
              </a:ext>
            </a:extLst>
          </p:cNvPr>
          <p:cNvSpPr>
            <a:spLocks xmlns:a="http://schemas.openxmlformats.org/drawingml/2006/main" noGrp="1"/>
          </p:cNvSpPr>
          <p:nvPr/>
        </p:nvSpPr>
        <p:spPr>
          <a:xfrm xmlns:a="http://schemas.openxmlformats.org/drawingml/2006/main">
            <a:off x="609600" y="24288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B40"/>
                </a:solidFill>
                <a:latin typeface="Helvetica Neue"/>
                <a:ea typeface="Helvetica Neue"/>
                <a:cs typeface="Helvetica Neue"/>
              </a:defRPr>
            </a:defPPr>
          </a:lstStyle>
          <a:p xmlns:a="http://schemas.openxmlformats.org/drawingml/2006/main">
            <a:pPr>
              <a:defRPr sz="2100" b="0">
                <a:solidFill>
                  <a:srgbClr val="102B40"/>
                </a:solidFill>
                <a:latin typeface="Helvetica Neue"/>
                <a:ea typeface="Helvetica Neue"/>
                <a:cs typeface="Helvetica Neue"/>
              </a:defRPr>
            </a:pPr>
            <a:r>
              <a:rPr sz="2100" b="0">
                <a:solidFill>
                  <a:srgbClr val="102B40"/>
                </a:solidFill>
                <a:latin typeface="Helvetica Neue"/>
                <a:ea typeface="Helvetica Neue"/>
                <a:cs typeface="Helvetica Neue"/>
              </a:rPr>
              <a:t>Agree on follow-up capacity and the costs of missed cases. Use the top-20% policy as a capacity scenario.</a:t>
            </a:r>
          </a:p>
        </p:txBody>
      </p:sp>
      <p:sp>
        <p:nvSpPr>
          <p:cNvPr id="5" name="">
            <a:extLst xmlns:a="http://schemas.openxmlformats.org/drawingml/2006/main">
              <a:ext uri="{FF2B5EF4-FFF2-40B4-BE49-F238E27FC236}">
                <a16:creationId xmlns:a16="http://schemas.microsoft.com/office/drawing/2014/main" id="{777EFA6B-5676-4ACE-AD4C-DFBD7B8DB661}"/>
              </a:ext>
            </a:extLst>
          </p:cNvPr>
          <p:cNvSpPr>
            <a:spLocks xmlns:a="http://schemas.openxmlformats.org/drawingml/2006/main" noGrp="1"/>
          </p:cNvSpPr>
          <p:nvPr/>
        </p:nvSpPr>
        <p:spPr>
          <a:xfrm xmlns:a="http://schemas.openxmlformats.org/drawingml/2006/main">
            <a:off x="609600" y="34290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B40"/>
                </a:solidFill>
                <a:latin typeface="Helvetica Neue"/>
                <a:ea typeface="Helvetica Neue"/>
                <a:cs typeface="Helvetica Neue"/>
              </a:defRPr>
            </a:defPPr>
          </a:lstStyle>
          <a:p xmlns:a="http://schemas.openxmlformats.org/drawingml/2006/main">
            <a:pPr>
              <a:defRPr sz="2100" b="0">
                <a:solidFill>
                  <a:srgbClr val="102B40"/>
                </a:solidFill>
                <a:latin typeface="Helvetica Neue"/>
                <a:ea typeface="Helvetica Neue"/>
                <a:cs typeface="Helvetica Neue"/>
              </a:defRPr>
            </a:pPr>
            <a:r>
              <a:rPr sz="2100" b="0">
                <a:solidFill>
                  <a:srgbClr val="102B40"/>
                </a:solidFill>
                <a:latin typeface="Helvetica Neue"/>
                <a:ea typeface="Helvetica Neue"/>
                <a:cs typeface="Helvetica Neue"/>
              </a:rPr>
              <a:t>Complete calibration, subgroup performance, and model explanations. Add uncertainty estimates.</a:t>
            </a:r>
          </a:p>
        </p:txBody>
      </p:sp>
      <p:sp>
        <p:nvSpPr>
          <p:cNvPr id="6" name="">
            <a:extLst xmlns:a="http://schemas.openxmlformats.org/drawingml/2006/main">
              <a:ext uri="{FF2B5EF4-FFF2-40B4-BE49-F238E27FC236}">
                <a16:creationId xmlns:a16="http://schemas.microsoft.com/office/drawing/2014/main" id="{D75A60A5-3C64-4DF6-AFC8-60276DDF4404}"/>
              </a:ext>
            </a:extLst>
          </p:cNvPr>
          <p:cNvSpPr>
            <a:spLocks xmlns:a="http://schemas.openxmlformats.org/drawingml/2006/main" noGrp="1"/>
          </p:cNvSpPr>
          <p:nvPr/>
        </p:nvSpPr>
        <p:spPr>
          <a:xfrm xmlns:a="http://schemas.openxmlformats.org/drawingml/2006/main">
            <a:off x="609600" y="442912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B40"/>
                </a:solidFill>
                <a:latin typeface="Helvetica Neue"/>
                <a:ea typeface="Helvetica Neue"/>
                <a:cs typeface="Helvetica Neue"/>
              </a:defRPr>
            </a:defPPr>
          </a:lstStyle>
          <a:p xmlns:a="http://schemas.openxmlformats.org/drawingml/2006/main">
            <a:pPr>
              <a:defRPr sz="2100" b="0">
                <a:solidFill>
                  <a:srgbClr val="102B40"/>
                </a:solidFill>
                <a:latin typeface="Helvetica Neue"/>
                <a:ea typeface="Helvetica Neue"/>
                <a:cs typeface="Helvetica Neue"/>
              </a:defRPr>
            </a:pPr>
            <a:r>
              <a:rPr sz="2100" b="0">
                <a:solidFill>
                  <a:srgbClr val="102B40"/>
                </a:solidFill>
                <a:latin typeface="Helvetica Neue"/>
                <a:ea typeface="Helvetica Neue"/>
                <a:cs typeface="Helvetica Neue"/>
              </a:rPr>
              <a:t>Validate on recent independent patient data before considering clinical use.</a:t>
            </a:r>
          </a:p>
        </p:txBody>
      </p:sp>
      <p:sp>
        <p:nvSpPr>
          <p:cNvPr id="7" name="">
            <a:extLst xmlns:a="http://schemas.openxmlformats.org/drawingml/2006/main">
              <a:ext uri="{FF2B5EF4-FFF2-40B4-BE49-F238E27FC236}">
                <a16:creationId xmlns:a16="http://schemas.microsoft.com/office/drawing/2014/main" id="{E8A32FA9-FEF1-4C4E-A778-DA71E7C0D2E4}"/>
              </a:ext>
            </a:extLst>
          </p:cNvPr>
          <p:cNvSpPr>
            <a:spLocks xmlns:a="http://schemas.openxmlformats.org/drawingml/2006/main" noGrp="1"/>
          </p:cNvSpPr>
          <p:nvPr/>
        </p:nvSpPr>
        <p:spPr>
          <a:xfrm xmlns:a="http://schemas.openxmlformats.org/drawingml/2006/main">
            <a:off x="609600" y="54292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571"/>
                </a:solidFill>
                <a:latin typeface="Helvetica Neue"/>
                <a:ea typeface="Helvetica Neue"/>
                <a:cs typeface="Helvetica Neue"/>
              </a:defRPr>
            </a:defPPr>
          </a:lstStyle>
          <a:p xmlns:a="http://schemas.openxmlformats.org/drawingml/2006/main">
            <a:pPr>
              <a:defRPr sz="1875" b="0">
                <a:solidFill>
                  <a:srgbClr val="526571"/>
                </a:solidFill>
                <a:latin typeface="Helvetica Neue"/>
                <a:ea typeface="Helvetica Neue"/>
                <a:cs typeface="Helvetica Neue"/>
              </a:defRPr>
            </a:pPr>
            <a:r>
              <a:rPr sz="1875" b="0">
                <a:solidFill>
                  <a:srgbClr val="526571"/>
                </a:solidFill>
                <a:latin typeface="Helvetica Neue"/>
                <a:ea typeface="Helvetica Neue"/>
                <a:cs typeface="Helvetica Neue"/>
              </a:rPr>
              <a:t>573 readmissions fall outside the top 20%. Historical data and incomplete outcome capture limit generalization. Prevention benefits remain untested.</a:t>
            </a:r>
          </a:p>
        </p:txBody>
      </p:sp>
    </p:spTree>
    <p:extLst>
      <p:ext uri="{BB962C8B-B14F-4D97-AF65-F5344CB8AC3E}">
        <p14:creationId xmlns:p14="http://schemas.microsoft.com/office/powerpoint/2010/main" val="15425332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2026-10-10T14:19:25.5320000Z</dcterms:created>
  <dcterms:modified xsi:type="dcterms:W3CDTF">2026-10-10T14:19:25.5320000Z</dcterms:modified>
</coreProperties>
</file>