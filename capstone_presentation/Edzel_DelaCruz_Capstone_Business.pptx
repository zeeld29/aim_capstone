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07fccced604265" /><Relationship Type="http://schemas.openxmlformats.org/officeDocument/2006/relationships/extended-properties" Target="/docProps/app.xml" Id="R3e03ddf3ab0b4879" /><Relationship Type="http://schemas.openxmlformats.org/officeDocument/2006/relationships/officeDocument" Target="/ppt/presentation.xml" Id="R703164bf2fed40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69e28e0d774eae"/>
  </p:sldMasterIdLst>
  <p:notesMasterIdLst>
    <p:notesMasterId xmlns:r="http://schemas.openxmlformats.org/officeDocument/2006/relationships" r:id="Re0d9a97d61d2461f"/>
  </p:notesMasterIdLst>
  <p:sldIdLst>
    <p:sldId xmlns:r="http://schemas.openxmlformats.org/officeDocument/2006/relationships" id="256" r:id="R761f22b985e54852"/>
    <p:sldId xmlns:r="http://schemas.openxmlformats.org/officeDocument/2006/relationships" id="257" r:id="R67239a9843e2476f"/>
    <p:sldId xmlns:r="http://schemas.openxmlformats.org/officeDocument/2006/relationships" id="258" r:id="R40d6d987e9a840fa"/>
    <p:sldId xmlns:r="http://schemas.openxmlformats.org/officeDocument/2006/relationships" id="259" r:id="Re1d3ca4b4cef4d15"/>
    <p:sldId xmlns:r="http://schemas.openxmlformats.org/officeDocument/2006/relationships" id="260" r:id="R696c33b6654f493f"/>
    <p:sldId xmlns:r="http://schemas.openxmlformats.org/officeDocument/2006/relationships" id="261" r:id="R129b5de2a9054c4a"/>
    <p:sldId xmlns:r="http://schemas.openxmlformats.org/officeDocument/2006/relationships" id="262" r:id="Rdf31fe389b3d43e1"/>
    <p:sldId xmlns:r="http://schemas.openxmlformats.org/officeDocument/2006/relationships" id="263" r:id="Re0f4b001d7dc4bbf"/>
    <p:sldId xmlns:r="http://schemas.openxmlformats.org/officeDocument/2006/relationships" id="264" r:id="Rac9f9bef26d34218"/>
    <p:sldId xmlns:r="http://schemas.openxmlformats.org/officeDocument/2006/relationships" id="265" r:id="R3cee912d88864ed7"/>
    <p:sldId xmlns:r="http://schemas.openxmlformats.org/officeDocument/2006/relationships" id="266" r:id="R6111eb7fbf9842a8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0c8d548b34459" /><Relationship Type="http://schemas.openxmlformats.org/officeDocument/2006/relationships/slideMaster" Target="/ppt/slideMasters/slideMaster1.xml" Id="R2769e28e0d774eae" /><Relationship Type="http://schemas.openxmlformats.org/officeDocument/2006/relationships/notesMaster" Target="/ppt/notesMasters/notesMaster1.xml" Id="Re0d9a97d61d2461f" /><Relationship Type="http://schemas.openxmlformats.org/officeDocument/2006/relationships/presProps" Target="/ppt/presProps.xml" Id="Ra67e9bd405604d88" /><Relationship Type="http://schemas.openxmlformats.org/officeDocument/2006/relationships/tableStyles" Target="/ppt/tableStyles.xml" Id="R3ff8df7d54cf406f" /><Relationship Type="http://schemas.openxmlformats.org/officeDocument/2006/relationships/slide" Target="/ppt/slides/slide1.xml" Id="R761f22b985e54852" /><Relationship Type="http://schemas.openxmlformats.org/officeDocument/2006/relationships/slide" Target="/ppt/slides/slide2.xml" Id="R67239a9843e2476f" /><Relationship Type="http://schemas.openxmlformats.org/officeDocument/2006/relationships/slide" Target="/ppt/slides/slide3.xml" Id="R40d6d987e9a840fa" /><Relationship Type="http://schemas.openxmlformats.org/officeDocument/2006/relationships/slide" Target="/ppt/slides/slide4.xml" Id="Re1d3ca4b4cef4d15" /><Relationship Type="http://schemas.openxmlformats.org/officeDocument/2006/relationships/slide" Target="/ppt/slides/slide5.xml" Id="R696c33b6654f493f" /><Relationship Type="http://schemas.openxmlformats.org/officeDocument/2006/relationships/slide" Target="/ppt/slides/slide6.xml" Id="R129b5de2a9054c4a" /><Relationship Type="http://schemas.openxmlformats.org/officeDocument/2006/relationships/slide" Target="/ppt/slides/slide7.xml" Id="Rdf31fe389b3d43e1" /><Relationship Type="http://schemas.openxmlformats.org/officeDocument/2006/relationships/slide" Target="/ppt/slides/slide8.xml" Id="Re0f4b001d7dc4bbf" /><Relationship Type="http://schemas.openxmlformats.org/officeDocument/2006/relationships/slide" Target="/ppt/slides/slide9.xml" Id="Rac9f9bef26d34218" /><Relationship Type="http://schemas.openxmlformats.org/officeDocument/2006/relationships/slide" Target="/ppt/slides/slide10.xml" Id="R3cee912d88864ed7" /><Relationship Type="http://schemas.openxmlformats.org/officeDocument/2006/relationships/slide" Target="/ppt/slides/slide11.xml" Id="R6111eb7fbf9842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5370a85618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2354f4b4804455" /><Relationship Type="http://schemas.openxmlformats.org/officeDocument/2006/relationships/notesMaster" Target="/ppt/notesMasters/notesMaster1.xml" Id="Rf564ad91f45346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a73ddbac1045a6" /><Relationship Type="http://schemas.openxmlformats.org/officeDocument/2006/relationships/notesMaster" Target="/ppt/notesMasters/notesMaster1.xml" Id="R3f74e29fd4b347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520ded04bf4620" /><Relationship Type="http://schemas.openxmlformats.org/officeDocument/2006/relationships/notesMaster" Target="/ppt/notesMasters/notesMaster1.xml" Id="R40030e4be51342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5ceec46b454592" /><Relationship Type="http://schemas.openxmlformats.org/officeDocument/2006/relationships/notesMaster" Target="/ppt/notesMasters/notesMaster1.xml" Id="Rbb69eebeebcc48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f4b144145f42a0" /><Relationship Type="http://schemas.openxmlformats.org/officeDocument/2006/relationships/notesMaster" Target="/ppt/notesMasters/notesMaster1.xml" Id="R7fdaebee7b5c47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af3afcc7f14918" /><Relationship Type="http://schemas.openxmlformats.org/officeDocument/2006/relationships/notesMaster" Target="/ppt/notesMasters/notesMaster1.xml" Id="R8ab8adb0813f42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9c3760dead4df5" /><Relationship Type="http://schemas.openxmlformats.org/officeDocument/2006/relationships/notesMaster" Target="/ppt/notesMasters/notesMaster1.xml" Id="Rda841ab3546c40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bc126fce964c0d" /><Relationship Type="http://schemas.openxmlformats.org/officeDocument/2006/relationships/notesMaster" Target="/ppt/notesMasters/notesMaster1.xml" Id="R5401659b22b446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1f4e56c33047c2" /><Relationship Type="http://schemas.openxmlformats.org/officeDocument/2006/relationships/notesMaster" Target="/ppt/notesMasters/notesMaster1.xml" Id="Rb10c5ac4d4a242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1e71b830d94e60" /><Relationship Type="http://schemas.openxmlformats.org/officeDocument/2006/relationships/notesMaster" Target="/ppt/notesMasters/notesMaster1.xml" Id="R4c02af9c5de343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18e02300f64d34" /><Relationship Type="http://schemas.openxmlformats.org/officeDocument/2006/relationships/notesMaster" Target="/ppt/notesMasters/notesMaster1.xml" Id="R8d899986e8d140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message: retrospective risk-ranking signal, not demonstrated patient benefit or deployment approval.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only provides predictions. Whether contacting these people reduces future admissions must be measured in a separate intervention study. The 20% capacity is an illustrative planning scenario, not a measured staffing limit.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has 101,766 raw encounters reduced through one per patient and exclusions. Diabetes might not be the primary admission reason. 30-day readmissions may not be fully captured outside the reporting network.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rehab discharge group had 986 observations in the training split and its observed rate was 27.08%; home category 31,101 with 6.82%. Avoid interpreting category differences causally.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20% selection is fixed capacity, and captured 369 of 942 events. Confidence interval for capture 35.93%–41.60% from 300 approximate bootstrap samples; conditioned on saved model and historical cohort.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Top-20% precision = 369/2100 = 17.57%; of selected, 1731 had no recorded readmission. Of all readmissions 942, 573 fell outside top 20%. No evidence about avoided readmissions.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Threshold .10: 450/942 captured, 2932 flagged; top 20%: 369/942 captured, 2100 flagged. Both are retrospective operating simulations, not implemented care programs.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Hypothetical financial illustration, not forecasts or measured ROI. Cohort inputs: 2,100 selected patients and 369 reached recorded readmissions (reports/final_audit/policy_comparison.csv). Assumptions introduced for illustration only: USD10 per contact, USD5,000 setup cost, USD3,000 net value per avoided readmission. Cost=2,100×10+5,000=26,000. For prevention fraction f among 369 reached events: avoided=369f; net=369f×3,000−26,000; ROI=net/26,000. At f=2%,5%,10%, net=-3,860,29,350,84,700 and ROI=-14.846%,112.885%,325.769%. Break-even=26,000/(369×3,000)=2.3487%, or 8.6667 expected avoided events; at least 9 whole events. Prevention effectiveness, cost and realized net value are unmeasured. Compare a prospective pilot with current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AfricanAmerican n1945 test, 166 positives, recall 27.71%; Caucasian n7771 718 positives recall 41.92%. Unadjusted bootstrap interval for difference −21.90 to −6.06 pp. Group sizes vary. Gender: female n5528 499 positives, male n4968 443 positives. Fairness not proven and no remediation evaluated.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Remaining limits: historical cohort, encounter-ID chronology proxy, one encounter per patient, random rather than temporal/hospital splits and incomplete outcome capture. Medication exclusions now use training-only frequencies, and an exact manifest verifies patient separation. No subgroup threshold was selected from test outcomes. Mitigations remain proposed.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sentence to close: At fixed 20% capacity, observed readmission capture is 39.17%, ~1.96× random. That supports further evaluation, not current clinical deployment. No validated costs or preventions.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55ca457564a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d7873b98c4f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8ef5e61e441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7f7088e2842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36223313542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98bd2be4c4b1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f5f61f7db44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6f5d4b05e4c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2c8738133b45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dc638322848e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edc902d544e59" /></Relationships>
</file>

<file path=ppt/slideLayouts/slideLayout1.xml><?xml version="1.0" encoding="utf-8"?>
<p:sldLayout xmlns:p="http://schemas.openxmlformats.org/presentationml/2006/main" matchingName="Blank" type="blank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12">
            <a:extLst xmlns:a="http://schemas.openxmlformats.org/drawingml/2006/main">
              <a:ext uri="{FF2B5EF4-FFF2-40B4-BE49-F238E27FC236}">
                <a16:creationId xmlns:a16="http://schemas.microsoft.com/office/drawing/2014/main" id="{3C545C04-7758-404A-A573-2EEA3F32F1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2" name="Google Shape;12;p12">
            <a:extLst xmlns:a="http://schemas.openxmlformats.org/drawingml/2006/main">
              <a:ext uri="{FF2B5EF4-FFF2-40B4-BE49-F238E27FC236}">
                <a16:creationId xmlns:a16="http://schemas.microsoft.com/office/drawing/2014/main" id="{624F3672-1265-4F46-9027-A3A7B2910B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3" name="Google Shape;13;p12">
            <a:extLst xmlns:a="http://schemas.openxmlformats.org/drawingml/2006/main">
              <a:ext uri="{FF2B5EF4-FFF2-40B4-BE49-F238E27FC236}">
                <a16:creationId xmlns:a16="http://schemas.microsoft.com/office/drawing/2014/main" id="{73F0EB64-B7B1-48B6-BCC4-15451CCB91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Google Shape;14;p12">
            <a:extLst xmlns:a="http://schemas.openxmlformats.org/drawingml/2006/main">
              <a:ext uri="{FF2B5EF4-FFF2-40B4-BE49-F238E27FC236}">
                <a16:creationId xmlns:a16="http://schemas.microsoft.com/office/drawing/2014/main" id="{B30B6116-643D-4673-A24D-42ED7EF7C6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08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5" name="Google Shape;15;p12">
            <a:extLst xmlns:a="http://schemas.openxmlformats.org/drawingml/2006/main">
              <a:ext uri="{FF2B5EF4-FFF2-40B4-BE49-F238E27FC236}">
                <a16:creationId xmlns:a16="http://schemas.microsoft.com/office/drawing/2014/main" id="{5DB5D2D0-5A4C-4A30-BFBA-521B62D9B3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08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3">
            <a:extLst xmlns:a="http://schemas.openxmlformats.org/drawingml/2006/main">
              <a:ext uri="{FF2B5EF4-FFF2-40B4-BE49-F238E27FC236}">
                <a16:creationId xmlns:a16="http://schemas.microsoft.com/office/drawing/2014/main" id="{D0F51287-B0CC-4AFC-B2C2-315363079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8" name="Google Shape;18;p13">
            <a:extLst xmlns:a="http://schemas.openxmlformats.org/drawingml/2006/main">
              <a:ext uri="{FF2B5EF4-FFF2-40B4-BE49-F238E27FC236}">
                <a16:creationId xmlns:a16="http://schemas.microsoft.com/office/drawing/2014/main" id="{8EC07A98-630C-4BAE-89F1-508C9D85BA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9" name="Google Shape;19;p13">
            <a:extLst xmlns:a="http://schemas.openxmlformats.org/drawingml/2006/main">
              <a:ext uri="{FF2B5EF4-FFF2-40B4-BE49-F238E27FC236}">
                <a16:creationId xmlns:a16="http://schemas.microsoft.com/office/drawing/2014/main" id="{E9C96E67-BDE2-4441-B472-4E7AF37845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0" name="Google Shape;20;p13">
            <a:extLst xmlns:a="http://schemas.openxmlformats.org/drawingml/2006/main">
              <a:ext uri="{FF2B5EF4-FFF2-40B4-BE49-F238E27FC236}">
                <a16:creationId xmlns:a16="http://schemas.microsoft.com/office/drawing/2014/main" id="{96F2981F-DEB0-477C-996B-DBD4EDF5EC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Vertical Text" type="vertTx">
  <p:cSld name="VERTICAL_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14">
            <a:extLst xmlns:a="http://schemas.openxmlformats.org/drawingml/2006/main">
              <a:ext uri="{FF2B5EF4-FFF2-40B4-BE49-F238E27FC236}">
                <a16:creationId xmlns:a16="http://schemas.microsoft.com/office/drawing/2014/main" id="{68989F76-B0AA-4613-8C2F-F4424BF77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3" name="Google Shape;23;p14">
            <a:extLst xmlns:a="http://schemas.openxmlformats.org/drawingml/2006/main">
              <a:ext uri="{FF2B5EF4-FFF2-40B4-BE49-F238E27FC236}">
                <a16:creationId xmlns:a16="http://schemas.microsoft.com/office/drawing/2014/main" id="{EA70C5BE-27D1-4DF8-9331-B894A9013F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40" y="-251640"/>
            <a:ext cx="4525560" cy="822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4" name="Google Shape;24;p14">
            <a:extLst xmlns:a="http://schemas.openxmlformats.org/drawingml/2006/main">
              <a:ext uri="{FF2B5EF4-FFF2-40B4-BE49-F238E27FC236}">
                <a16:creationId xmlns:a16="http://schemas.microsoft.com/office/drawing/2014/main" id="{6D7DEFD2-3098-4666-95D3-602A38AD0A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5" name="Google Shape;25;p14">
            <a:extLst xmlns:a="http://schemas.openxmlformats.org/drawingml/2006/main">
              <a:ext uri="{FF2B5EF4-FFF2-40B4-BE49-F238E27FC236}">
                <a16:creationId xmlns:a16="http://schemas.microsoft.com/office/drawing/2014/main" id="{5BC5DAA7-5207-4AC2-A8F6-6DF60EDAE9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6" name="Google Shape;26;p14">
            <a:extLst xmlns:a="http://schemas.openxmlformats.org/drawingml/2006/main">
              <a:ext uri="{FF2B5EF4-FFF2-40B4-BE49-F238E27FC236}">
                <a16:creationId xmlns:a16="http://schemas.microsoft.com/office/drawing/2014/main" id="{E4BAFBE3-726D-42EB-8DAA-BAF2A308B5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Vertical Title and Text" type="vertTitleAndTx">
  <p:cSld name="VERTICAL_TITLE_AND_VERTICAL_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15">
            <a:extLst xmlns:a="http://schemas.openxmlformats.org/drawingml/2006/main">
              <a:ext uri="{FF2B5EF4-FFF2-40B4-BE49-F238E27FC236}">
                <a16:creationId xmlns:a16="http://schemas.microsoft.com/office/drawing/2014/main" id="{C255EC79-A087-4713-8E90-E5DFA262F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80" y="2171700"/>
            <a:ext cx="5851080" cy="205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9" name="Google Shape;29;p15">
            <a:extLst xmlns:a="http://schemas.openxmlformats.org/drawingml/2006/main">
              <a:ext uri="{FF2B5EF4-FFF2-40B4-BE49-F238E27FC236}">
                <a16:creationId xmlns:a16="http://schemas.microsoft.com/office/drawing/2014/main" id="{C9D2673A-258C-4930-BD19-ACDD8C0CF5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440" y="190440"/>
            <a:ext cx="5851080" cy="601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0" name="Google Shape;30;p15">
            <a:extLst xmlns:a="http://schemas.openxmlformats.org/drawingml/2006/main">
              <a:ext uri="{FF2B5EF4-FFF2-40B4-BE49-F238E27FC236}">
                <a16:creationId xmlns:a16="http://schemas.microsoft.com/office/drawing/2014/main" id="{A31B81FD-351D-4447-AA2E-F10AF05956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1" name="Google Shape;31;p15">
            <a:extLst xmlns:a="http://schemas.openxmlformats.org/drawingml/2006/main">
              <a:ext uri="{FF2B5EF4-FFF2-40B4-BE49-F238E27FC236}">
                <a16:creationId xmlns:a16="http://schemas.microsoft.com/office/drawing/2014/main" id="{0AF153C9-4EBE-4272-ADB5-3D0A46369E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2" name="Google Shape;32;p15">
            <a:extLst xmlns:a="http://schemas.openxmlformats.org/drawingml/2006/main">
              <a:ext uri="{FF2B5EF4-FFF2-40B4-BE49-F238E27FC236}">
                <a16:creationId xmlns:a16="http://schemas.microsoft.com/office/drawing/2014/main" id="{1645E6F3-1ABC-436E-AAA8-6D8E3B658F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Content" type="obj">
  <p:cSld name="OBJEC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16">
            <a:extLst xmlns:a="http://schemas.openxmlformats.org/drawingml/2006/main">
              <a:ext uri="{FF2B5EF4-FFF2-40B4-BE49-F238E27FC236}">
                <a16:creationId xmlns:a16="http://schemas.microsoft.com/office/drawing/2014/main" id="{5D32AA6B-0FEB-4736-8F26-071D3E016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5" name="Google Shape;35;p16">
            <a:extLst xmlns:a="http://schemas.openxmlformats.org/drawingml/2006/main">
              <a:ext uri="{FF2B5EF4-FFF2-40B4-BE49-F238E27FC236}">
                <a16:creationId xmlns:a16="http://schemas.microsoft.com/office/drawing/2014/main" id="{B53E72B8-48A6-40BB-AA1F-17D7BED736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6" name="Google Shape;36;p16">
            <a:extLst xmlns:a="http://schemas.openxmlformats.org/drawingml/2006/main">
              <a:ext uri="{FF2B5EF4-FFF2-40B4-BE49-F238E27FC236}">
                <a16:creationId xmlns:a16="http://schemas.microsoft.com/office/drawing/2014/main" id="{C5304D1C-2E09-405D-A3DA-6C48B51570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7" name="Google Shape;37;p16">
            <a:extLst xmlns:a="http://schemas.openxmlformats.org/drawingml/2006/main">
              <a:ext uri="{FF2B5EF4-FFF2-40B4-BE49-F238E27FC236}">
                <a16:creationId xmlns:a16="http://schemas.microsoft.com/office/drawing/2014/main" id="{49079675-DAA2-4E68-BCE8-A3A9B7EA4B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8" name="Google Shape;38;p16">
            <a:extLst xmlns:a="http://schemas.openxmlformats.org/drawingml/2006/main">
              <a:ext uri="{FF2B5EF4-FFF2-40B4-BE49-F238E27FC236}">
                <a16:creationId xmlns:a16="http://schemas.microsoft.com/office/drawing/2014/main" id="{31FF031F-26C8-4BB2-A6AE-1A3F69C017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Section Header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17">
            <a:extLst xmlns:a="http://schemas.openxmlformats.org/drawingml/2006/main">
              <a:ext uri="{FF2B5EF4-FFF2-40B4-BE49-F238E27FC236}">
                <a16:creationId xmlns:a16="http://schemas.microsoft.com/office/drawing/2014/main" id="{6FFAF867-7B12-4B09-915F-DD9955D5A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2040" cy="13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41" name="Google Shape;41;p17">
            <a:extLst xmlns:a="http://schemas.openxmlformats.org/drawingml/2006/main">
              <a:ext uri="{FF2B5EF4-FFF2-40B4-BE49-F238E27FC236}">
                <a16:creationId xmlns:a16="http://schemas.microsoft.com/office/drawing/2014/main" id="{87112C83-703D-4774-826E-0B207B80DC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160" y="2906640"/>
            <a:ext cx="7772040" cy="14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42" name="Google Shape;42;p17">
            <a:extLst xmlns:a="http://schemas.openxmlformats.org/drawingml/2006/main">
              <a:ext uri="{FF2B5EF4-FFF2-40B4-BE49-F238E27FC236}">
                <a16:creationId xmlns:a16="http://schemas.microsoft.com/office/drawing/2014/main" id="{EB005A0D-D6B8-47DB-A83D-F1985E6017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43" name="Google Shape;43;p17">
            <a:extLst xmlns:a="http://schemas.openxmlformats.org/drawingml/2006/main">
              <a:ext uri="{FF2B5EF4-FFF2-40B4-BE49-F238E27FC236}">
                <a16:creationId xmlns:a16="http://schemas.microsoft.com/office/drawing/2014/main" id="{3B5FE790-3368-472A-89D0-4AB94097DF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44" name="Google Shape;44;p17">
            <a:extLst xmlns:a="http://schemas.openxmlformats.org/drawingml/2006/main">
              <a:ext uri="{FF2B5EF4-FFF2-40B4-BE49-F238E27FC236}">
                <a16:creationId xmlns:a16="http://schemas.microsoft.com/office/drawing/2014/main" id="{911B6AAD-CE40-4996-9D73-CF581F1576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wo Content" type="twoObj">
  <p:cSld name="TWO_OBJECTS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18">
            <a:extLst xmlns:a="http://schemas.openxmlformats.org/drawingml/2006/main">
              <a:ext uri="{FF2B5EF4-FFF2-40B4-BE49-F238E27FC236}">
                <a16:creationId xmlns:a16="http://schemas.microsoft.com/office/drawing/2014/main" id="{5980EEE8-705B-4326-8441-0C37BFCCEC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47" name="Google Shape;47;p18">
            <a:extLst xmlns:a="http://schemas.openxmlformats.org/drawingml/2006/main">
              <a:ext uri="{FF2B5EF4-FFF2-40B4-BE49-F238E27FC236}">
                <a16:creationId xmlns:a16="http://schemas.microsoft.com/office/drawing/2014/main" id="{97201933-B1F8-451B-BDB0-BB8C71EA0D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48" name="Google Shape;48;p18">
            <a:extLst xmlns:a="http://schemas.openxmlformats.org/drawingml/2006/main">
              <a:ext uri="{FF2B5EF4-FFF2-40B4-BE49-F238E27FC236}">
                <a16:creationId xmlns:a16="http://schemas.microsoft.com/office/drawing/2014/main" id="{B355F695-6FC0-44EA-91B4-3FB9BA53DE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32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49" name="Google Shape;49;p18">
            <a:extLst xmlns:a="http://schemas.openxmlformats.org/drawingml/2006/main">
              <a:ext uri="{FF2B5EF4-FFF2-40B4-BE49-F238E27FC236}">
                <a16:creationId xmlns:a16="http://schemas.microsoft.com/office/drawing/2014/main" id="{E4ED30B1-6F17-4545-AB75-687590B073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50" name="Google Shape;50;p18">
            <a:extLst xmlns:a="http://schemas.openxmlformats.org/drawingml/2006/main">
              <a:ext uri="{FF2B5EF4-FFF2-40B4-BE49-F238E27FC236}">
                <a16:creationId xmlns:a16="http://schemas.microsoft.com/office/drawing/2014/main" id="{7885F7EE-55FC-4002-BA03-A6F9B662C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51" name="Google Shape;51;p18">
            <a:extLst xmlns:a="http://schemas.openxmlformats.org/drawingml/2006/main">
              <a:ext uri="{FF2B5EF4-FFF2-40B4-BE49-F238E27FC236}">
                <a16:creationId xmlns:a16="http://schemas.microsoft.com/office/drawing/2014/main" id="{501F1312-4395-4B22-8E07-818C4351FA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mparison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9">
            <a:extLst xmlns:a="http://schemas.openxmlformats.org/drawingml/2006/main">
              <a:ext uri="{FF2B5EF4-FFF2-40B4-BE49-F238E27FC236}">
                <a16:creationId xmlns:a16="http://schemas.microsoft.com/office/drawing/2014/main" id="{045C41BE-E77C-4FCB-8B55-FA710D3DEE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54" name="Google Shape;54;p19">
            <a:extLst xmlns:a="http://schemas.openxmlformats.org/drawingml/2006/main">
              <a:ext uri="{FF2B5EF4-FFF2-40B4-BE49-F238E27FC236}">
                <a16:creationId xmlns:a16="http://schemas.microsoft.com/office/drawing/2014/main" id="{03ED2754-AF33-4A5F-8683-AFF3A9827E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040"/>
            <a:ext cx="403992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55" name="Google Shape;55;p19">
            <a:extLst xmlns:a="http://schemas.openxmlformats.org/drawingml/2006/main">
              <a:ext uri="{FF2B5EF4-FFF2-40B4-BE49-F238E27FC236}">
                <a16:creationId xmlns:a16="http://schemas.microsoft.com/office/drawing/2014/main" id="{5732521F-065F-4501-AFC6-60935F979B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760"/>
            <a:ext cx="403992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56" name="Google Shape;56;p19">
            <a:extLst xmlns:a="http://schemas.openxmlformats.org/drawingml/2006/main">
              <a:ext uri="{FF2B5EF4-FFF2-40B4-BE49-F238E27FC236}">
                <a16:creationId xmlns:a16="http://schemas.microsoft.com/office/drawing/2014/main" id="{ADE2054F-B969-401B-BEDC-867B3C9DED6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80" y="1535040"/>
            <a:ext cx="404136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57" name="Google Shape;57;p19">
            <a:extLst xmlns:a="http://schemas.openxmlformats.org/drawingml/2006/main">
              <a:ext uri="{FF2B5EF4-FFF2-40B4-BE49-F238E27FC236}">
                <a16:creationId xmlns:a16="http://schemas.microsoft.com/office/drawing/2014/main" id="{D429C923-0C0A-4195-8255-EFD7E821766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80" y="2174760"/>
            <a:ext cx="404136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58" name="Google Shape;58;p19">
            <a:extLst xmlns:a="http://schemas.openxmlformats.org/drawingml/2006/main">
              <a:ext uri="{FF2B5EF4-FFF2-40B4-BE49-F238E27FC236}">
                <a16:creationId xmlns:a16="http://schemas.microsoft.com/office/drawing/2014/main" id="{9EA567CF-28DA-44FA-98BA-6835695334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59" name="Google Shape;59;p19">
            <a:extLst xmlns:a="http://schemas.openxmlformats.org/drawingml/2006/main">
              <a:ext uri="{FF2B5EF4-FFF2-40B4-BE49-F238E27FC236}">
                <a16:creationId xmlns:a16="http://schemas.microsoft.com/office/drawing/2014/main" id="{CE46D8B0-59B3-41DD-84BF-2578C7286D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60" name="Google Shape;60;p19">
            <a:extLst xmlns:a="http://schemas.openxmlformats.org/drawingml/2006/main">
              <a:ext uri="{FF2B5EF4-FFF2-40B4-BE49-F238E27FC236}">
                <a16:creationId xmlns:a16="http://schemas.microsoft.com/office/drawing/2014/main" id="{97B5FEB7-8929-404D-925E-75D274E46C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Title Only" type="titleOnly">
  <p:cSld name="TITLE_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0">
            <a:extLst xmlns:a="http://schemas.openxmlformats.org/drawingml/2006/main">
              <a:ext uri="{FF2B5EF4-FFF2-40B4-BE49-F238E27FC236}">
                <a16:creationId xmlns:a16="http://schemas.microsoft.com/office/drawing/2014/main" id="{5802C6FD-6641-4C8C-BD93-2CE47012C9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63" name="Google Shape;63;p20">
            <a:extLst xmlns:a="http://schemas.openxmlformats.org/drawingml/2006/main">
              <a:ext uri="{FF2B5EF4-FFF2-40B4-BE49-F238E27FC236}">
                <a16:creationId xmlns:a16="http://schemas.microsoft.com/office/drawing/2014/main" id="{BB103970-3C27-444B-BE8B-E4AEE4B5C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64" name="Google Shape;64;p20">
            <a:extLst xmlns:a="http://schemas.openxmlformats.org/drawingml/2006/main">
              <a:ext uri="{FF2B5EF4-FFF2-40B4-BE49-F238E27FC236}">
                <a16:creationId xmlns:a16="http://schemas.microsoft.com/office/drawing/2014/main" id="{179A8773-1375-4F57-9C3A-ADD42DD169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65" name="Google Shape;65;p20">
            <a:extLst xmlns:a="http://schemas.openxmlformats.org/drawingml/2006/main">
              <a:ext uri="{FF2B5EF4-FFF2-40B4-BE49-F238E27FC236}">
                <a16:creationId xmlns:a16="http://schemas.microsoft.com/office/drawing/2014/main" id="{5F0F297F-CE5C-4FB2-B79C-AA4D58D09A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Content with Caption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21">
            <a:extLst xmlns:a="http://schemas.openxmlformats.org/drawingml/2006/main">
              <a:ext uri="{FF2B5EF4-FFF2-40B4-BE49-F238E27FC236}">
                <a16:creationId xmlns:a16="http://schemas.microsoft.com/office/drawing/2014/main" id="{32BD8D0A-181D-4A47-BF81-A78199723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800" cy="116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68" name="Google Shape;68;p21">
            <a:extLst xmlns:a="http://schemas.openxmlformats.org/drawingml/2006/main">
              <a:ext uri="{FF2B5EF4-FFF2-40B4-BE49-F238E27FC236}">
                <a16:creationId xmlns:a16="http://schemas.microsoft.com/office/drawing/2014/main" id="{5A278509-ABEE-4047-9C72-CD6F390AD8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160" y="272880"/>
            <a:ext cx="5111280" cy="58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69" name="Google Shape;69;p21">
            <a:extLst xmlns:a="http://schemas.openxmlformats.org/drawingml/2006/main">
              <a:ext uri="{FF2B5EF4-FFF2-40B4-BE49-F238E27FC236}">
                <a16:creationId xmlns:a16="http://schemas.microsoft.com/office/drawing/2014/main" id="{68E9DD6B-07DA-47DD-91A3-DC1EBCA9BD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4960"/>
            <a:ext cx="3007800" cy="46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70" name="Google Shape;70;p21">
            <a:extLst xmlns:a="http://schemas.openxmlformats.org/drawingml/2006/main">
              <a:ext uri="{FF2B5EF4-FFF2-40B4-BE49-F238E27FC236}">
                <a16:creationId xmlns:a16="http://schemas.microsoft.com/office/drawing/2014/main" id="{2490CC57-6075-411A-865E-4EC33D2E47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71" name="Google Shape;71;p21">
            <a:extLst xmlns:a="http://schemas.openxmlformats.org/drawingml/2006/main">
              <a:ext uri="{FF2B5EF4-FFF2-40B4-BE49-F238E27FC236}">
                <a16:creationId xmlns:a16="http://schemas.microsoft.com/office/drawing/2014/main" id="{EB5668EC-6287-4B3B-88AF-F8FBA369D6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72" name="Google Shape;72;p21">
            <a:extLst xmlns:a="http://schemas.openxmlformats.org/drawingml/2006/main">
              <a:ext uri="{FF2B5EF4-FFF2-40B4-BE49-F238E27FC236}">
                <a16:creationId xmlns:a16="http://schemas.microsoft.com/office/drawing/2014/main" id="{C6CEFC0A-BE30-4C7E-9E6A-E326C7F5FF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Picture with Caption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22">
            <a:extLst xmlns:a="http://schemas.openxmlformats.org/drawingml/2006/main">
              <a:ext uri="{FF2B5EF4-FFF2-40B4-BE49-F238E27FC236}">
                <a16:creationId xmlns:a16="http://schemas.microsoft.com/office/drawing/2014/main" id="{13B59182-1AC6-4398-9ECE-0D8507D611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6040" cy="56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75" name="Google Shape;75;p22">
            <a:extLst xmlns:a="http://schemas.openxmlformats.org/drawingml/2006/main">
              <a:ext uri="{FF2B5EF4-FFF2-40B4-BE49-F238E27FC236}">
                <a16:creationId xmlns:a16="http://schemas.microsoft.com/office/drawing/2014/main" id="{8F07B236-D3F0-44CD-A4EC-8CA0340F4A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440" y="612720"/>
            <a:ext cx="5486040" cy="411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76" name="Google Shape;76;p22">
            <a:extLst xmlns:a="http://schemas.openxmlformats.org/drawingml/2006/main">
              <a:ext uri="{FF2B5EF4-FFF2-40B4-BE49-F238E27FC236}">
                <a16:creationId xmlns:a16="http://schemas.microsoft.com/office/drawing/2014/main" id="{8E2B8208-DE77-41FD-869F-ECFDC800F5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440" y="5367240"/>
            <a:ext cx="548604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77" name="Google Shape;77;p22">
            <a:extLst xmlns:a="http://schemas.openxmlformats.org/drawingml/2006/main">
              <a:ext uri="{FF2B5EF4-FFF2-40B4-BE49-F238E27FC236}">
                <a16:creationId xmlns:a16="http://schemas.microsoft.com/office/drawing/2014/main" id="{ABE444C8-57E4-4811-94D2-90BF41DB34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78" name="Google Shape;78;p22">
            <a:extLst xmlns:a="http://schemas.openxmlformats.org/drawingml/2006/main">
              <a:ext uri="{FF2B5EF4-FFF2-40B4-BE49-F238E27FC236}">
                <a16:creationId xmlns:a16="http://schemas.microsoft.com/office/drawing/2014/main" id="{CAD31982-6701-4502-AACB-98FFDE7088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79" name="Google Shape;79;p22">
            <a:extLst xmlns:a="http://schemas.openxmlformats.org/drawingml/2006/main">
              <a:ext uri="{FF2B5EF4-FFF2-40B4-BE49-F238E27FC236}">
                <a16:creationId xmlns:a16="http://schemas.microsoft.com/office/drawing/2014/main" id="{0B93F27D-73ED-46F2-80D7-4147ECB24B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45adfe234a4293" /><Relationship Type="http://schemas.openxmlformats.org/officeDocument/2006/relationships/slideLayout" Target="/ppt/slideLayouts/slideLayout1.xml" Id="R658ed6def7e442eb" /><Relationship Type="http://schemas.openxmlformats.org/officeDocument/2006/relationships/slideLayout" Target="/ppt/slideLayouts/slideLayout2.xml" Id="R29fe35ed58a44118" /><Relationship Type="http://schemas.openxmlformats.org/officeDocument/2006/relationships/slideLayout" Target="/ppt/slideLayouts/slideLayout3.xml" Id="R38e2e5b862b2410b" /><Relationship Type="http://schemas.openxmlformats.org/officeDocument/2006/relationships/slideLayout" Target="/ppt/slideLayouts/slideLayout4.xml" Id="Re266df4b0bfa4b23" /><Relationship Type="http://schemas.openxmlformats.org/officeDocument/2006/relationships/slideLayout" Target="/ppt/slideLayouts/slideLayout5.xml" Id="R5c38cd2c8eb147bc" /><Relationship Type="http://schemas.openxmlformats.org/officeDocument/2006/relationships/slideLayout" Target="/ppt/slideLayouts/slideLayout6.xml" Id="R8fb3ff0cfefa4307" /><Relationship Type="http://schemas.openxmlformats.org/officeDocument/2006/relationships/slideLayout" Target="/ppt/slideLayouts/slideLayout7.xml" Id="R7b7e4b1997a643bd" /><Relationship Type="http://schemas.openxmlformats.org/officeDocument/2006/relationships/slideLayout" Target="/ppt/slideLayouts/slideLayout8.xml" Id="R3259d4fe2d1d4702" /><Relationship Type="http://schemas.openxmlformats.org/officeDocument/2006/relationships/slideLayout" Target="/ppt/slideLayouts/slideLayout9.xml" Id="R4114ac1c62fc4583" /><Relationship Type="http://schemas.openxmlformats.org/officeDocument/2006/relationships/slideLayout" Target="/ppt/slideLayouts/slideLayout10.xml" Id="R0d9ebcf148194542" /><Relationship Type="http://schemas.openxmlformats.org/officeDocument/2006/relationships/slideLayout" Target="/ppt/slideLayouts/slideLayout11.xml" Id="Rda94aae1d6bd4df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8ed6def7e442eb"/>
    <p:sldLayoutId xmlns:r="http://schemas.openxmlformats.org/officeDocument/2006/relationships" id="2147483650" r:id="R29fe35ed58a44118"/>
    <p:sldLayoutId xmlns:r="http://schemas.openxmlformats.org/officeDocument/2006/relationships" id="2147483651" r:id="R38e2e5b862b2410b"/>
    <p:sldLayoutId xmlns:r="http://schemas.openxmlformats.org/officeDocument/2006/relationships" id="2147483652" r:id="Re266df4b0bfa4b23"/>
    <p:sldLayoutId xmlns:r="http://schemas.openxmlformats.org/officeDocument/2006/relationships" id="2147483653" r:id="R5c38cd2c8eb147bc"/>
    <p:sldLayoutId xmlns:r="http://schemas.openxmlformats.org/officeDocument/2006/relationships" id="2147483654" r:id="R8fb3ff0cfefa4307"/>
    <p:sldLayoutId xmlns:r="http://schemas.openxmlformats.org/officeDocument/2006/relationships" id="2147483655" r:id="R7b7e4b1997a643bd"/>
    <p:sldLayoutId xmlns:r="http://schemas.openxmlformats.org/officeDocument/2006/relationships" id="2147483656" r:id="R3259d4fe2d1d4702"/>
    <p:sldLayoutId xmlns:r="http://schemas.openxmlformats.org/officeDocument/2006/relationships" id="2147483657" r:id="R4114ac1c62fc4583"/>
    <p:sldLayoutId xmlns:r="http://schemas.openxmlformats.org/officeDocument/2006/relationships" id="2147483658" r:id="R0d9ebcf148194542"/>
    <p:sldLayoutId xmlns:r="http://schemas.openxmlformats.org/officeDocument/2006/relationships" id="2147483659" r:id="Rda94aae1d6bd4df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14c3d18964340" /><Relationship Type="http://schemas.openxmlformats.org/officeDocument/2006/relationships/notesSlide" Target="/ppt/notesSlides/notesSlide1.xml" Id="R3e4ae472f0d148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dcdf48f7d48b3" /><Relationship Type="http://schemas.openxmlformats.org/officeDocument/2006/relationships/notesSlide" Target="/ppt/notesSlides/notesSlide2.xml" Id="R369b205a48d644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115006684495b" /><Relationship Type="http://schemas.openxmlformats.org/officeDocument/2006/relationships/notesSlide" Target="/ppt/notesSlides/notesSlide3.xml" Id="R471aa61daf8a41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a8486cfd34a52" /><Relationship Type="http://schemas.openxmlformats.org/officeDocument/2006/relationships/notesSlide" Target="/ppt/notesSlides/notesSlide4.xml" Id="R6c4edd86186041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c7f9dd40e4fc5" /><Relationship Type="http://schemas.openxmlformats.org/officeDocument/2006/relationships/notesSlide" Target="/ppt/notesSlides/notesSlide5.xml" Id="R98557a988c6346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2c58f96a441ca" /><Relationship Type="http://schemas.openxmlformats.org/officeDocument/2006/relationships/notesSlide" Target="/ppt/notesSlides/notesSlide6.xml" Id="R699dd2f9e22141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93a18b0b0420b" /><Relationship Type="http://schemas.openxmlformats.org/officeDocument/2006/relationships/notesSlide" Target="/ppt/notesSlides/notesSlide7.xml" Id="R3075b88956764b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9260ae7ff4175" /><Relationship Type="http://schemas.openxmlformats.org/officeDocument/2006/relationships/notesSlide" Target="/ppt/notesSlides/notesSlide8.xml" Id="Rba3d18bde9c447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e47c2612443da" /><Relationship Type="http://schemas.openxmlformats.org/officeDocument/2006/relationships/notesSlide" Target="/ppt/notesSlides/notesSlide9.xml" Id="Rde22f23f671d42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5e0bf50a64f22" /><Relationship Type="http://schemas.openxmlformats.org/officeDocument/2006/relationships/notesSlide" Target="/ppt/notesSlides/notesSlide10.xml" Id="R57b1b5bcb76944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9c3799e3e426a" /><Relationship Type="http://schemas.openxmlformats.org/officeDocument/2006/relationships/notesSlide" Target="/ppt/notesSlides/notesSlide11.xml" Id="R0908dc923f0d4f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">
            <a:extLst xmlns:a="http://schemas.openxmlformats.org/drawingml/2006/main">
              <a:ext uri="{FF2B5EF4-FFF2-40B4-BE49-F238E27FC236}">
                <a16:creationId xmlns:a16="http://schemas.microsoft.com/office/drawing/2014/main" id="{886EBDB0-15A7-49B6-8543-66A6BE36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38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1">
            <a:extLst xmlns:a="http://schemas.openxmlformats.org/drawingml/2006/main">
              <a:ext uri="{FF2B5EF4-FFF2-40B4-BE49-F238E27FC236}">
                <a16:creationId xmlns:a16="http://schemas.microsoft.com/office/drawing/2014/main" id="{4C8F8613-2D6B-4362-B7C0-A0DB06CE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38840"/>
            <a:ext cx="635472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7" name="Google Shape;87;p1">
            <a:extLst xmlns:a="http://schemas.openxmlformats.org/drawingml/2006/main">
              <a:ext uri="{FF2B5EF4-FFF2-40B4-BE49-F238E27FC236}">
                <a16:creationId xmlns:a16="http://schemas.microsoft.com/office/drawing/2014/main" id="{11D79510-E1AE-4282-A702-F52AECAAECFD}"/>
              </a:ext>
            </a:extLst>
          </p:cNvPr>
          <p:cNvCxnSpPr/>
          <p:nvPr/>
        </p:nvCxnSpPr>
        <p:spPr>
          <a:xfrm xmlns:a="http://schemas.openxmlformats.org/drawingml/2006/main">
            <a:off x="658080" y="859320"/>
            <a:ext cx="10900080" cy="36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4D6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1">
            <a:extLst xmlns:a="http://schemas.openxmlformats.org/drawingml/2006/main">
              <a:ext uri="{FF2B5EF4-FFF2-40B4-BE49-F238E27FC236}">
                <a16:creationId xmlns:a16="http://schemas.microsoft.com/office/drawing/2014/main" id="{89B2071E-8C45-46D1-9DCB-01E218D2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0" y="1572840"/>
            <a:ext cx="95760" cy="187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AEAC9F59-8398-49B6-8E2F-B1F2067C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20" y="1408320"/>
            <a:ext cx="10003320" cy="148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Prioritizing hospital follow-up</a:t>
            </a:r>
            <a:endParaRPr sz="3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when resources are limited</a:t>
            </a:r>
            <a:endParaRPr sz="3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CA821E44-FC66-4543-A61E-763C6F74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37120"/>
            <a:ext cx="98661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C4D6D5"/>
                </a:solidFill>
                <a:latin typeface="Arial"/>
                <a:ea typeface="Arial"/>
                <a:cs typeface="Arial"/>
              </a:rPr>
              <a:t>A retrospective evidence briefing on diabetes readmissions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B05C6A94-ABBA-48CD-9590-419FCDE8829A}"/>
              </a:ext>
            </a:extLst>
          </p:cNvPr>
          <p:cNvCxnSpPr/>
          <p:nvPr/>
        </p:nvCxnSpPr>
        <p:spPr>
          <a:xfrm xmlns:a="http://schemas.openxmlformats.org/drawingml/2006/main">
            <a:off x="1078920" y="4059720"/>
            <a:ext cx="10077120" cy="360"/>
          </a:xfrm>
          <a:prstGeom xmlns:a="http://schemas.openxmlformats.org/drawingml/2006/main" prst="straightConnector1">
            <a:avLst/>
          </a:prstGeom>
          <a:ln xmlns:a="http://schemas.openxmlformats.org/drawingml/2006/main" w="10775" cap="flat">
            <a:solidFill>
              <a:srgbClr val="C4D6D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1500BFAC-1DFA-4A43-82C2-EE5E9ADD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80" y="4380120"/>
            <a:ext cx="3026160" cy="61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39.17%</a:t>
            </a:r>
            <a:endParaRPr sz="3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38289088-AD34-4F74-AC4A-B4778B16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60" y="4425840"/>
            <a:ext cx="6601680" cy="97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strike="noStrike" cap="none">
                <a:solidFill>
                  <a:srgbClr val="C4D6D5"/>
                </a:solidFill>
                <a:latin typeface="Arial"/>
                <a:ea typeface="Arial"/>
                <a:cs typeface="Arial"/>
              </a:rPr>
              <a:t>of recorded 30-day readmissions appear in the highest-risk 20% of test patients.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6CF42FC9-3FBD-4B29-B288-2E361AD8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80" y="6272640"/>
            <a:ext cx="1008540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C4D6D5"/>
                </a:solidFill>
                <a:latin typeface="Arial"/>
                <a:ea typeface="Arial"/>
                <a:cs typeface="Arial"/>
              </a:rPr>
              <a:t>Data Science / AI-ML Capstone/ Business Presentation   •   October 2026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09213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2">
            <a:extLst xmlns:a="http://schemas.openxmlformats.org/drawingml/2006/main">
              <a:ext uri="{FF2B5EF4-FFF2-40B4-BE49-F238E27FC236}">
                <a16:creationId xmlns:a16="http://schemas.microsoft.com/office/drawing/2014/main" id="{9F3C37A6-BFE0-466E-8B7E-A12ED67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C36D6EA3-866F-4619-8889-AE4BA2BE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6576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32750" rIns="90000" bIns="327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D0E68D9C-8E27-4844-A6DF-393EF3AF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311040"/>
            <a:ext cx="415110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6757B"/>
                </a:solidFill>
              </a:rPr>
              <a:t>BUSINESS CONTEXT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D6CF573B-5F86-49C7-9705-2594BA54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713160"/>
            <a:ext cx="10972440" cy="63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The challenge: follow-up support is a scarce resource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4" name="Google Shape;104;p2">
            <a:extLst xmlns:a="http://schemas.openxmlformats.org/drawingml/2006/main">
              <a:ext uri="{FF2B5EF4-FFF2-40B4-BE49-F238E27FC236}">
                <a16:creationId xmlns:a16="http://schemas.microsoft.com/office/drawing/2014/main" id="{92C0E4B1-5B08-4D0B-9153-080DFF6626E4}"/>
              </a:ext>
            </a:extLst>
          </p:cNvPr>
          <p:cNvCxnSpPr/>
          <p:nvPr/>
        </p:nvCxnSpPr>
        <p:spPr>
          <a:xfrm xmlns:a="http://schemas.openxmlformats.org/drawingml/2006/main">
            <a:off x="640080" y="1453680"/>
            <a:ext cx="10918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1C31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2">
            <a:extLst xmlns:a="http://schemas.openxmlformats.org/drawingml/2006/main">
              <a:ext uri="{FF2B5EF4-FFF2-40B4-BE49-F238E27FC236}">
                <a16:creationId xmlns:a16="http://schemas.microsoft.com/office/drawing/2014/main" id="{110B493B-C9E8-4C33-9886-FEDB1D0E26CB}"/>
              </a:ext>
            </a:extLst>
          </p:cNvPr>
          <p:cNvCxnSpPr/>
          <p:nvPr/>
        </p:nvCxnSpPr>
        <p:spPr>
          <a:xfrm xmlns:a="http://schemas.openxmlformats.org/drawingml/2006/main">
            <a:off x="630720" y="6464520"/>
            <a:ext cx="10927440" cy="36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2">
            <a:extLst xmlns:a="http://schemas.openxmlformats.org/drawingml/2006/main">
              <a:ext uri="{FF2B5EF4-FFF2-40B4-BE49-F238E27FC236}">
                <a16:creationId xmlns:a16="http://schemas.microsoft.com/office/drawing/2014/main" id="{04AEA11D-C46C-459E-81E0-88594E4C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80" y="6519600"/>
            <a:ext cx="1049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Notebook 01 · Problem statement and business objective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2">
            <a:extLst xmlns:a="http://schemas.openxmlformats.org/drawingml/2006/main">
              <a:ext uri="{FF2B5EF4-FFF2-40B4-BE49-F238E27FC236}">
                <a16:creationId xmlns:a16="http://schemas.microsoft.com/office/drawing/2014/main" id="{A6C74442-BFDE-420A-BC09-5E9B57DE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20" y="6501240"/>
            <a:ext cx="4384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Google Shape;108;p2">
            <a:extLst xmlns:a="http://schemas.openxmlformats.org/drawingml/2006/main">
              <a:ext uri="{FF2B5EF4-FFF2-40B4-BE49-F238E27FC236}">
                <a16:creationId xmlns:a16="http://schemas.microsoft.com/office/drawing/2014/main" id="{909F5072-082C-403D-B0BC-B355C59B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64720"/>
            <a:ext cx="5303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CONSTRAINT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Google Shape;109;p2">
            <a:extLst xmlns:a="http://schemas.openxmlformats.org/drawingml/2006/main">
              <a:ext uri="{FF2B5EF4-FFF2-40B4-BE49-F238E27FC236}">
                <a16:creationId xmlns:a16="http://schemas.microsoft.com/office/drawing/2014/main" id="{4F9B7507-96EA-4D15-8C2D-A02CF23A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67200"/>
            <a:ext cx="4900680" cy="145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Not every discharged patient can receive intensive contact, early appointments, or home visits.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0" name="Google Shape;110;p2">
            <a:extLst xmlns:a="http://schemas.openxmlformats.org/drawingml/2006/main">
              <a:ext uri="{FF2B5EF4-FFF2-40B4-BE49-F238E27FC236}">
                <a16:creationId xmlns:a16="http://schemas.microsoft.com/office/drawing/2014/main" id="{776C217F-9A7D-4977-ABD1-1D6AADCE91C7}"/>
              </a:ext>
            </a:extLst>
          </p:cNvPr>
          <p:cNvCxnSpPr/>
          <p:nvPr/>
        </p:nvCxnSpPr>
        <p:spPr>
          <a:xfrm xmlns:a="http://schemas.openxmlformats.org/drawingml/2006/main">
            <a:off x="5970960" y="1947600"/>
            <a:ext cx="360" cy="327384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">
            <a:extLst xmlns:a="http://schemas.openxmlformats.org/drawingml/2006/main">
              <a:ext uri="{FF2B5EF4-FFF2-40B4-BE49-F238E27FC236}">
                <a16:creationId xmlns:a16="http://schemas.microsoft.com/office/drawing/2014/main" id="{92F7E9C3-A3AC-49B4-99EB-7D8E339E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00" y="1755720"/>
            <a:ext cx="5303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QUESTION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Google Shape;112;p2">
            <a:extLst xmlns:a="http://schemas.openxmlformats.org/drawingml/2006/main">
              <a:ext uri="{FF2B5EF4-FFF2-40B4-BE49-F238E27FC236}">
                <a16:creationId xmlns:a16="http://schemas.microsoft.com/office/drawing/2014/main" id="{83D3DDD7-A6A7-4703-9153-1D138887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00" y="2157840"/>
            <a:ext cx="4626360" cy="159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Can discharge-time data help the hospital reach higher-risk patients first?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Google Shape;113;p2">
            <a:extLst xmlns:a="http://schemas.openxmlformats.org/drawingml/2006/main">
              <a:ext uri="{FF2B5EF4-FFF2-40B4-BE49-F238E27FC236}">
                <a16:creationId xmlns:a16="http://schemas.microsoft.com/office/drawing/2014/main" id="{9A21ACF2-9A59-4089-A591-D23241C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000" y="4380120"/>
            <a:ext cx="4791240" cy="749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2">
            <a:extLst xmlns:a="http://schemas.openxmlformats.org/drawingml/2006/main">
              <a:ext uri="{FF2B5EF4-FFF2-40B4-BE49-F238E27FC236}">
                <a16:creationId xmlns:a16="http://schemas.microsoft.com/office/drawing/2014/main" id="{5671253E-6672-4182-AB1B-9183373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4553640"/>
            <a:ext cx="448920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A prioritization tool, not a clinical decision-maker.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Google Shape;115;p2">
            <a:extLst xmlns:a="http://schemas.openxmlformats.org/drawingml/2006/main">
              <a:ext uri="{FF2B5EF4-FFF2-40B4-BE49-F238E27FC236}">
                <a16:creationId xmlns:a16="http://schemas.microsoft.com/office/drawing/2014/main" id="{2356C7AC-FFD7-470D-8B1B-32A57F0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43160"/>
            <a:ext cx="1089936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2">
            <a:extLst xmlns:a="http://schemas.openxmlformats.org/drawingml/2006/main">
              <a:ext uri="{FF2B5EF4-FFF2-40B4-BE49-F238E27FC236}">
                <a16:creationId xmlns:a16="http://schemas.microsoft.com/office/drawing/2014/main" id="{09704D57-C09E-40A3-AC00-46BE8196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43160"/>
            <a:ext cx="5004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2">
            <a:extLst xmlns:a="http://schemas.openxmlformats.org/drawingml/2006/main">
              <a:ext uri="{FF2B5EF4-FFF2-40B4-BE49-F238E27FC236}">
                <a16:creationId xmlns:a16="http://schemas.microsoft.com/office/drawing/2014/main" id="{DA20145C-6CE4-4479-97B0-B6D82C55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16240"/>
            <a:ext cx="1047852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Pre-specified goal: identify ≥30% of recorded readmissions by selecting only the top 20% for follow-up.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70226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3">
            <a:extLst xmlns:a="http://schemas.openxmlformats.org/drawingml/2006/main">
              <a:ext uri="{FF2B5EF4-FFF2-40B4-BE49-F238E27FC236}">
                <a16:creationId xmlns:a16="http://schemas.microsoft.com/office/drawing/2014/main" id="{44E8C1E7-05A5-433A-9758-FDC830D4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3">
            <a:extLst xmlns:a="http://schemas.openxmlformats.org/drawingml/2006/main">
              <a:ext uri="{FF2B5EF4-FFF2-40B4-BE49-F238E27FC236}">
                <a16:creationId xmlns:a16="http://schemas.microsoft.com/office/drawing/2014/main" id="{C0217845-7580-44B9-98CB-906A2576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6576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32750" rIns="90000" bIns="327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3">
            <a:extLst xmlns:a="http://schemas.openxmlformats.org/drawingml/2006/main">
              <a:ext uri="{FF2B5EF4-FFF2-40B4-BE49-F238E27FC236}">
                <a16:creationId xmlns:a16="http://schemas.microsoft.com/office/drawing/2014/main" id="{3AABFCD8-38C2-45FA-93F4-D14993DC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680"/>
            <a:ext cx="51202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DECISION SCIENCE  /  CAPSTONE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3">
            <a:extLst xmlns:a="http://schemas.openxmlformats.org/drawingml/2006/main">
              <a:ext uri="{FF2B5EF4-FFF2-40B4-BE49-F238E27FC236}">
                <a16:creationId xmlns:a16="http://schemas.microsoft.com/office/drawing/2014/main" id="{5D47C027-63D3-4E39-91BD-5F31C5F4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311040"/>
            <a:ext cx="4151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WHAT WAS STUDIED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3">
            <a:extLst xmlns:a="http://schemas.openxmlformats.org/drawingml/2006/main">
              <a:ext uri="{FF2B5EF4-FFF2-40B4-BE49-F238E27FC236}">
                <a16:creationId xmlns:a16="http://schemas.microsoft.com/office/drawing/2014/main" id="{7CAE03DC-2F9B-449E-93D6-2EB4A8F0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713160"/>
            <a:ext cx="10972440" cy="63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The historical cohort includes roughly 70,000 patients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8" name="Google Shape;128;p3">
            <a:extLst xmlns:a="http://schemas.openxmlformats.org/drawingml/2006/main">
              <a:ext uri="{FF2B5EF4-FFF2-40B4-BE49-F238E27FC236}">
                <a16:creationId xmlns:a16="http://schemas.microsoft.com/office/drawing/2014/main" id="{5D1161F5-7669-4565-ADCF-21FCA5A9B173}"/>
              </a:ext>
            </a:extLst>
          </p:cNvPr>
          <p:cNvCxnSpPr/>
          <p:nvPr/>
        </p:nvCxnSpPr>
        <p:spPr>
          <a:xfrm xmlns:a="http://schemas.openxmlformats.org/drawingml/2006/main">
            <a:off x="640080" y="1453680"/>
            <a:ext cx="10918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1C31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3">
            <a:extLst xmlns:a="http://schemas.openxmlformats.org/drawingml/2006/main">
              <a:ext uri="{FF2B5EF4-FFF2-40B4-BE49-F238E27FC236}">
                <a16:creationId xmlns:a16="http://schemas.microsoft.com/office/drawing/2014/main" id="{6F79A0D0-BAB8-4806-B3C5-D31361906EE4}"/>
              </a:ext>
            </a:extLst>
          </p:cNvPr>
          <p:cNvCxnSpPr/>
          <p:nvPr/>
        </p:nvCxnSpPr>
        <p:spPr>
          <a:xfrm xmlns:a="http://schemas.openxmlformats.org/drawingml/2006/main">
            <a:off x="630720" y="6464520"/>
            <a:ext cx="10927440" cy="36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3">
            <a:extLst xmlns:a="http://schemas.openxmlformats.org/drawingml/2006/main">
              <a:ext uri="{FF2B5EF4-FFF2-40B4-BE49-F238E27FC236}">
                <a16:creationId xmlns:a16="http://schemas.microsoft.com/office/drawing/2014/main" id="{C59D935C-62BE-4426-9AB2-9D3005D8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80" y="6519600"/>
            <a:ext cx="1049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Notebooks 01–02 · UCI Diabetes 130-US Hospitals, 1999–2008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Google Shape;131;p3">
            <a:extLst xmlns:a="http://schemas.openxmlformats.org/drawingml/2006/main">
              <a:ext uri="{FF2B5EF4-FFF2-40B4-BE49-F238E27FC236}">
                <a16:creationId xmlns:a16="http://schemas.microsoft.com/office/drawing/2014/main" id="{57675FE3-BF30-4735-AE56-5D38F552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20" y="6501240"/>
            <a:ext cx="4384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2" name="Google Shape;132;p3">
            <a:extLst xmlns:a="http://schemas.openxmlformats.org/drawingml/2006/main">
              <a:ext uri="{FF2B5EF4-FFF2-40B4-BE49-F238E27FC236}">
                <a16:creationId xmlns:a16="http://schemas.microsoft.com/office/drawing/2014/main" id="{FFACE33A-E090-40D7-8410-ECCFA065EF4A}"/>
              </a:ext>
            </a:extLst>
          </p:cNvPr>
          <p:cNvCxnSpPr/>
          <p:nvPr/>
        </p:nvCxnSpPr>
        <p:spPr>
          <a:xfrm xmlns:a="http://schemas.openxmlformats.org/drawingml/2006/main">
            <a:off x="786240" y="2221920"/>
            <a:ext cx="314604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3">
            <a:extLst xmlns:a="http://schemas.openxmlformats.org/drawingml/2006/main">
              <a:ext uri="{FF2B5EF4-FFF2-40B4-BE49-F238E27FC236}">
                <a16:creationId xmlns:a16="http://schemas.microsoft.com/office/drawing/2014/main" id="{AA36D18C-115B-4950-A029-F22B2C9D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2386440"/>
            <a:ext cx="3145320" cy="57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130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Google Shape;134;p3">
            <a:extLst xmlns:a="http://schemas.openxmlformats.org/drawingml/2006/main">
              <a:ext uri="{FF2B5EF4-FFF2-40B4-BE49-F238E27FC236}">
                <a16:creationId xmlns:a16="http://schemas.microsoft.com/office/drawing/2014/main" id="{99709E22-BF92-45F3-8541-04E0DEE8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2980800"/>
            <a:ext cx="3145320" cy="33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U.S. hospitals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Google Shape;135;p3">
            <a:extLst xmlns:a="http://schemas.openxmlformats.org/drawingml/2006/main">
              <a:ext uri="{FF2B5EF4-FFF2-40B4-BE49-F238E27FC236}">
                <a16:creationId xmlns:a16="http://schemas.microsoft.com/office/drawing/2014/main" id="{F2AB0D50-BAEE-4A9A-9824-03DBFEB4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3383280"/>
            <a:ext cx="3145320" cy="55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1999–2008 care records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6" name="Google Shape;136;p3">
            <a:extLst xmlns:a="http://schemas.openxmlformats.org/drawingml/2006/main">
              <a:ext uri="{FF2B5EF4-FFF2-40B4-BE49-F238E27FC236}">
                <a16:creationId xmlns:a16="http://schemas.microsoft.com/office/drawing/2014/main" id="{FEC0B647-73F8-4AAE-93D7-56C898D23DA6}"/>
              </a:ext>
            </a:extLst>
          </p:cNvPr>
          <p:cNvCxnSpPr/>
          <p:nvPr/>
        </p:nvCxnSpPr>
        <p:spPr>
          <a:xfrm xmlns:a="http://schemas.openxmlformats.org/drawingml/2006/main">
            <a:off x="4535280" y="2221920"/>
            <a:ext cx="314604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3">
            <a:extLst xmlns:a="http://schemas.openxmlformats.org/drawingml/2006/main">
              <a:ext uri="{FF2B5EF4-FFF2-40B4-BE49-F238E27FC236}">
                <a16:creationId xmlns:a16="http://schemas.microsoft.com/office/drawing/2014/main" id="{21EF968C-AA76-4A00-9E4A-40B8A470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386440"/>
            <a:ext cx="3145320" cy="57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69,970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3">
            <a:extLst xmlns:a="http://schemas.openxmlformats.org/drawingml/2006/main">
              <a:ext uri="{FF2B5EF4-FFF2-40B4-BE49-F238E27FC236}">
                <a16:creationId xmlns:a16="http://schemas.microsoft.com/office/drawing/2014/main" id="{14CE79DB-83C1-4D22-99C0-97398C76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980800"/>
            <a:ext cx="3145320" cy="33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Patients analyzed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Google Shape;139;p3">
            <a:extLst xmlns:a="http://schemas.openxmlformats.org/drawingml/2006/main">
              <a:ext uri="{FF2B5EF4-FFF2-40B4-BE49-F238E27FC236}">
                <a16:creationId xmlns:a16="http://schemas.microsoft.com/office/drawing/2014/main" id="{6D4F5BD6-DD2D-484C-BEDC-6D96081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383280"/>
            <a:ext cx="3145320" cy="55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One selected encounter each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0" name="Google Shape;140;p3">
            <a:extLst xmlns:a="http://schemas.openxmlformats.org/drawingml/2006/main">
              <a:ext uri="{FF2B5EF4-FFF2-40B4-BE49-F238E27FC236}">
                <a16:creationId xmlns:a16="http://schemas.microsoft.com/office/drawing/2014/main" id="{14E33C9B-BA09-4B3D-BBAE-C0A5FE8041D8}"/>
              </a:ext>
            </a:extLst>
          </p:cNvPr>
          <p:cNvCxnSpPr/>
          <p:nvPr/>
        </p:nvCxnSpPr>
        <p:spPr>
          <a:xfrm xmlns:a="http://schemas.openxmlformats.org/drawingml/2006/main">
            <a:off x="8284320" y="2221920"/>
            <a:ext cx="314604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p3">
            <a:extLst xmlns:a="http://schemas.openxmlformats.org/drawingml/2006/main">
              <a:ext uri="{FF2B5EF4-FFF2-40B4-BE49-F238E27FC236}">
                <a16:creationId xmlns:a16="http://schemas.microsoft.com/office/drawing/2014/main" id="{67F706B8-49FE-48B8-AB0A-8DF1F516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320" y="2386440"/>
            <a:ext cx="3145320" cy="57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 u="none" strike="noStrike" cap="none">
                <a:solidFill>
                  <a:srgbClr val="BE7E5B"/>
                </a:solidFill>
                <a:latin typeface="Arial"/>
                <a:ea typeface="Arial"/>
                <a:cs typeface="Arial"/>
              </a:rPr>
              <a:t>8.97%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Google Shape;142;p3">
            <a:extLst xmlns:a="http://schemas.openxmlformats.org/drawingml/2006/main">
              <a:ext uri="{FF2B5EF4-FFF2-40B4-BE49-F238E27FC236}">
                <a16:creationId xmlns:a16="http://schemas.microsoft.com/office/drawing/2014/main" id="{4E3EA0B9-AB62-4097-ACE5-B3DFBA1D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320" y="2980800"/>
            <a:ext cx="3145320" cy="26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Readmitted within 30 days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Google Shape;143;p3">
            <a:extLst xmlns:a="http://schemas.openxmlformats.org/drawingml/2006/main">
              <a:ext uri="{FF2B5EF4-FFF2-40B4-BE49-F238E27FC236}">
                <a16:creationId xmlns:a16="http://schemas.microsoft.com/office/drawing/2014/main" id="{8DD08851-8C33-4479-A9A6-4C236EDC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320" y="3383280"/>
            <a:ext cx="3145320" cy="55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6,277 recorded events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3">
            <a:extLst xmlns:a="http://schemas.openxmlformats.org/drawingml/2006/main">
              <a:ext uri="{FF2B5EF4-FFF2-40B4-BE49-F238E27FC236}">
                <a16:creationId xmlns:a16="http://schemas.microsoft.com/office/drawing/2014/main" id="{512D7CE4-DD41-4D55-B49E-9D5B3AD5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63000"/>
            <a:ext cx="10469520" cy="83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3">
            <a:extLst xmlns:a="http://schemas.openxmlformats.org/drawingml/2006/main">
              <a:ext uri="{FF2B5EF4-FFF2-40B4-BE49-F238E27FC236}">
                <a16:creationId xmlns:a16="http://schemas.microsoft.com/office/drawing/2014/main" id="{E436CB36-C15C-4ADE-B3EA-00F69F9C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80" y="4709160"/>
            <a:ext cx="9975600" cy="372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About nine in ten had no recorded 30-day readmission.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Google Shape;146;p3">
            <a:extLst xmlns:a="http://schemas.openxmlformats.org/drawingml/2006/main">
              <a:ext uri="{FF2B5EF4-FFF2-40B4-BE49-F238E27FC236}">
                <a16:creationId xmlns:a16="http://schemas.microsoft.com/office/drawing/2014/main" id="{44B34A4E-7D59-4648-B74D-005C47D8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70520"/>
            <a:ext cx="1089936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3">
            <a:extLst xmlns:a="http://schemas.openxmlformats.org/drawingml/2006/main">
              <a:ext uri="{FF2B5EF4-FFF2-40B4-BE49-F238E27FC236}">
                <a16:creationId xmlns:a16="http://schemas.microsoft.com/office/drawing/2014/main" id="{2F6A373E-D5E1-4ADE-90EE-D6886381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70520"/>
            <a:ext cx="5004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3">
            <a:extLst xmlns:a="http://schemas.openxmlformats.org/drawingml/2006/main">
              <a:ext uri="{FF2B5EF4-FFF2-40B4-BE49-F238E27FC236}">
                <a16:creationId xmlns:a16="http://schemas.microsoft.com/office/drawing/2014/main" id="{B488EB12-3C84-45F3-91CB-8C1AF868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43600"/>
            <a:ext cx="1047852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This is a historical, selected dataset. Readmissions outside the contributing network may be missing.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8280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Google Shape;154;p4">
            <a:extLst xmlns:a="http://schemas.openxmlformats.org/drawingml/2006/main">
              <a:ext uri="{FF2B5EF4-FFF2-40B4-BE49-F238E27FC236}">
                <a16:creationId xmlns:a16="http://schemas.microsoft.com/office/drawing/2014/main" id="{E9A00FC0-50AA-4BEC-8A61-7ACCB6B8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4">
            <a:extLst xmlns:a="http://schemas.openxmlformats.org/drawingml/2006/main">
              <a:ext uri="{FF2B5EF4-FFF2-40B4-BE49-F238E27FC236}">
                <a16:creationId xmlns:a16="http://schemas.microsoft.com/office/drawing/2014/main" id="{B3FFF38A-47E5-4732-BF39-1376AD8A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6576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32750" rIns="90000" bIns="327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4">
            <a:extLst xmlns:a="http://schemas.openxmlformats.org/drawingml/2006/main">
              <a:ext uri="{FF2B5EF4-FFF2-40B4-BE49-F238E27FC236}">
                <a16:creationId xmlns:a16="http://schemas.microsoft.com/office/drawing/2014/main" id="{3B40921A-12BA-49F8-967B-9B64DC9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311040"/>
            <a:ext cx="4151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THE DATA STORY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Google Shape;157;p4">
            <a:extLst xmlns:a="http://schemas.openxmlformats.org/drawingml/2006/main">
              <a:ext uri="{FF2B5EF4-FFF2-40B4-BE49-F238E27FC236}">
                <a16:creationId xmlns:a16="http://schemas.microsoft.com/office/drawing/2014/main" id="{40850EFD-A618-4488-A4AA-53D4DA2D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713160"/>
            <a:ext cx="10972440" cy="63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Discharge context and prior visits predict risk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8" name="Google Shape;158;p4">
            <a:extLst xmlns:a="http://schemas.openxmlformats.org/drawingml/2006/main">
              <a:ext uri="{FF2B5EF4-FFF2-40B4-BE49-F238E27FC236}">
                <a16:creationId xmlns:a16="http://schemas.microsoft.com/office/drawing/2014/main" id="{E4D238B0-9D7C-4FEE-9674-7FCD6A24B393}"/>
              </a:ext>
            </a:extLst>
          </p:cNvPr>
          <p:cNvCxnSpPr/>
          <p:nvPr/>
        </p:nvCxnSpPr>
        <p:spPr>
          <a:xfrm xmlns:a="http://schemas.openxmlformats.org/drawingml/2006/main">
            <a:off x="640080" y="1453680"/>
            <a:ext cx="10918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1C31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4">
            <a:extLst xmlns:a="http://schemas.openxmlformats.org/drawingml/2006/main">
              <a:ext uri="{FF2B5EF4-FFF2-40B4-BE49-F238E27FC236}">
                <a16:creationId xmlns:a16="http://schemas.microsoft.com/office/drawing/2014/main" id="{6671209E-3029-46EE-9717-E4088B90661F}"/>
              </a:ext>
            </a:extLst>
          </p:cNvPr>
          <p:cNvCxnSpPr/>
          <p:nvPr/>
        </p:nvCxnSpPr>
        <p:spPr>
          <a:xfrm xmlns:a="http://schemas.openxmlformats.org/drawingml/2006/main">
            <a:off x="630720" y="6464520"/>
            <a:ext cx="10927440" cy="36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p4">
            <a:extLst xmlns:a="http://schemas.openxmlformats.org/drawingml/2006/main">
              <a:ext uri="{FF2B5EF4-FFF2-40B4-BE49-F238E27FC236}">
                <a16:creationId xmlns:a16="http://schemas.microsoft.com/office/drawing/2014/main" id="{B43A62DE-F5D3-4E1D-8B43-9A702B0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80" y="6519600"/>
            <a:ext cx="1049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Notebook 03 · Training-only descriptive analysis; association ≠ causation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Google Shape;161;p4">
            <a:extLst xmlns:a="http://schemas.openxmlformats.org/drawingml/2006/main">
              <a:ext uri="{FF2B5EF4-FFF2-40B4-BE49-F238E27FC236}">
                <a16:creationId xmlns:a16="http://schemas.microsoft.com/office/drawing/2014/main" id="{FC1F29F8-F6F9-4FF1-82F3-2C23B496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20" y="6501240"/>
            <a:ext cx="4384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4">
            <a:extLst xmlns:a="http://schemas.openxmlformats.org/drawingml/2006/main">
              <a:ext uri="{FF2B5EF4-FFF2-40B4-BE49-F238E27FC236}">
                <a16:creationId xmlns:a16="http://schemas.microsoft.com/office/drawing/2014/main" id="{B08E7F41-8952-454C-9E45-941136A6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74080"/>
            <a:ext cx="5303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OBSERVED READMISSION RATE BY DISCHARGE DESTINATION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4">
            <a:extLst xmlns:a="http://schemas.openxmlformats.org/drawingml/2006/main">
              <a:ext uri="{FF2B5EF4-FFF2-40B4-BE49-F238E27FC236}">
                <a16:creationId xmlns:a16="http://schemas.microsoft.com/office/drawing/2014/main" id="{8642B34E-73CB-443D-8E55-FA218D5D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0" y="2139840"/>
            <a:ext cx="181944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Rehabilitation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4">
            <a:extLst xmlns:a="http://schemas.openxmlformats.org/drawingml/2006/main">
              <a:ext uri="{FF2B5EF4-FFF2-40B4-BE49-F238E27FC236}">
                <a16:creationId xmlns:a16="http://schemas.microsoft.com/office/drawing/2014/main" id="{53B4D69D-E141-4C53-A7B5-25F8E9C0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20" y="2277000"/>
            <a:ext cx="43977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4">
            <a:extLst xmlns:a="http://schemas.openxmlformats.org/drawingml/2006/main">
              <a:ext uri="{FF2B5EF4-FFF2-40B4-BE49-F238E27FC236}">
                <a16:creationId xmlns:a16="http://schemas.microsoft.com/office/drawing/2014/main" id="{ABBBDC72-801D-412A-8591-6C9ACFDB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20" y="2277000"/>
            <a:ext cx="396972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4">
            <a:extLst xmlns:a="http://schemas.openxmlformats.org/drawingml/2006/main">
              <a:ext uri="{FF2B5EF4-FFF2-40B4-BE49-F238E27FC236}">
                <a16:creationId xmlns:a16="http://schemas.microsoft.com/office/drawing/2014/main" id="{4737A7B6-93D5-42CF-86C1-13F5BEB1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400" y="2125800"/>
            <a:ext cx="8042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27.08%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Google Shape;167;p4">
            <a:extLst xmlns:a="http://schemas.openxmlformats.org/drawingml/2006/main">
              <a:ext uri="{FF2B5EF4-FFF2-40B4-BE49-F238E27FC236}">
                <a16:creationId xmlns:a16="http://schemas.microsoft.com/office/drawing/2014/main" id="{6701B951-7DED-455D-87E6-7E06B12B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0" y="2743200"/>
            <a:ext cx="181944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Skilled nursing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4">
            <a:extLst xmlns:a="http://schemas.openxmlformats.org/drawingml/2006/main">
              <a:ext uri="{FF2B5EF4-FFF2-40B4-BE49-F238E27FC236}">
                <a16:creationId xmlns:a16="http://schemas.microsoft.com/office/drawing/2014/main" id="{02775D01-5A4D-4735-9EA5-14BA4A57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20" y="2880360"/>
            <a:ext cx="43977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4">
            <a:extLst xmlns:a="http://schemas.openxmlformats.org/drawingml/2006/main">
              <a:ext uri="{FF2B5EF4-FFF2-40B4-BE49-F238E27FC236}">
                <a16:creationId xmlns:a16="http://schemas.microsoft.com/office/drawing/2014/main" id="{D58C106A-9DE9-4219-9CC3-8F96A95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20" y="2880360"/>
            <a:ext cx="202428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4">
            <a:extLst xmlns:a="http://schemas.openxmlformats.org/drawingml/2006/main">
              <a:ext uri="{FF2B5EF4-FFF2-40B4-BE49-F238E27FC236}">
                <a16:creationId xmlns:a16="http://schemas.microsoft.com/office/drawing/2014/main" id="{812323CC-80EB-40B9-82B2-FA55ABC2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400" y="2729520"/>
            <a:ext cx="8042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13.81%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Google Shape;171;p4">
            <a:extLst xmlns:a="http://schemas.openxmlformats.org/drawingml/2006/main">
              <a:ext uri="{FF2B5EF4-FFF2-40B4-BE49-F238E27FC236}">
                <a16:creationId xmlns:a16="http://schemas.microsoft.com/office/drawing/2014/main" id="{C2D8B5F5-4764-4E50-8C03-89B0B4D4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0" y="3346560"/>
            <a:ext cx="181944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Home health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Google Shape;172;p4">
            <a:extLst xmlns:a="http://schemas.openxmlformats.org/drawingml/2006/main">
              <a:ext uri="{FF2B5EF4-FFF2-40B4-BE49-F238E27FC236}">
                <a16:creationId xmlns:a16="http://schemas.microsoft.com/office/drawing/2014/main" id="{896475F4-CD11-4FA0-8858-445AD2D0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20" y="3483720"/>
            <a:ext cx="43977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4">
            <a:extLst xmlns:a="http://schemas.openxmlformats.org/drawingml/2006/main">
              <a:ext uri="{FF2B5EF4-FFF2-40B4-BE49-F238E27FC236}">
                <a16:creationId xmlns:a16="http://schemas.microsoft.com/office/drawing/2014/main" id="{B005F8B7-F713-44FD-8822-F08FCFE4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20" y="3483720"/>
            <a:ext cx="141588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4">
            <a:extLst xmlns:a="http://schemas.openxmlformats.org/drawingml/2006/main">
              <a:ext uri="{FF2B5EF4-FFF2-40B4-BE49-F238E27FC236}">
                <a16:creationId xmlns:a16="http://schemas.microsoft.com/office/drawing/2014/main" id="{835908D0-653E-4B44-A4E5-49A9D59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400" y="3332880"/>
            <a:ext cx="8042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9.66%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Google Shape;175;p4">
            <a:extLst xmlns:a="http://schemas.openxmlformats.org/drawingml/2006/main">
              <a:ext uri="{FF2B5EF4-FFF2-40B4-BE49-F238E27FC236}">
                <a16:creationId xmlns:a16="http://schemas.microsoft.com/office/drawing/2014/main" id="{D8A8A7F5-E941-4621-826D-FEA1D013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0" y="3950280"/>
            <a:ext cx="181944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Home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Google Shape;176;p4">
            <a:extLst xmlns:a="http://schemas.openxmlformats.org/drawingml/2006/main">
              <a:ext uri="{FF2B5EF4-FFF2-40B4-BE49-F238E27FC236}">
                <a16:creationId xmlns:a16="http://schemas.microsoft.com/office/drawing/2014/main" id="{FF12E14E-AA0F-4F5F-B266-3957C042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20" y="4087440"/>
            <a:ext cx="43977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Google Shape;177;p4">
            <a:extLst xmlns:a="http://schemas.openxmlformats.org/drawingml/2006/main">
              <a:ext uri="{FF2B5EF4-FFF2-40B4-BE49-F238E27FC236}">
                <a16:creationId xmlns:a16="http://schemas.microsoft.com/office/drawing/2014/main" id="{0D1E882F-3EB3-4B83-9166-CC186F32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20" y="4087440"/>
            <a:ext cx="9993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Google Shape;178;p4">
            <a:extLst xmlns:a="http://schemas.openxmlformats.org/drawingml/2006/main">
              <a:ext uri="{FF2B5EF4-FFF2-40B4-BE49-F238E27FC236}">
                <a16:creationId xmlns:a16="http://schemas.microsoft.com/office/drawing/2014/main" id="{10E867CD-E448-466D-A1DE-5D051B03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400" y="3936600"/>
            <a:ext cx="8042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6.82%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9" name="Google Shape;179;p4">
            <a:extLst xmlns:a="http://schemas.openxmlformats.org/drawingml/2006/main">
              <a:ext uri="{FF2B5EF4-FFF2-40B4-BE49-F238E27FC236}">
                <a16:creationId xmlns:a16="http://schemas.microsoft.com/office/drawing/2014/main" id="{6A38A114-99DC-48F2-AA94-3E5EDBE6B468}"/>
              </a:ext>
            </a:extLst>
          </p:cNvPr>
          <p:cNvCxnSpPr/>
          <p:nvPr/>
        </p:nvCxnSpPr>
        <p:spPr>
          <a:xfrm xmlns:a="http://schemas.openxmlformats.org/drawingml/2006/main">
            <a:off x="8357400" y="1810440"/>
            <a:ext cx="360" cy="33195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4">
            <a:extLst xmlns:a="http://schemas.openxmlformats.org/drawingml/2006/main">
              <a:ext uri="{FF2B5EF4-FFF2-40B4-BE49-F238E27FC236}">
                <a16:creationId xmlns:a16="http://schemas.microsoft.com/office/drawing/2014/main" id="{7A328839-19BE-4C13-B6E9-886097C6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800" y="1828800"/>
            <a:ext cx="31114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OTHER OBSERVATIONS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Google Shape;181;p4">
            <a:extLst xmlns:a="http://schemas.openxmlformats.org/drawingml/2006/main">
              <a:ext uri="{FF2B5EF4-FFF2-40B4-BE49-F238E27FC236}">
                <a16:creationId xmlns:a16="http://schemas.microsoft.com/office/drawing/2014/main" id="{E526D6A7-556C-448D-B5C2-FB64702A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21920"/>
            <a:ext cx="265140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BE7E5B"/>
                </a:solidFill>
                <a:latin typeface="Arial"/>
                <a:ea typeface="Arial"/>
                <a:cs typeface="Arial"/>
              </a:rPr>
              <a:t>0.36 vs 0.16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Google Shape;182;p4">
            <a:extLst xmlns:a="http://schemas.openxmlformats.org/drawingml/2006/main">
              <a:ext uri="{FF2B5EF4-FFF2-40B4-BE49-F238E27FC236}">
                <a16:creationId xmlns:a16="http://schemas.microsoft.com/office/drawing/2014/main" id="{CF9C3941-7E14-4395-9724-802DFF9A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6480"/>
            <a:ext cx="2614680" cy="72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Prior inpatient visits, readmitted vs others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3" name="Google Shape;183;p4">
            <a:extLst xmlns:a="http://schemas.openxmlformats.org/drawingml/2006/main">
              <a:ext uri="{FF2B5EF4-FFF2-40B4-BE49-F238E27FC236}">
                <a16:creationId xmlns:a16="http://schemas.microsoft.com/office/drawing/2014/main" id="{FCFA2704-32F6-4C01-9C8E-A93D99A108DB}"/>
              </a:ext>
            </a:extLst>
          </p:cNvPr>
          <p:cNvCxnSpPr/>
          <p:nvPr/>
        </p:nvCxnSpPr>
        <p:spPr>
          <a:xfrm xmlns:a="http://schemas.openxmlformats.org/drawingml/2006/main">
            <a:off x="8686800" y="3675600"/>
            <a:ext cx="2624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p4">
            <a:extLst xmlns:a="http://schemas.openxmlformats.org/drawingml/2006/main">
              <a:ext uri="{FF2B5EF4-FFF2-40B4-BE49-F238E27FC236}">
                <a16:creationId xmlns:a16="http://schemas.microsoft.com/office/drawing/2014/main" id="{70046712-5CDA-4A91-A536-F5209961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58840"/>
            <a:ext cx="2669760" cy="44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10.80%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Google Shape;185;p4">
            <a:extLst xmlns:a="http://schemas.openxmlformats.org/drawingml/2006/main">
              <a:ext uri="{FF2B5EF4-FFF2-40B4-BE49-F238E27FC236}">
                <a16:creationId xmlns:a16="http://schemas.microsoft.com/office/drawing/2014/main" id="{AB78FC6F-E67A-4A44-8271-B280E359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07480"/>
            <a:ext cx="2642400" cy="69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Observed rate among those aged 80–90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Google Shape;186;p4">
            <a:extLst xmlns:a="http://schemas.openxmlformats.org/drawingml/2006/main">
              <a:ext uri="{FF2B5EF4-FFF2-40B4-BE49-F238E27FC236}">
                <a16:creationId xmlns:a16="http://schemas.microsoft.com/office/drawing/2014/main" id="{4021D542-9141-45E6-9548-9161FA97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61160"/>
            <a:ext cx="1089936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" name="Google Shape;187;p4">
            <a:extLst xmlns:a="http://schemas.openxmlformats.org/drawingml/2006/main">
              <a:ext uri="{FF2B5EF4-FFF2-40B4-BE49-F238E27FC236}">
                <a16:creationId xmlns:a16="http://schemas.microsoft.com/office/drawing/2014/main" id="{006AB37D-1A35-41E0-9A63-0908516A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61160"/>
            <a:ext cx="5004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4">
            <a:extLst xmlns:a="http://schemas.openxmlformats.org/drawingml/2006/main">
              <a:ext uri="{FF2B5EF4-FFF2-40B4-BE49-F238E27FC236}">
                <a16:creationId xmlns:a16="http://schemas.microsoft.com/office/drawing/2014/main" id="{672A9182-C7B0-4B7D-90D0-62825B33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34600"/>
            <a:ext cx="1047852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These patterns help target attention but do not show that changing discharge destination lowers risk.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94393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" name="Google Shape;194;p5">
            <a:extLst xmlns:a="http://schemas.openxmlformats.org/drawingml/2006/main">
              <a:ext uri="{FF2B5EF4-FFF2-40B4-BE49-F238E27FC236}">
                <a16:creationId xmlns:a16="http://schemas.microsoft.com/office/drawing/2014/main" id="{AA89E29F-07FD-4E62-9233-FC0F03CB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Google Shape;195;p5">
            <a:extLst xmlns:a="http://schemas.openxmlformats.org/drawingml/2006/main">
              <a:ext uri="{FF2B5EF4-FFF2-40B4-BE49-F238E27FC236}">
                <a16:creationId xmlns:a16="http://schemas.microsoft.com/office/drawing/2014/main" id="{08AD43F8-3B6D-47C6-AAFA-268884B4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6576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32750" rIns="90000" bIns="327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5">
            <a:extLst xmlns:a="http://schemas.openxmlformats.org/drawingml/2006/main">
              <a:ext uri="{FF2B5EF4-FFF2-40B4-BE49-F238E27FC236}">
                <a16:creationId xmlns:a16="http://schemas.microsoft.com/office/drawing/2014/main" id="{C7DB4DD4-C01F-4681-B743-3253652C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311040"/>
            <a:ext cx="4151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THE RESULT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Google Shape;197;p5">
            <a:extLst xmlns:a="http://schemas.openxmlformats.org/drawingml/2006/main">
              <a:ext uri="{FF2B5EF4-FFF2-40B4-BE49-F238E27FC236}">
                <a16:creationId xmlns:a16="http://schemas.microsoft.com/office/drawing/2014/main" id="{45A0D97F-F2F3-445D-8F76-69D9D46F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713160"/>
            <a:ext cx="10972440" cy="63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The top 20% captured nearly 40% of readmissions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98" name="Google Shape;198;p5">
            <a:extLst xmlns:a="http://schemas.openxmlformats.org/drawingml/2006/main">
              <a:ext uri="{FF2B5EF4-FFF2-40B4-BE49-F238E27FC236}">
                <a16:creationId xmlns:a16="http://schemas.microsoft.com/office/drawing/2014/main" id="{BEE9804E-4191-44D0-B672-4789F26D3EC4}"/>
              </a:ext>
            </a:extLst>
          </p:cNvPr>
          <p:cNvCxnSpPr/>
          <p:nvPr/>
        </p:nvCxnSpPr>
        <p:spPr>
          <a:xfrm xmlns:a="http://schemas.openxmlformats.org/drawingml/2006/main">
            <a:off x="640080" y="1453680"/>
            <a:ext cx="10918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1C31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5">
            <a:extLst xmlns:a="http://schemas.openxmlformats.org/drawingml/2006/main">
              <a:ext uri="{FF2B5EF4-FFF2-40B4-BE49-F238E27FC236}">
                <a16:creationId xmlns:a16="http://schemas.microsoft.com/office/drawing/2014/main" id="{1543BBEF-BECB-47FA-ABFB-739C923CFA74}"/>
              </a:ext>
            </a:extLst>
          </p:cNvPr>
          <p:cNvCxnSpPr/>
          <p:nvPr/>
        </p:nvCxnSpPr>
        <p:spPr>
          <a:xfrm xmlns:a="http://schemas.openxmlformats.org/drawingml/2006/main">
            <a:off x="630720" y="6464520"/>
            <a:ext cx="10927440" cy="36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5">
            <a:extLst xmlns:a="http://schemas.openxmlformats.org/drawingml/2006/main">
              <a:ext uri="{FF2B5EF4-FFF2-40B4-BE49-F238E27FC236}">
                <a16:creationId xmlns:a16="http://schemas.microsoft.com/office/drawing/2014/main" id="{4711BCA1-F7AB-4CAC-9DAA-9B5895F4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80" y="6519600"/>
            <a:ext cx="1049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Notebooks 05–06 · Held-out test: 10,496 patients and 942 recorded readmissions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Google Shape;201;p5">
            <a:extLst xmlns:a="http://schemas.openxmlformats.org/drawingml/2006/main">
              <a:ext uri="{FF2B5EF4-FFF2-40B4-BE49-F238E27FC236}">
                <a16:creationId xmlns:a16="http://schemas.microsoft.com/office/drawing/2014/main" id="{53911BB8-4AD7-414B-A461-38A6D9E0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20" y="6501240"/>
            <a:ext cx="4384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05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Google Shape;202;p5">
            <a:extLst xmlns:a="http://schemas.openxmlformats.org/drawingml/2006/main">
              <a:ext uri="{FF2B5EF4-FFF2-40B4-BE49-F238E27FC236}">
                <a16:creationId xmlns:a16="http://schemas.microsoft.com/office/drawing/2014/main" id="{212724DA-132E-4FDE-85AC-518C0CC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303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SHARE OF TEST READMISSIONS CAPTURED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Google Shape;203;p5">
            <a:extLst xmlns:a="http://schemas.openxmlformats.org/drawingml/2006/main">
              <a:ext uri="{FF2B5EF4-FFF2-40B4-BE49-F238E27FC236}">
                <a16:creationId xmlns:a16="http://schemas.microsoft.com/office/drawing/2014/main" id="{0665C79F-3EAF-4165-BEE8-4E9CEDA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368440"/>
            <a:ext cx="3191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Random selection expectation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Google Shape;204;p5">
            <a:extLst xmlns:a="http://schemas.openxmlformats.org/drawingml/2006/main">
              <a:ext uri="{FF2B5EF4-FFF2-40B4-BE49-F238E27FC236}">
                <a16:creationId xmlns:a16="http://schemas.microsoft.com/office/drawing/2014/main" id="{A2DC70A6-4443-4D83-AE49-A0338437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00" y="2468880"/>
            <a:ext cx="5412960" cy="228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5">
            <a:extLst xmlns:a="http://schemas.openxmlformats.org/drawingml/2006/main">
              <a:ext uri="{FF2B5EF4-FFF2-40B4-BE49-F238E27FC236}">
                <a16:creationId xmlns:a16="http://schemas.microsoft.com/office/drawing/2014/main" id="{BEBCB3CD-3B49-49BD-9F36-6135133B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00" y="2468880"/>
            <a:ext cx="2405520" cy="228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69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Google Shape;206;p5">
            <a:extLst xmlns:a="http://schemas.openxmlformats.org/drawingml/2006/main">
              <a:ext uri="{FF2B5EF4-FFF2-40B4-BE49-F238E27FC236}">
                <a16:creationId xmlns:a16="http://schemas.microsoft.com/office/drawing/2014/main" id="{A88C7B2A-0139-42F2-8EBA-3840EF17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880" y="2318040"/>
            <a:ext cx="142596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56869F"/>
                </a:solidFill>
                <a:latin typeface="Arial"/>
                <a:ea typeface="Arial"/>
                <a:cs typeface="Arial"/>
              </a:rPr>
              <a:t>20.00%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Google Shape;207;p5">
            <a:extLst xmlns:a="http://schemas.openxmlformats.org/drawingml/2006/main">
              <a:ext uri="{FF2B5EF4-FFF2-40B4-BE49-F238E27FC236}">
                <a16:creationId xmlns:a16="http://schemas.microsoft.com/office/drawing/2014/main" id="{8B948038-E04C-4997-8767-842971F9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246120"/>
            <a:ext cx="3191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Predefined project goal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Google Shape;208;p5">
            <a:extLst xmlns:a="http://schemas.openxmlformats.org/drawingml/2006/main">
              <a:ext uri="{FF2B5EF4-FFF2-40B4-BE49-F238E27FC236}">
                <a16:creationId xmlns:a16="http://schemas.microsoft.com/office/drawing/2014/main" id="{786AD4E3-1DF7-492E-8230-C9CBADB8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00" y="3346560"/>
            <a:ext cx="5412960" cy="228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5">
            <a:extLst xmlns:a="http://schemas.openxmlformats.org/drawingml/2006/main">
              <a:ext uri="{FF2B5EF4-FFF2-40B4-BE49-F238E27FC236}">
                <a16:creationId xmlns:a16="http://schemas.microsoft.com/office/drawing/2014/main" id="{920594E0-D334-4DE3-A243-750FC84A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00" y="3346560"/>
            <a:ext cx="3608640" cy="228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5">
            <a:extLst xmlns:a="http://schemas.openxmlformats.org/drawingml/2006/main">
              <a:ext uri="{FF2B5EF4-FFF2-40B4-BE49-F238E27FC236}">
                <a16:creationId xmlns:a16="http://schemas.microsoft.com/office/drawing/2014/main" id="{3EF5E896-A64F-401F-9F21-B595B2E4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880" y="3195720"/>
            <a:ext cx="142596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BE7E5B"/>
                </a:solidFill>
                <a:latin typeface="Arial"/>
                <a:ea typeface="Arial"/>
                <a:cs typeface="Arial"/>
              </a:rPr>
              <a:t>30.00%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Google Shape;211;p5">
            <a:extLst xmlns:a="http://schemas.openxmlformats.org/drawingml/2006/main">
              <a:ext uri="{FF2B5EF4-FFF2-40B4-BE49-F238E27FC236}">
                <a16:creationId xmlns:a16="http://schemas.microsoft.com/office/drawing/2014/main" id="{F2D35CE0-1190-4BD5-8038-E824771B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123800"/>
            <a:ext cx="3191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Model-ranked top 20%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Google Shape;212;p5">
            <a:extLst xmlns:a="http://schemas.openxmlformats.org/drawingml/2006/main">
              <a:ext uri="{FF2B5EF4-FFF2-40B4-BE49-F238E27FC236}">
                <a16:creationId xmlns:a16="http://schemas.microsoft.com/office/drawing/2014/main" id="{79DD3300-0738-4D7F-B121-F95A7FB4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00" y="4224600"/>
            <a:ext cx="5412960" cy="228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5">
            <a:extLst xmlns:a="http://schemas.openxmlformats.org/drawingml/2006/main">
              <a:ext uri="{FF2B5EF4-FFF2-40B4-BE49-F238E27FC236}">
                <a16:creationId xmlns:a16="http://schemas.microsoft.com/office/drawing/2014/main" id="{E57895D0-9FE5-4021-9BFE-505971E1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00" y="4224600"/>
            <a:ext cx="4711680" cy="228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5">
            <a:extLst xmlns:a="http://schemas.openxmlformats.org/drawingml/2006/main">
              <a:ext uri="{FF2B5EF4-FFF2-40B4-BE49-F238E27FC236}">
                <a16:creationId xmlns:a16="http://schemas.microsoft.com/office/drawing/2014/main" id="{91B631B0-7003-4F1D-A139-C71C2833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880" y="4073760"/>
            <a:ext cx="142596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39.17%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Google Shape;215;p5">
            <a:extLst xmlns:a="http://schemas.openxmlformats.org/drawingml/2006/main">
              <a:ext uri="{FF2B5EF4-FFF2-40B4-BE49-F238E27FC236}">
                <a16:creationId xmlns:a16="http://schemas.microsoft.com/office/drawing/2014/main" id="{CD67A676-0323-4756-ACBB-66F55EE5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240" y="5321880"/>
            <a:ext cx="10506240" cy="5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5">
            <a:extLst xmlns:a="http://schemas.openxmlformats.org/drawingml/2006/main">
              <a:ext uri="{FF2B5EF4-FFF2-40B4-BE49-F238E27FC236}">
                <a16:creationId xmlns:a16="http://schemas.microsoft.com/office/drawing/2014/main" id="{92FB42B0-1C11-43DC-A527-170F5CD9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20" y="5468040"/>
            <a:ext cx="101404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39.17% observed capture  •  1.96× the random-selection expectation  •  ≥30% target met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1687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Google Shape;222;p6">
            <a:extLst xmlns:a="http://schemas.openxmlformats.org/drawingml/2006/main">
              <a:ext uri="{FF2B5EF4-FFF2-40B4-BE49-F238E27FC236}">
                <a16:creationId xmlns:a16="http://schemas.microsoft.com/office/drawing/2014/main" id="{83D8D958-2EE5-4E32-A4F8-5FEE99C6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6">
            <a:extLst xmlns:a="http://schemas.openxmlformats.org/drawingml/2006/main">
              <a:ext uri="{FF2B5EF4-FFF2-40B4-BE49-F238E27FC236}">
                <a16:creationId xmlns:a16="http://schemas.microsoft.com/office/drawing/2014/main" id="{44F61936-9E82-481A-A9F1-8E37B7F2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6576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32750" rIns="90000" bIns="327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6">
            <a:extLst xmlns:a="http://schemas.openxmlformats.org/drawingml/2006/main">
              <a:ext uri="{FF2B5EF4-FFF2-40B4-BE49-F238E27FC236}">
                <a16:creationId xmlns:a16="http://schemas.microsoft.com/office/drawing/2014/main" id="{C5288741-AE92-4032-9073-B2383CAB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311040"/>
            <a:ext cx="4151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OPERATING IMPLICATION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6">
            <a:extLst xmlns:a="http://schemas.openxmlformats.org/drawingml/2006/main">
              <a:ext uri="{FF2B5EF4-FFF2-40B4-BE49-F238E27FC236}">
                <a16:creationId xmlns:a16="http://schemas.microsoft.com/office/drawing/2014/main" id="{397DC3B2-A4FE-4F1D-859F-F00ED8C8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713160"/>
            <a:ext cx="10972440" cy="63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A 20% contact capacity selects 2,100 patients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6" name="Google Shape;226;p6">
            <a:extLst xmlns:a="http://schemas.openxmlformats.org/drawingml/2006/main">
              <a:ext uri="{FF2B5EF4-FFF2-40B4-BE49-F238E27FC236}">
                <a16:creationId xmlns:a16="http://schemas.microsoft.com/office/drawing/2014/main" id="{F376858B-6B92-4C9C-874E-0392302FF4BB}"/>
              </a:ext>
            </a:extLst>
          </p:cNvPr>
          <p:cNvCxnSpPr/>
          <p:nvPr/>
        </p:nvCxnSpPr>
        <p:spPr>
          <a:xfrm xmlns:a="http://schemas.openxmlformats.org/drawingml/2006/main">
            <a:off x="640080" y="1453680"/>
            <a:ext cx="10918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1C31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7" name="Google Shape;227;p6">
            <a:extLst xmlns:a="http://schemas.openxmlformats.org/drawingml/2006/main">
              <a:ext uri="{FF2B5EF4-FFF2-40B4-BE49-F238E27FC236}">
                <a16:creationId xmlns:a16="http://schemas.microsoft.com/office/drawing/2014/main" id="{7FDE2D34-7C92-440A-9D86-854AB461BD50}"/>
              </a:ext>
            </a:extLst>
          </p:cNvPr>
          <p:cNvCxnSpPr/>
          <p:nvPr/>
        </p:nvCxnSpPr>
        <p:spPr>
          <a:xfrm xmlns:a="http://schemas.openxmlformats.org/drawingml/2006/main">
            <a:off x="630720" y="6464520"/>
            <a:ext cx="10927440" cy="36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6">
            <a:extLst xmlns:a="http://schemas.openxmlformats.org/drawingml/2006/main">
              <a:ext uri="{FF2B5EF4-FFF2-40B4-BE49-F238E27FC236}">
                <a16:creationId xmlns:a16="http://schemas.microsoft.com/office/drawing/2014/main" id="{9FA2DECE-5C05-4C56-9FC6-5959779A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80" y="6519600"/>
            <a:ext cx="1049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Notebook 06 6.4 · Test top-20% ranking; descriptive operating simulation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Google Shape;229;p6">
            <a:extLst xmlns:a="http://schemas.openxmlformats.org/drawingml/2006/main">
              <a:ext uri="{FF2B5EF4-FFF2-40B4-BE49-F238E27FC236}">
                <a16:creationId xmlns:a16="http://schemas.microsoft.com/office/drawing/2014/main" id="{45F811C1-18AC-4484-9456-C10C44E1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20" y="6501240"/>
            <a:ext cx="4384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Google Shape;230;p6">
            <a:extLst xmlns:a="http://schemas.openxmlformats.org/drawingml/2006/main">
              <a:ext uri="{FF2B5EF4-FFF2-40B4-BE49-F238E27FC236}">
                <a16:creationId xmlns:a16="http://schemas.microsoft.com/office/drawing/2014/main" id="{6C0D6024-FEF0-4F5F-80D4-8BC463C7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80" y="1774080"/>
            <a:ext cx="5303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IF 10,496 PATIENTS ARE DISCHARGED...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1" name="Google Shape;231;p6">
            <a:extLst xmlns:a="http://schemas.openxmlformats.org/drawingml/2006/main">
              <a:ext uri="{FF2B5EF4-FFF2-40B4-BE49-F238E27FC236}">
                <a16:creationId xmlns:a16="http://schemas.microsoft.com/office/drawing/2014/main" id="{025E57F1-8BAA-4802-B062-DB914E7C20F7}"/>
              </a:ext>
            </a:extLst>
          </p:cNvPr>
          <p:cNvCxnSpPr/>
          <p:nvPr/>
        </p:nvCxnSpPr>
        <p:spPr>
          <a:xfrm xmlns:a="http://schemas.openxmlformats.org/drawingml/2006/main">
            <a:off x="786240" y="2331720"/>
            <a:ext cx="316404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p6">
            <a:extLst xmlns:a="http://schemas.openxmlformats.org/drawingml/2006/main">
              <a:ext uri="{FF2B5EF4-FFF2-40B4-BE49-F238E27FC236}">
                <a16:creationId xmlns:a16="http://schemas.microsoft.com/office/drawing/2014/main" id="{4395DD0F-42A4-4F43-9B94-AC101F46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2496240"/>
            <a:ext cx="3163320" cy="57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2,100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Google Shape;233;p6">
            <a:extLst xmlns:a="http://schemas.openxmlformats.org/drawingml/2006/main">
              <a:ext uri="{FF2B5EF4-FFF2-40B4-BE49-F238E27FC236}">
                <a16:creationId xmlns:a16="http://schemas.microsoft.com/office/drawing/2014/main" id="{45C549AF-4DFD-4E0C-8256-ADECFD23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3090600"/>
            <a:ext cx="3163320" cy="33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Selected for follow-up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Google Shape;234;p6">
            <a:extLst xmlns:a="http://schemas.openxmlformats.org/drawingml/2006/main">
              <a:ext uri="{FF2B5EF4-FFF2-40B4-BE49-F238E27FC236}">
                <a16:creationId xmlns:a16="http://schemas.microsoft.com/office/drawing/2014/main" id="{618E9A96-CF0C-4126-B825-3C2EAD7E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3493080"/>
            <a:ext cx="3163320" cy="55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Highest-risk 20%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5" name="Google Shape;235;p6">
            <a:extLst xmlns:a="http://schemas.openxmlformats.org/drawingml/2006/main">
              <a:ext uri="{FF2B5EF4-FFF2-40B4-BE49-F238E27FC236}">
                <a16:creationId xmlns:a16="http://schemas.microsoft.com/office/drawing/2014/main" id="{9443393E-9A97-463D-91FF-42BB51FABBCE}"/>
              </a:ext>
            </a:extLst>
          </p:cNvPr>
          <p:cNvCxnSpPr/>
          <p:nvPr/>
        </p:nvCxnSpPr>
        <p:spPr>
          <a:xfrm xmlns:a="http://schemas.openxmlformats.org/drawingml/2006/main">
            <a:off x="4535280" y="2331720"/>
            <a:ext cx="316404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6" name="Google Shape;236;p6">
            <a:extLst xmlns:a="http://schemas.openxmlformats.org/drawingml/2006/main">
              <a:ext uri="{FF2B5EF4-FFF2-40B4-BE49-F238E27FC236}">
                <a16:creationId xmlns:a16="http://schemas.microsoft.com/office/drawing/2014/main" id="{E2BD999E-812A-405C-BCF9-BAD5D92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496240"/>
            <a:ext cx="3163320" cy="57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369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Google Shape;237;p6">
            <a:extLst xmlns:a="http://schemas.openxmlformats.org/drawingml/2006/main">
              <a:ext uri="{FF2B5EF4-FFF2-40B4-BE49-F238E27FC236}">
                <a16:creationId xmlns:a16="http://schemas.microsoft.com/office/drawing/2014/main" id="{ABC89241-F4A6-47C4-AA52-1AFC35CF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090600"/>
            <a:ext cx="3163320" cy="33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Selected readmissions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Google Shape;238;p6">
            <a:extLst xmlns:a="http://schemas.openxmlformats.org/drawingml/2006/main">
              <a:ext uri="{FF2B5EF4-FFF2-40B4-BE49-F238E27FC236}">
                <a16:creationId xmlns:a16="http://schemas.microsoft.com/office/drawing/2014/main" id="{E86C62B4-4818-4725-8E10-21BF837B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493080"/>
            <a:ext cx="3163320" cy="55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Recorded events captured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9" name="Google Shape;239;p6">
            <a:extLst xmlns:a="http://schemas.openxmlformats.org/drawingml/2006/main">
              <a:ext uri="{FF2B5EF4-FFF2-40B4-BE49-F238E27FC236}">
                <a16:creationId xmlns:a16="http://schemas.microsoft.com/office/drawing/2014/main" id="{7DE9B0F9-C0B6-4F4D-BC6B-012D488B6AE7}"/>
              </a:ext>
            </a:extLst>
          </p:cNvPr>
          <p:cNvCxnSpPr/>
          <p:nvPr/>
        </p:nvCxnSpPr>
        <p:spPr>
          <a:xfrm xmlns:a="http://schemas.openxmlformats.org/drawingml/2006/main">
            <a:off x="8284320" y="2331720"/>
            <a:ext cx="316404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0" name="Google Shape;240;p6">
            <a:extLst xmlns:a="http://schemas.openxmlformats.org/drawingml/2006/main">
              <a:ext uri="{FF2B5EF4-FFF2-40B4-BE49-F238E27FC236}">
                <a16:creationId xmlns:a16="http://schemas.microsoft.com/office/drawing/2014/main" id="{9D4D0EA1-95F2-4382-8FCD-9A0DCFF1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320" y="2496240"/>
            <a:ext cx="3163320" cy="57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 u="none" strike="noStrike" cap="none">
                <a:solidFill>
                  <a:srgbClr val="BE7E5B"/>
                </a:solidFill>
                <a:latin typeface="Arial"/>
                <a:ea typeface="Arial"/>
                <a:cs typeface="Arial"/>
              </a:rPr>
              <a:t>573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Google Shape;241;p6">
            <a:extLst xmlns:a="http://schemas.openxmlformats.org/drawingml/2006/main">
              <a:ext uri="{FF2B5EF4-FFF2-40B4-BE49-F238E27FC236}">
                <a16:creationId xmlns:a16="http://schemas.microsoft.com/office/drawing/2014/main" id="{461AB18C-E1F5-41EE-9E69-AF98C3D0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320" y="3090600"/>
            <a:ext cx="3163320" cy="33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Readmissions not selected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Google Shape;242;p6">
            <a:extLst xmlns:a="http://schemas.openxmlformats.org/drawingml/2006/main">
              <a:ext uri="{FF2B5EF4-FFF2-40B4-BE49-F238E27FC236}">
                <a16:creationId xmlns:a16="http://schemas.microsoft.com/office/drawing/2014/main" id="{D0B1D352-CE51-4847-B9F3-EF86943D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320" y="3493080"/>
            <a:ext cx="3163320" cy="55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Outside selected top 20%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Google Shape;243;p6">
            <a:extLst xmlns:a="http://schemas.openxmlformats.org/drawingml/2006/main">
              <a:ext uri="{FF2B5EF4-FFF2-40B4-BE49-F238E27FC236}">
                <a16:creationId xmlns:a16="http://schemas.microsoft.com/office/drawing/2014/main" id="{E84DEA19-0B80-44FC-B67F-802ED5D5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08720"/>
            <a:ext cx="10506240" cy="868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Google Shape;244;p6">
            <a:extLst xmlns:a="http://schemas.openxmlformats.org/drawingml/2006/main">
              <a:ext uri="{FF2B5EF4-FFF2-40B4-BE49-F238E27FC236}">
                <a16:creationId xmlns:a16="http://schemas.microsoft.com/office/drawing/2014/main" id="{FD10D966-E27C-4304-A7F2-DB262F48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20" y="4754880"/>
            <a:ext cx="9948240" cy="612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1,731 selected patients had no recorded readmission. Contact benefit remains unknown.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Google Shape;245;p6">
            <a:extLst xmlns:a="http://schemas.openxmlformats.org/drawingml/2006/main">
              <a:ext uri="{FF2B5EF4-FFF2-40B4-BE49-F238E27FC236}">
                <a16:creationId xmlns:a16="http://schemas.microsoft.com/office/drawing/2014/main" id="{9EC0D5F6-B9C2-4646-990D-9961E30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61160"/>
            <a:ext cx="1089936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Google Shape;246;p6">
            <a:extLst xmlns:a="http://schemas.openxmlformats.org/drawingml/2006/main">
              <a:ext uri="{FF2B5EF4-FFF2-40B4-BE49-F238E27FC236}">
                <a16:creationId xmlns:a16="http://schemas.microsoft.com/office/drawing/2014/main" id="{7E680831-FF61-4A25-AAD7-0279B05A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61160"/>
            <a:ext cx="5004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6">
            <a:extLst xmlns:a="http://schemas.openxmlformats.org/drawingml/2006/main">
              <a:ext uri="{FF2B5EF4-FFF2-40B4-BE49-F238E27FC236}">
                <a16:creationId xmlns:a16="http://schemas.microsoft.com/office/drawing/2014/main" id="{D3EE0912-D29A-4C57-A236-E3E54779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34600"/>
            <a:ext cx="1047852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The simulation measures targeting performance—not prevented readmissions, savings, or actual clinical impact.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99102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7">
            <a:extLst xmlns:a="http://schemas.openxmlformats.org/drawingml/2006/main">
              <a:ext uri="{FF2B5EF4-FFF2-40B4-BE49-F238E27FC236}">
                <a16:creationId xmlns:a16="http://schemas.microsoft.com/office/drawing/2014/main" id="{04949065-4FD2-4782-AB93-DC9F8CFE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" name="Google Shape;254;p7">
            <a:extLst xmlns:a="http://schemas.openxmlformats.org/drawingml/2006/main">
              <a:ext uri="{FF2B5EF4-FFF2-40B4-BE49-F238E27FC236}">
                <a16:creationId xmlns:a16="http://schemas.microsoft.com/office/drawing/2014/main" id="{EE82DCFA-EF1B-4C7F-B138-7969F8C7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6576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32750" rIns="90000" bIns="327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7">
            <a:extLst xmlns:a="http://schemas.openxmlformats.org/drawingml/2006/main">
              <a:ext uri="{FF2B5EF4-FFF2-40B4-BE49-F238E27FC236}">
                <a16:creationId xmlns:a16="http://schemas.microsoft.com/office/drawing/2014/main" id="{C1E55150-A4AE-453A-A23F-D6CE448A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311040"/>
            <a:ext cx="4151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OPERATIONAL CHOICE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Google Shape;256;p7">
            <a:extLst xmlns:a="http://schemas.openxmlformats.org/drawingml/2006/main">
              <a:ext uri="{FF2B5EF4-FFF2-40B4-BE49-F238E27FC236}">
                <a16:creationId xmlns:a16="http://schemas.microsoft.com/office/drawing/2014/main" id="{459DF602-2AB4-4A57-BB7C-5389055A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713160"/>
            <a:ext cx="10972440" cy="63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More contacts detect more cases, at a capacity cost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57" name="Google Shape;257;p7">
            <a:extLst xmlns:a="http://schemas.openxmlformats.org/drawingml/2006/main">
              <a:ext uri="{FF2B5EF4-FFF2-40B4-BE49-F238E27FC236}">
                <a16:creationId xmlns:a16="http://schemas.microsoft.com/office/drawing/2014/main" id="{1AFA1E83-6AF9-4A1E-8A64-2E05F39919A8}"/>
              </a:ext>
            </a:extLst>
          </p:cNvPr>
          <p:cNvCxnSpPr/>
          <p:nvPr/>
        </p:nvCxnSpPr>
        <p:spPr>
          <a:xfrm xmlns:a="http://schemas.openxmlformats.org/drawingml/2006/main">
            <a:off x="640080" y="1453680"/>
            <a:ext cx="10918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1C31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8" name="Google Shape;258;p7">
            <a:extLst xmlns:a="http://schemas.openxmlformats.org/drawingml/2006/main">
              <a:ext uri="{FF2B5EF4-FFF2-40B4-BE49-F238E27FC236}">
                <a16:creationId xmlns:a16="http://schemas.microsoft.com/office/drawing/2014/main" id="{0478A180-2D80-4815-B579-D6A6D86DAC4B}"/>
              </a:ext>
            </a:extLst>
          </p:cNvPr>
          <p:cNvCxnSpPr/>
          <p:nvPr/>
        </p:nvCxnSpPr>
        <p:spPr>
          <a:xfrm xmlns:a="http://schemas.openxmlformats.org/drawingml/2006/main">
            <a:off x="630720" y="6464520"/>
            <a:ext cx="10927440" cy="36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p7">
            <a:extLst xmlns:a="http://schemas.openxmlformats.org/drawingml/2006/main">
              <a:ext uri="{FF2B5EF4-FFF2-40B4-BE49-F238E27FC236}">
                <a16:creationId xmlns:a16="http://schemas.microsoft.com/office/drawing/2014/main" id="{017FE7C8-B0D7-408A-B604-E6DD72DA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80" y="6519600"/>
            <a:ext cx="1049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Notebook 06 · Two fixed policies evaluated on the test set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Google Shape;260;p7">
            <a:extLst xmlns:a="http://schemas.openxmlformats.org/drawingml/2006/main">
              <a:ext uri="{FF2B5EF4-FFF2-40B4-BE49-F238E27FC236}">
                <a16:creationId xmlns:a16="http://schemas.microsoft.com/office/drawing/2014/main" id="{D7B6E434-9E2D-48B6-BC05-22F2418E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20" y="6501240"/>
            <a:ext cx="4384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07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61" name="Google Shape;261;p7">
            <a:extLst xmlns:a="http://schemas.openxmlformats.org/drawingml/2006/main">
              <a:ext uri="{FF2B5EF4-FFF2-40B4-BE49-F238E27FC236}">
                <a16:creationId xmlns:a16="http://schemas.microsoft.com/office/drawing/2014/main" id="{E4BF1268-CFD2-4F7A-BDC2-3634C26509BF}"/>
              </a:ext>
            </a:extLst>
          </p:cNvPr>
          <p:cNvCxnSpPr/>
          <p:nvPr/>
        </p:nvCxnSpPr>
        <p:spPr>
          <a:xfrm xmlns:a="http://schemas.openxmlformats.org/drawingml/2006/main">
            <a:off x="740520" y="1892520"/>
            <a:ext cx="501120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2" name="Google Shape;262;p7">
            <a:extLst xmlns:a="http://schemas.openxmlformats.org/drawingml/2006/main">
              <a:ext uri="{FF2B5EF4-FFF2-40B4-BE49-F238E27FC236}">
                <a16:creationId xmlns:a16="http://schemas.microsoft.com/office/drawing/2014/main" id="{62F5AC76-E814-42F2-8C2E-F2D057EF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0" y="2030040"/>
            <a:ext cx="469044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CONTACT TOP 20%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Google Shape;263;p7">
            <a:extLst xmlns:a="http://schemas.openxmlformats.org/drawingml/2006/main">
              <a:ext uri="{FF2B5EF4-FFF2-40B4-BE49-F238E27FC236}">
                <a16:creationId xmlns:a16="http://schemas.microsoft.com/office/drawing/2014/main" id="{26C2B321-7DBA-434D-9548-42556E9E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0" y="2541960"/>
            <a:ext cx="4763520" cy="52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2,100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Google Shape;264;p7">
            <a:extLst xmlns:a="http://schemas.openxmlformats.org/drawingml/2006/main">
              <a:ext uri="{FF2B5EF4-FFF2-40B4-BE49-F238E27FC236}">
                <a16:creationId xmlns:a16="http://schemas.microsoft.com/office/drawing/2014/main" id="{19D30BFC-D4A1-4F8B-978E-7B268E1A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0" y="3136320"/>
            <a:ext cx="455328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people selected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65" name="Google Shape;265;p7">
            <a:extLst xmlns:a="http://schemas.openxmlformats.org/drawingml/2006/main">
              <a:ext uri="{FF2B5EF4-FFF2-40B4-BE49-F238E27FC236}">
                <a16:creationId xmlns:a16="http://schemas.microsoft.com/office/drawing/2014/main" id="{020A85DD-E13C-4E05-95F4-7CD7216082F8}"/>
              </a:ext>
            </a:extLst>
          </p:cNvPr>
          <p:cNvCxnSpPr/>
          <p:nvPr/>
        </p:nvCxnSpPr>
        <p:spPr>
          <a:xfrm xmlns:a="http://schemas.openxmlformats.org/drawingml/2006/main">
            <a:off x="740520" y="3703320"/>
            <a:ext cx="494712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6" name="Google Shape;266;p7">
            <a:extLst xmlns:a="http://schemas.openxmlformats.org/drawingml/2006/main">
              <a:ext uri="{FF2B5EF4-FFF2-40B4-BE49-F238E27FC236}">
                <a16:creationId xmlns:a16="http://schemas.microsoft.com/office/drawing/2014/main" id="{CF1100D4-F1F6-4458-A6EA-CECE239A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0" y="3904560"/>
            <a:ext cx="27612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369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Google Shape;267;p7">
            <a:extLst xmlns:a="http://schemas.openxmlformats.org/drawingml/2006/main">
              <a:ext uri="{FF2B5EF4-FFF2-40B4-BE49-F238E27FC236}">
                <a16:creationId xmlns:a16="http://schemas.microsoft.com/office/drawing/2014/main" id="{9F7CBFF5-AD26-4A09-B84B-00E7DB72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060080"/>
            <a:ext cx="288000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39.17% captured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68" name="Google Shape;268;p7">
            <a:extLst xmlns:a="http://schemas.openxmlformats.org/drawingml/2006/main">
              <a:ext uri="{FF2B5EF4-FFF2-40B4-BE49-F238E27FC236}">
                <a16:creationId xmlns:a16="http://schemas.microsoft.com/office/drawing/2014/main" id="{BEF432B5-408D-48F9-9770-0FC20FD87C30}"/>
              </a:ext>
            </a:extLst>
          </p:cNvPr>
          <p:cNvCxnSpPr/>
          <p:nvPr/>
        </p:nvCxnSpPr>
        <p:spPr>
          <a:xfrm xmlns:a="http://schemas.openxmlformats.org/drawingml/2006/main">
            <a:off x="6309360" y="1892520"/>
            <a:ext cx="501120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" name="Google Shape;269;p7">
            <a:extLst xmlns:a="http://schemas.openxmlformats.org/drawingml/2006/main">
              <a:ext uri="{FF2B5EF4-FFF2-40B4-BE49-F238E27FC236}">
                <a16:creationId xmlns:a16="http://schemas.microsoft.com/office/drawing/2014/main" id="{B01AE36A-DA82-4E2D-A374-AB3022E2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030040"/>
            <a:ext cx="469044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trike="noStrike" cap="none">
                <a:solidFill>
                  <a:srgbClr val="BE7E5B"/>
                </a:solidFill>
                <a:latin typeface="Arial"/>
                <a:ea typeface="Arial"/>
                <a:cs typeface="Arial"/>
              </a:rPr>
              <a:t>SCORE ≥ 0.10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Google Shape;270;p7">
            <a:extLst xmlns:a="http://schemas.openxmlformats.org/drawingml/2006/main">
              <a:ext uri="{FF2B5EF4-FFF2-40B4-BE49-F238E27FC236}">
                <a16:creationId xmlns:a16="http://schemas.microsoft.com/office/drawing/2014/main" id="{684EA58F-D7CC-473F-A5F8-D0A941FF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41960"/>
            <a:ext cx="4763520" cy="52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2,932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Google Shape;271;p7">
            <a:extLst xmlns:a="http://schemas.openxmlformats.org/drawingml/2006/main">
              <a:ext uri="{FF2B5EF4-FFF2-40B4-BE49-F238E27FC236}">
                <a16:creationId xmlns:a16="http://schemas.microsoft.com/office/drawing/2014/main" id="{F7DE12C2-D691-4B3F-8C0A-06984E66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36320"/>
            <a:ext cx="455328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people flagged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2" name="Google Shape;272;p7">
            <a:extLst xmlns:a="http://schemas.openxmlformats.org/drawingml/2006/main">
              <a:ext uri="{FF2B5EF4-FFF2-40B4-BE49-F238E27FC236}">
                <a16:creationId xmlns:a16="http://schemas.microsoft.com/office/drawing/2014/main" id="{9CC7A0E0-12D7-4EE3-A445-B4EC0EA3D5C0}"/>
              </a:ext>
            </a:extLst>
          </p:cNvPr>
          <p:cNvCxnSpPr/>
          <p:nvPr/>
        </p:nvCxnSpPr>
        <p:spPr>
          <a:xfrm xmlns:a="http://schemas.openxmlformats.org/drawingml/2006/main">
            <a:off x="6309360" y="3703320"/>
            <a:ext cx="494712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7">
            <a:extLst xmlns:a="http://schemas.openxmlformats.org/drawingml/2006/main">
              <a:ext uri="{FF2B5EF4-FFF2-40B4-BE49-F238E27FC236}">
                <a16:creationId xmlns:a16="http://schemas.microsoft.com/office/drawing/2014/main" id="{4692C8D0-1626-45E4-AB5A-0DA33C96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04560"/>
            <a:ext cx="27612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BE7E5B"/>
                </a:solidFill>
                <a:latin typeface="Arial"/>
                <a:ea typeface="Arial"/>
                <a:cs typeface="Arial"/>
              </a:rPr>
              <a:t>450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Google Shape;274;p7">
            <a:extLst xmlns:a="http://schemas.openxmlformats.org/drawingml/2006/main">
              <a:ext uri="{FF2B5EF4-FFF2-40B4-BE49-F238E27FC236}">
                <a16:creationId xmlns:a16="http://schemas.microsoft.com/office/drawing/2014/main" id="{73465656-D0A2-4722-BFB1-EA96F525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320" y="4060080"/>
            <a:ext cx="2880000" cy="26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47.77% captured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Google Shape;275;p7">
            <a:extLst xmlns:a="http://schemas.openxmlformats.org/drawingml/2006/main">
              <a:ext uri="{FF2B5EF4-FFF2-40B4-BE49-F238E27FC236}">
                <a16:creationId xmlns:a16="http://schemas.microsoft.com/office/drawing/2014/main" id="{FCF72EDC-E66B-402F-AB76-7BA92CCA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240" y="4956120"/>
            <a:ext cx="10506240" cy="64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6" name="Google Shape;276;p7">
            <a:extLst xmlns:a="http://schemas.openxmlformats.org/drawingml/2006/main">
              <a:ext uri="{FF2B5EF4-FFF2-40B4-BE49-F238E27FC236}">
                <a16:creationId xmlns:a16="http://schemas.microsoft.com/office/drawing/2014/main" id="{BE53CEDD-01F2-4E49-A0D9-A5B5B621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80" y="5102280"/>
            <a:ext cx="10039680" cy="42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The higher-workload policy flags 832 more people and finds 81 additional readmissions.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Google Shape;277;p7">
            <a:extLst xmlns:a="http://schemas.openxmlformats.org/drawingml/2006/main">
              <a:ext uri="{FF2B5EF4-FFF2-40B4-BE49-F238E27FC236}">
                <a16:creationId xmlns:a16="http://schemas.microsoft.com/office/drawing/2014/main" id="{B70A5D59-64B2-4577-805D-00AF67C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916240"/>
            <a:ext cx="1089936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Google Shape;278;p7">
            <a:extLst xmlns:a="http://schemas.openxmlformats.org/drawingml/2006/main">
              <a:ext uri="{FF2B5EF4-FFF2-40B4-BE49-F238E27FC236}">
                <a16:creationId xmlns:a16="http://schemas.microsoft.com/office/drawing/2014/main" id="{FB169519-B338-4B9D-BF8F-9258254B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916240"/>
            <a:ext cx="5004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Google Shape;279;p7">
            <a:extLst xmlns:a="http://schemas.openxmlformats.org/drawingml/2006/main">
              <a:ext uri="{FF2B5EF4-FFF2-40B4-BE49-F238E27FC236}">
                <a16:creationId xmlns:a16="http://schemas.microsoft.com/office/drawing/2014/main" id="{18A19ED3-3329-4BDC-859B-F78467CB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47852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Agree on staffing capacity and acceptable miss rates before selecting a contact rule.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691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74C88-ACF4-42B4-A564-080E3BBB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"/>
            <a:ext cx="414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5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57B"/>
                </a:solidFill>
                <a:latin typeface="Arial"/>
                <a:ea typeface="Arial"/>
                <a:cs typeface="Arial"/>
              </a:rPr>
              <a:t>FINANCIAL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16D22-7CD5-4DC9-9026-063C3AEC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00" b="1">
                <a:solidFill>
                  <a:srgbClr val="1C3138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900" b="1">
                <a:solidFill>
                  <a:srgbClr val="1C3138"/>
                </a:solidFill>
                <a:latin typeface="Georgia"/>
                <a:ea typeface="Georgia"/>
                <a:cs typeface="Georgia"/>
              </a:defRPr>
            </a:pPr>
            <a:r>
              <a:rPr sz="2900" b="1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Illustrative ROI depends on follow-up benefit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3FCCB-A0B1-42B0-BBB2-90A492F6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66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675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7B"/>
                </a:solidFill>
                <a:latin typeface="Arial"/>
                <a:ea typeface="Arial"/>
                <a:cs typeface="Arial"/>
              </a:rPr>
              <a:t>HYPOTHETICAL INPUTS · USD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7092A-54AD-4DE8-82E6-6A40AE2ECAD2}"/>
              </a:ext>
            </a:extLst>
          </p:cNvPr>
          <p:cNvGraphicFramePr/>
          <p:nvPr/>
        </p:nvGraphicFramePr>
        <p:xfrm>
          <a:off xmlns:a="http://schemas.openxmlformats.org/drawingml/2006/main" x="723900" y="2190750"/>
          <a:ext xmlns:a="http://schemas.openxmlformats.org/drawingml/2006/main" cx="4619625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476375"/>
              </a:tblGrid>
              <a:tr h="5334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Assumption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5DEDB"/>
                      </a:solidFill>
                      <a:prstDash val="solid"/>
                    </a:lnL>
                    <a:lnR w="4763">
                      <a:solidFill>
                        <a:srgbClr val="D5DEDB"/>
                      </a:solidFill>
                      <a:prstDash val="solid"/>
                    </a:lnR>
                    <a:lnT w="4763">
                      <a:solidFill>
                        <a:srgbClr val="D5DEDB"/>
                      </a:solidFill>
                      <a:prstDash val="solid"/>
                    </a:lnT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1C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T w="4763">
                      <a:solidFill>
                        <a:srgbClr val="D5DEDB"/>
                      </a:solidFill>
                      <a:prstDash val="solid"/>
                    </a:lnT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1C31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Contact cost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5DEDB"/>
                      </a:solidFill>
                      <a:prstDash val="solid"/>
                    </a:lnL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10 × 2,100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Program setup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5DEDB"/>
                      </a:solidFill>
                      <a:prstDash val="solid"/>
                    </a:lnL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5,000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Value per avoided event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5DEDB"/>
                      </a:solidFill>
                      <a:prstDash val="solid"/>
                    </a:lnL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3,000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Total program cost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5DEDB"/>
                      </a:solidFill>
                      <a:prstDash val="solid"/>
                    </a:lnL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26,000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8D0DC-4496-4668-9531-D478390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621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66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675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7B"/>
                </a:solidFill>
                <a:latin typeface="Arial"/>
                <a:ea typeface="Arial"/>
                <a:cs typeface="Arial"/>
              </a:rPr>
              <a:t>SCENARIOS AMONG 369 REACHED EVENTS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E9BE6-D0B0-407E-86F5-30444A293D28}"/>
              </a:ext>
            </a:extLst>
          </p:cNvPr>
          <p:cNvGraphicFramePr/>
          <p:nvPr/>
        </p:nvGraphicFramePr>
        <p:xfrm>
          <a:off xmlns:a="http://schemas.openxmlformats.org/drawingml/2006/main" x="5762625" y="2190750"/>
          <a:ext xmlns:a="http://schemas.openxmlformats.org/drawingml/2006/main" cx="57150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1190625"/>
                <a:gridCol w="1714500"/>
                <a:gridCol w="1524000"/>
              </a:tblGrid>
              <a:tr h="5334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Prevented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5DEDB"/>
                      </a:solidFill>
                      <a:prstDash val="solid"/>
                    </a:lnL>
                    <a:lnR w="4763">
                      <a:solidFill>
                        <a:srgbClr val="D5DEDB"/>
                      </a:solidFill>
                      <a:prstDash val="solid"/>
                    </a:lnR>
                    <a:lnT w="4763">
                      <a:solidFill>
                        <a:srgbClr val="D5DEDB"/>
                      </a:solidFill>
                      <a:prstDash val="solid"/>
                    </a:lnT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1C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Avoided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T w="4763">
                      <a:solidFill>
                        <a:srgbClr val="D5DEDB"/>
                      </a:solidFill>
                      <a:prstDash val="solid"/>
                    </a:lnT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1C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Net (USD)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T w="4763">
                      <a:solidFill>
                        <a:srgbClr val="D5DEDB"/>
                      </a:solidFill>
                      <a:prstDash val="solid"/>
                    </a:lnT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1C3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ROI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T w="4763">
                      <a:solidFill>
                        <a:srgbClr val="D5DEDB"/>
                      </a:solidFill>
                      <a:prstDash val="solid"/>
                    </a:lnT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1C31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2%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5DEDB"/>
                      </a:solidFill>
                      <a:prstDash val="solid"/>
                    </a:lnL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7.38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−3,860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−14.8%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5%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5DEDB"/>
                      </a:solidFill>
                      <a:prstDash val="solid"/>
                    </a:lnL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18.45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29,350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112.9%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10%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5DEDB"/>
                      </a:solidFill>
                      <a:prstDash val="solid"/>
                    </a:lnL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36.90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84,700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3138"/>
                          </a:solidFill>
                        </a:rPr>
                        <a:t>325.8%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5DEDB"/>
                      </a:solidFill>
                      <a:prstDash val="solid"/>
                    </a:lnR>
                    <a:lnB w="4763">
                      <a:solidFill>
                        <a:srgbClr val="D5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8A9B3-8C34-47FE-9647-818EB0A9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72000"/>
            <a:ext cx="5667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397A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97A7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7A7C"/>
                </a:solidFill>
                <a:latin typeface="Arial"/>
                <a:ea typeface="Arial"/>
                <a:cs typeface="Arial"/>
              </a:rPr>
              <a:t>Break-even: 2.35% of reached events</a:t>
            </a:r>
          </a:p>
          <a:p xmlns:a="http://schemas.openxmlformats.org/drawingml/2006/main">
            <a:pPr>
              <a:defRPr sz="1950" b="1">
                <a:solidFill>
                  <a:srgbClr val="397A7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7A7C"/>
                </a:solidFill>
                <a:latin typeface="Arial"/>
                <a:ea typeface="Arial"/>
                <a:cs typeface="Arial"/>
              </a:rPr>
              <a:t>≈9 avoided readmissions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4DC5D-60F3-4E49-8F0D-DA3DB390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C31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C31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3138"/>
                </a:solidFill>
                <a:latin typeface="Arial"/>
                <a:ea typeface="Arial"/>
                <a:cs typeface="Arial"/>
              </a:rPr>
              <a:t>All financial inputs and prevention rates are assumptions. Actual savings and clinical benefit remain unmeasured.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78B73-FE6F-468E-AA28-75383AA2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047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00" b="0">
                <a:solidFill>
                  <a:srgbClr val="66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0" b="0">
                <a:solidFill>
                  <a:srgbClr val="66757B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66757B"/>
                </a:solidFill>
                <a:latin typeface="Arial"/>
                <a:ea typeface="Arial"/>
                <a:cs typeface="Arial"/>
              </a:rPr>
              <a:t>Net value = avoided events × USD 3,000 − USD 26,000. ROI = net value / USD 26,000.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EE96B-0F79-42EE-ABAC-398D252C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5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5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28604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Google Shape;285;p8">
            <a:extLst xmlns:a="http://schemas.openxmlformats.org/drawingml/2006/main">
              <a:ext uri="{FF2B5EF4-FFF2-40B4-BE49-F238E27FC236}">
                <a16:creationId xmlns:a16="http://schemas.microsoft.com/office/drawing/2014/main" id="{5F18B41E-D0F2-4F47-A636-CD5E8C8D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6" name="Google Shape;286;p8">
            <a:extLst xmlns:a="http://schemas.openxmlformats.org/drawingml/2006/main">
              <a:ext uri="{FF2B5EF4-FFF2-40B4-BE49-F238E27FC236}">
                <a16:creationId xmlns:a16="http://schemas.microsoft.com/office/drawing/2014/main" id="{AD3F4733-1F8E-49F8-BDEF-146DE7DD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6576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32750" rIns="90000" bIns="327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8">
            <a:extLst xmlns:a="http://schemas.openxmlformats.org/drawingml/2006/main">
              <a:ext uri="{FF2B5EF4-FFF2-40B4-BE49-F238E27FC236}">
                <a16:creationId xmlns:a16="http://schemas.microsoft.com/office/drawing/2014/main" id="{18FC4976-DFEE-4836-B17C-CF97ADF9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311040"/>
            <a:ext cx="4151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FAIRNESS AND TRUST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Google Shape;288;p8">
            <a:extLst xmlns:a="http://schemas.openxmlformats.org/drawingml/2006/main">
              <a:ext uri="{FF2B5EF4-FFF2-40B4-BE49-F238E27FC236}">
                <a16:creationId xmlns:a16="http://schemas.microsoft.com/office/drawing/2014/main" id="{122DC47D-1D93-471E-9E57-DEE34026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713160"/>
            <a:ext cx="10972440" cy="63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Different groups are reached at different rates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9" name="Google Shape;289;p8">
            <a:extLst xmlns:a="http://schemas.openxmlformats.org/drawingml/2006/main">
              <a:ext uri="{FF2B5EF4-FFF2-40B4-BE49-F238E27FC236}">
                <a16:creationId xmlns:a16="http://schemas.microsoft.com/office/drawing/2014/main" id="{1B9B0B11-1D57-4C78-A7BA-4B528096454F}"/>
              </a:ext>
            </a:extLst>
          </p:cNvPr>
          <p:cNvCxnSpPr/>
          <p:nvPr/>
        </p:nvCxnSpPr>
        <p:spPr>
          <a:xfrm xmlns:a="http://schemas.openxmlformats.org/drawingml/2006/main">
            <a:off x="640080" y="1453680"/>
            <a:ext cx="10918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1C31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0" name="Google Shape;290;p8">
            <a:extLst xmlns:a="http://schemas.openxmlformats.org/drawingml/2006/main">
              <a:ext uri="{FF2B5EF4-FFF2-40B4-BE49-F238E27FC236}">
                <a16:creationId xmlns:a16="http://schemas.microsoft.com/office/drawing/2014/main" id="{E9EDC05F-EF00-4084-B366-F3120E7E6D28}"/>
              </a:ext>
            </a:extLst>
          </p:cNvPr>
          <p:cNvCxnSpPr/>
          <p:nvPr/>
        </p:nvCxnSpPr>
        <p:spPr>
          <a:xfrm xmlns:a="http://schemas.openxmlformats.org/drawingml/2006/main">
            <a:off x="630720" y="6464520"/>
            <a:ext cx="10927440" cy="36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1" name="Google Shape;291;p8">
            <a:extLst xmlns:a="http://schemas.openxmlformats.org/drawingml/2006/main">
              <a:ext uri="{FF2B5EF4-FFF2-40B4-BE49-F238E27FC236}">
                <a16:creationId xmlns:a16="http://schemas.microsoft.com/office/drawing/2014/main" id="{06BA3A99-8E35-4856-B7A3-3D6631E5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80" y="6519600"/>
            <a:ext cx="1049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Notebook 06 §6.8 · Test top-20% ranking; recall of recorded readmissions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Google Shape;292;p8">
            <a:extLst xmlns:a="http://schemas.openxmlformats.org/drawingml/2006/main">
              <a:ext uri="{FF2B5EF4-FFF2-40B4-BE49-F238E27FC236}">
                <a16:creationId xmlns:a16="http://schemas.microsoft.com/office/drawing/2014/main" id="{31CBA641-A082-4115-A076-2F7177E0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20" y="6501240"/>
            <a:ext cx="438480" cy="18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09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Google Shape;293;p8">
            <a:extLst xmlns:a="http://schemas.openxmlformats.org/drawingml/2006/main">
              <a:ext uri="{FF2B5EF4-FFF2-40B4-BE49-F238E27FC236}">
                <a16:creationId xmlns:a16="http://schemas.microsoft.com/office/drawing/2014/main" id="{5481FBE8-7217-4AF1-8923-AAC7487B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74080"/>
            <a:ext cx="53031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SHARE OF EACH GROUP’S READMISSIONS INSIDE THE SELECTED GROUP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Google Shape;294;p8">
            <a:extLst xmlns:a="http://schemas.openxmlformats.org/drawingml/2006/main">
              <a:ext uri="{FF2B5EF4-FFF2-40B4-BE49-F238E27FC236}">
                <a16:creationId xmlns:a16="http://schemas.microsoft.com/office/drawing/2014/main" id="{3601FDD0-B637-44DE-BFB1-3C2F0D57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2148840"/>
            <a:ext cx="22672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Caucasian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Google Shape;295;p8">
            <a:extLst xmlns:a="http://schemas.openxmlformats.org/drawingml/2006/main">
              <a:ext uri="{FF2B5EF4-FFF2-40B4-BE49-F238E27FC236}">
                <a16:creationId xmlns:a16="http://schemas.microsoft.com/office/drawing/2014/main" id="{E32340D0-D4A7-4536-A00C-67459A00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40" y="2286000"/>
            <a:ext cx="66657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6" name="Google Shape;296;p8">
            <a:extLst xmlns:a="http://schemas.openxmlformats.org/drawingml/2006/main">
              <a:ext uri="{FF2B5EF4-FFF2-40B4-BE49-F238E27FC236}">
                <a16:creationId xmlns:a16="http://schemas.microsoft.com/office/drawing/2014/main" id="{E268940B-CB1C-4DD1-BFC6-14FAC8A5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40" y="2286000"/>
            <a:ext cx="558828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8">
            <a:extLst xmlns:a="http://schemas.openxmlformats.org/drawingml/2006/main">
              <a:ext uri="{FF2B5EF4-FFF2-40B4-BE49-F238E27FC236}">
                <a16:creationId xmlns:a16="http://schemas.microsoft.com/office/drawing/2014/main" id="{15D25C9E-21B8-4C1C-A996-CD110C21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2135160"/>
            <a:ext cx="8042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41.92%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8" name="Google Shape;298;p8">
            <a:extLst xmlns:a="http://schemas.openxmlformats.org/drawingml/2006/main">
              <a:ext uri="{FF2B5EF4-FFF2-40B4-BE49-F238E27FC236}">
                <a16:creationId xmlns:a16="http://schemas.microsoft.com/office/drawing/2014/main" id="{7794A7FB-FE3E-4492-9FDE-9D54C592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2779920"/>
            <a:ext cx="22672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African American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Google Shape;299;p8">
            <a:extLst xmlns:a="http://schemas.openxmlformats.org/drawingml/2006/main">
              <a:ext uri="{FF2B5EF4-FFF2-40B4-BE49-F238E27FC236}">
                <a16:creationId xmlns:a16="http://schemas.microsoft.com/office/drawing/2014/main" id="{6D941420-33BC-4B08-BD0A-0D2D3DCA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40" y="2917080"/>
            <a:ext cx="66657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0" name="Google Shape;300;p8">
            <a:extLst xmlns:a="http://schemas.openxmlformats.org/drawingml/2006/main">
              <a:ext uri="{FF2B5EF4-FFF2-40B4-BE49-F238E27FC236}">
                <a16:creationId xmlns:a16="http://schemas.microsoft.com/office/drawing/2014/main" id="{4911B11C-F7A5-4296-9F14-AC921A72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40" y="2917080"/>
            <a:ext cx="36939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1" name="Google Shape;301;p8">
            <a:extLst xmlns:a="http://schemas.openxmlformats.org/drawingml/2006/main">
              <a:ext uri="{FF2B5EF4-FFF2-40B4-BE49-F238E27FC236}">
                <a16:creationId xmlns:a16="http://schemas.microsoft.com/office/drawing/2014/main" id="{E6F1D30A-74E6-4829-9949-40E1A96C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2766240"/>
            <a:ext cx="8042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trike="noStrike" cap="none">
                <a:solidFill>
                  <a:srgbClr val="BE7E5B"/>
                </a:solidFill>
                <a:latin typeface="Arial"/>
                <a:ea typeface="Arial"/>
                <a:cs typeface="Arial"/>
              </a:rPr>
              <a:t>27.71%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Google Shape;302;p8">
            <a:extLst xmlns:a="http://schemas.openxmlformats.org/drawingml/2006/main">
              <a:ext uri="{FF2B5EF4-FFF2-40B4-BE49-F238E27FC236}">
                <a16:creationId xmlns:a16="http://schemas.microsoft.com/office/drawing/2014/main" id="{95266F4C-05CB-4C2B-B10E-8D19779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3410640"/>
            <a:ext cx="22672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Female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Google Shape;303;p8">
            <a:extLst xmlns:a="http://schemas.openxmlformats.org/drawingml/2006/main">
              <a:ext uri="{FF2B5EF4-FFF2-40B4-BE49-F238E27FC236}">
                <a16:creationId xmlns:a16="http://schemas.microsoft.com/office/drawing/2014/main" id="{A43DC21C-3292-43C9-8874-10693D62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40" y="3547800"/>
            <a:ext cx="66657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4" name="Google Shape;304;p8">
            <a:extLst xmlns:a="http://schemas.openxmlformats.org/drawingml/2006/main">
              <a:ext uri="{FF2B5EF4-FFF2-40B4-BE49-F238E27FC236}">
                <a16:creationId xmlns:a16="http://schemas.microsoft.com/office/drawing/2014/main" id="{19DAA244-4683-4C4C-88C2-BA5FD679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40" y="3547800"/>
            <a:ext cx="560988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Google Shape;305;p8">
            <a:extLst xmlns:a="http://schemas.openxmlformats.org/drawingml/2006/main">
              <a:ext uri="{FF2B5EF4-FFF2-40B4-BE49-F238E27FC236}">
                <a16:creationId xmlns:a16="http://schemas.microsoft.com/office/drawing/2014/main" id="{A37F05AF-2603-4A9A-B620-14C93985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3396960"/>
            <a:ext cx="8042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42.08%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6" name="Google Shape;306;p8">
            <a:extLst xmlns:a="http://schemas.openxmlformats.org/drawingml/2006/main">
              <a:ext uri="{FF2B5EF4-FFF2-40B4-BE49-F238E27FC236}">
                <a16:creationId xmlns:a16="http://schemas.microsoft.com/office/drawing/2014/main" id="{54BD0EFC-A0CB-4A21-A485-430A536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40" y="4041720"/>
            <a:ext cx="226728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Male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Google Shape;307;p8">
            <a:extLst xmlns:a="http://schemas.openxmlformats.org/drawingml/2006/main">
              <a:ext uri="{FF2B5EF4-FFF2-40B4-BE49-F238E27FC236}">
                <a16:creationId xmlns:a16="http://schemas.microsoft.com/office/drawing/2014/main" id="{54DE8A2B-E9DD-42F7-A71E-1F302C60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40" y="4178880"/>
            <a:ext cx="666576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8" name="Google Shape;308;p8">
            <a:extLst xmlns:a="http://schemas.openxmlformats.org/drawingml/2006/main">
              <a:ext uri="{FF2B5EF4-FFF2-40B4-BE49-F238E27FC236}">
                <a16:creationId xmlns:a16="http://schemas.microsoft.com/office/drawing/2014/main" id="{51DEF413-A7DE-4ED9-94CA-715AB139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40" y="4178880"/>
            <a:ext cx="4784400" cy="164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9" name="Google Shape;309;p8">
            <a:extLst xmlns:a="http://schemas.openxmlformats.org/drawingml/2006/main">
              <a:ext uri="{FF2B5EF4-FFF2-40B4-BE49-F238E27FC236}">
                <a16:creationId xmlns:a16="http://schemas.microsoft.com/office/drawing/2014/main" id="{DBB6DB03-F683-402D-ADE6-B45D5CCA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4028040"/>
            <a:ext cx="8042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trike="noStrike" cap="none">
                <a:solidFill>
                  <a:srgbClr val="397A7C"/>
                </a:solidFill>
                <a:latin typeface="Arial"/>
                <a:ea typeface="Arial"/>
                <a:cs typeface="Arial"/>
              </a:rPr>
              <a:t>35.89%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Google Shape;310;p8">
            <a:extLst xmlns:a="http://schemas.openxmlformats.org/drawingml/2006/main">
              <a:ext uri="{FF2B5EF4-FFF2-40B4-BE49-F238E27FC236}">
                <a16:creationId xmlns:a16="http://schemas.microsoft.com/office/drawing/2014/main" id="{5495B045-88D5-4D6F-9631-BA0ADDBF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83480"/>
            <a:ext cx="10506240" cy="630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1" name="Google Shape;311;p8">
            <a:extLst xmlns:a="http://schemas.openxmlformats.org/drawingml/2006/main">
              <a:ext uri="{FF2B5EF4-FFF2-40B4-BE49-F238E27FC236}">
                <a16:creationId xmlns:a16="http://schemas.microsoft.com/office/drawing/2014/main" id="{DC97EAF5-C0AC-4FF4-AD83-4012F3A8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11640"/>
            <a:ext cx="99849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A 14.21 percentage-point race recall gap deserves investigation before operational use.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Google Shape;312;p8">
            <a:extLst xmlns:a="http://schemas.openxmlformats.org/drawingml/2006/main">
              <a:ext uri="{FF2B5EF4-FFF2-40B4-BE49-F238E27FC236}">
                <a16:creationId xmlns:a16="http://schemas.microsoft.com/office/drawing/2014/main" id="{4600D7CC-03C9-41EF-B7F6-5025C50E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925240"/>
            <a:ext cx="1089936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3" name="Google Shape;313;p8">
            <a:extLst xmlns:a="http://schemas.openxmlformats.org/drawingml/2006/main">
              <a:ext uri="{FF2B5EF4-FFF2-40B4-BE49-F238E27FC236}">
                <a16:creationId xmlns:a16="http://schemas.microsoft.com/office/drawing/2014/main" id="{5911DAE4-77FB-4EA3-A199-687C2902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925240"/>
            <a:ext cx="5004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" name="Google Shape;314;p8">
            <a:extLst xmlns:a="http://schemas.openxmlformats.org/drawingml/2006/main">
              <a:ext uri="{FF2B5EF4-FFF2-40B4-BE49-F238E27FC236}">
                <a16:creationId xmlns:a16="http://schemas.microsoft.com/office/drawing/2014/main" id="{7F99BE87-3A60-4D8C-A6B2-60D11B10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98320"/>
            <a:ext cx="1047852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The gap is observational and does not identify a cause. Smaller subgroups have greater uncertainty.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89556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Google Shape;320;p9">
            <a:extLst xmlns:a="http://schemas.openxmlformats.org/drawingml/2006/main">
              <a:ext uri="{FF2B5EF4-FFF2-40B4-BE49-F238E27FC236}">
                <a16:creationId xmlns:a16="http://schemas.microsoft.com/office/drawing/2014/main" id="{427E10CB-C632-49A4-B2BE-031BD323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1" name="Google Shape;321;p9">
            <a:extLst xmlns:a="http://schemas.openxmlformats.org/drawingml/2006/main">
              <a:ext uri="{FF2B5EF4-FFF2-40B4-BE49-F238E27FC236}">
                <a16:creationId xmlns:a16="http://schemas.microsoft.com/office/drawing/2014/main" id="{1645EEE8-F34B-4319-B538-5E0AAF52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6576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32750" rIns="90000" bIns="327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2" name="Google Shape;322;p9">
            <a:extLst xmlns:a="http://schemas.openxmlformats.org/drawingml/2006/main">
              <a:ext uri="{FF2B5EF4-FFF2-40B4-BE49-F238E27FC236}">
                <a16:creationId xmlns:a16="http://schemas.microsoft.com/office/drawing/2014/main" id="{329DC336-E02F-4509-82D9-502EBC06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680"/>
            <a:ext cx="51202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DECISION SCIENCE  /  CAPSTONE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Google Shape;323;p9">
            <a:extLst xmlns:a="http://schemas.openxmlformats.org/drawingml/2006/main">
              <a:ext uri="{FF2B5EF4-FFF2-40B4-BE49-F238E27FC236}">
                <a16:creationId xmlns:a16="http://schemas.microsoft.com/office/drawing/2014/main" id="{02D3A9E8-252E-416F-8EB3-C75D3391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311040"/>
            <a:ext cx="4151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WHAT THE MODEL CANNOT PROVE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4" name="Google Shape;324;p9">
            <a:extLst xmlns:a="http://schemas.openxmlformats.org/drawingml/2006/main">
              <a:ext uri="{FF2B5EF4-FFF2-40B4-BE49-F238E27FC236}">
                <a16:creationId xmlns:a16="http://schemas.microsoft.com/office/drawing/2014/main" id="{C334EABE-17B1-4BB2-8434-087E05C3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713160"/>
            <a:ext cx="10972440" cy="63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A promising ranking result is not clinical readiness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25" name="Google Shape;325;p9">
            <a:extLst xmlns:a="http://schemas.openxmlformats.org/drawingml/2006/main">
              <a:ext uri="{FF2B5EF4-FFF2-40B4-BE49-F238E27FC236}">
                <a16:creationId xmlns:a16="http://schemas.microsoft.com/office/drawing/2014/main" id="{2FF7476C-E038-4F07-AB8F-DDD70FF98680}"/>
              </a:ext>
            </a:extLst>
          </p:cNvPr>
          <p:cNvCxnSpPr/>
          <p:nvPr/>
        </p:nvCxnSpPr>
        <p:spPr>
          <a:xfrm xmlns:a="http://schemas.openxmlformats.org/drawingml/2006/main">
            <a:off x="640080" y="1453680"/>
            <a:ext cx="10918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1C31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6" name="Google Shape;326;p9">
            <a:extLst xmlns:a="http://schemas.openxmlformats.org/drawingml/2006/main">
              <a:ext uri="{FF2B5EF4-FFF2-40B4-BE49-F238E27FC236}">
                <a16:creationId xmlns:a16="http://schemas.microsoft.com/office/drawing/2014/main" id="{B43AE46C-8206-4641-9372-7C28C59680A5}"/>
              </a:ext>
            </a:extLst>
          </p:cNvPr>
          <p:cNvCxnSpPr/>
          <p:nvPr/>
        </p:nvCxnSpPr>
        <p:spPr>
          <a:xfrm xmlns:a="http://schemas.openxmlformats.org/drawingml/2006/main">
            <a:off x="630720" y="6464520"/>
            <a:ext cx="10927440" cy="36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7" name="Google Shape;327;p9">
            <a:extLst xmlns:a="http://schemas.openxmlformats.org/drawingml/2006/main">
              <a:ext uri="{FF2B5EF4-FFF2-40B4-BE49-F238E27FC236}">
                <a16:creationId xmlns:a16="http://schemas.microsoft.com/office/drawing/2014/main" id="{46DD3957-F3AD-4475-95B9-B32481E1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80" y="6519600"/>
            <a:ext cx="1049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Notebook 06 §6.7–6.10 · Limitations and risks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Google Shape;328;p9">
            <a:extLst xmlns:a="http://schemas.openxmlformats.org/drawingml/2006/main">
              <a:ext uri="{FF2B5EF4-FFF2-40B4-BE49-F238E27FC236}">
                <a16:creationId xmlns:a16="http://schemas.microsoft.com/office/drawing/2014/main" id="{55016FAB-EAAF-44F4-942E-80728F79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20" y="6501240"/>
            <a:ext cx="438480" cy="18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10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29" name="Google Shape;329;p9">
            <a:extLst xmlns:a="http://schemas.openxmlformats.org/drawingml/2006/main">
              <a:ext uri="{FF2B5EF4-FFF2-40B4-BE49-F238E27FC236}">
                <a16:creationId xmlns:a16="http://schemas.microsoft.com/office/drawing/2014/main" id="{DF185385-1A5F-465A-A645-FB2D08327362}"/>
              </a:ext>
            </a:extLst>
          </p:cNvPr>
          <p:cNvCxnSpPr/>
          <p:nvPr/>
        </p:nvCxnSpPr>
        <p:spPr>
          <a:xfrm xmlns:a="http://schemas.openxmlformats.org/drawingml/2006/main">
            <a:off x="777240" y="1764720"/>
            <a:ext cx="1053396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0" name="Google Shape;330;p9">
            <a:extLst xmlns:a="http://schemas.openxmlformats.org/drawingml/2006/main">
              <a:ext uri="{FF2B5EF4-FFF2-40B4-BE49-F238E27FC236}">
                <a16:creationId xmlns:a16="http://schemas.microsoft.com/office/drawing/2014/main" id="{46135EA1-D197-440A-9D9D-D5E2EF6B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1911240"/>
            <a:ext cx="282528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01   Historical evidence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Google Shape;331;p9">
            <a:extLst xmlns:a="http://schemas.openxmlformats.org/drawingml/2006/main">
              <a:ext uri="{FF2B5EF4-FFF2-40B4-BE49-F238E27FC236}">
                <a16:creationId xmlns:a16="http://schemas.microsoft.com/office/drawing/2014/main" id="{25EB54A2-4653-4DC7-BC5C-BE7EDA8C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200" y="1901880"/>
            <a:ext cx="722340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1999–2008 care and coding may differ from today.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2" name="Google Shape;332;p9">
            <a:extLst xmlns:a="http://schemas.openxmlformats.org/drawingml/2006/main">
              <a:ext uri="{FF2B5EF4-FFF2-40B4-BE49-F238E27FC236}">
                <a16:creationId xmlns:a16="http://schemas.microsoft.com/office/drawing/2014/main" id="{888A1CFC-2547-4E20-B2E6-B28945101226}"/>
              </a:ext>
            </a:extLst>
          </p:cNvPr>
          <p:cNvCxnSpPr/>
          <p:nvPr/>
        </p:nvCxnSpPr>
        <p:spPr>
          <a:xfrm xmlns:a="http://schemas.openxmlformats.org/drawingml/2006/main">
            <a:off x="777240" y="2486880"/>
            <a:ext cx="1053396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3" name="Google Shape;333;p9">
            <a:extLst xmlns:a="http://schemas.openxmlformats.org/drawingml/2006/main">
              <a:ext uri="{FF2B5EF4-FFF2-40B4-BE49-F238E27FC236}">
                <a16:creationId xmlns:a16="http://schemas.microsoft.com/office/drawing/2014/main" id="{9F92D70D-322D-4C47-938E-7D647723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2633400"/>
            <a:ext cx="282528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02   Visibility gaps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Google Shape;334;p9">
            <a:extLst xmlns:a="http://schemas.openxmlformats.org/drawingml/2006/main">
              <a:ext uri="{FF2B5EF4-FFF2-40B4-BE49-F238E27FC236}">
                <a16:creationId xmlns:a16="http://schemas.microsoft.com/office/drawing/2014/main" id="{35CA002A-3B37-492C-B4F0-61383623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200" y="2624400"/>
            <a:ext cx="722340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Readmissions outside the contributing network may be absent.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5" name="Google Shape;335;p9">
            <a:extLst xmlns:a="http://schemas.openxmlformats.org/drawingml/2006/main">
              <a:ext uri="{FF2B5EF4-FFF2-40B4-BE49-F238E27FC236}">
                <a16:creationId xmlns:a16="http://schemas.microsoft.com/office/drawing/2014/main" id="{4E253946-D5F4-4A0B-8FBC-68EE26C26B78}"/>
              </a:ext>
            </a:extLst>
          </p:cNvPr>
          <p:cNvCxnSpPr/>
          <p:nvPr/>
        </p:nvCxnSpPr>
        <p:spPr>
          <a:xfrm xmlns:a="http://schemas.openxmlformats.org/drawingml/2006/main">
            <a:off x="777240" y="3209400"/>
            <a:ext cx="1053396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6" name="Google Shape;336;p9">
            <a:extLst xmlns:a="http://schemas.openxmlformats.org/drawingml/2006/main">
              <a:ext uri="{FF2B5EF4-FFF2-40B4-BE49-F238E27FC236}">
                <a16:creationId xmlns:a16="http://schemas.microsoft.com/office/drawing/2014/main" id="{5617DEFC-6B23-445B-B03E-2726E374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355920"/>
            <a:ext cx="282528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03   Missed cases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Google Shape;337;p9">
            <a:extLst xmlns:a="http://schemas.openxmlformats.org/drawingml/2006/main">
              <a:ext uri="{FF2B5EF4-FFF2-40B4-BE49-F238E27FC236}">
                <a16:creationId xmlns:a16="http://schemas.microsoft.com/office/drawing/2014/main" id="{260B59C5-66AC-48C3-9689-0AD9341C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200" y="3346560"/>
            <a:ext cx="722340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Many recorded readmissions remain outside the selected group.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8" name="Google Shape;338;p9">
            <a:extLst xmlns:a="http://schemas.openxmlformats.org/drawingml/2006/main">
              <a:ext uri="{FF2B5EF4-FFF2-40B4-BE49-F238E27FC236}">
                <a16:creationId xmlns:a16="http://schemas.microsoft.com/office/drawing/2014/main" id="{0F3240DA-2C79-47D5-96A1-38C3DF7DF88F}"/>
              </a:ext>
            </a:extLst>
          </p:cNvPr>
          <p:cNvCxnSpPr/>
          <p:nvPr/>
        </p:nvCxnSpPr>
        <p:spPr>
          <a:xfrm xmlns:a="http://schemas.openxmlformats.org/drawingml/2006/main">
            <a:off x="777240" y="3931920"/>
            <a:ext cx="1053396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9" name="Google Shape;339;p9">
            <a:extLst xmlns:a="http://schemas.openxmlformats.org/drawingml/2006/main">
              <a:ext uri="{FF2B5EF4-FFF2-40B4-BE49-F238E27FC236}">
                <a16:creationId xmlns:a16="http://schemas.microsoft.com/office/drawing/2014/main" id="{90701584-8D8D-45A7-977B-C066E74F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4078080"/>
            <a:ext cx="282528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04   Subgroup variation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0" name="Google Shape;340;p9">
            <a:extLst xmlns:a="http://schemas.openxmlformats.org/drawingml/2006/main">
              <a:ext uri="{FF2B5EF4-FFF2-40B4-BE49-F238E27FC236}">
                <a16:creationId xmlns:a16="http://schemas.microsoft.com/office/drawing/2014/main" id="{9C23BADC-6D3C-40FC-B718-F09537B6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200" y="4069080"/>
            <a:ext cx="722340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Recall differs by race and sex; investigate and monitor.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1" name="Google Shape;341;p9">
            <a:extLst xmlns:a="http://schemas.openxmlformats.org/drawingml/2006/main">
              <a:ext uri="{FF2B5EF4-FFF2-40B4-BE49-F238E27FC236}">
                <a16:creationId xmlns:a16="http://schemas.microsoft.com/office/drawing/2014/main" id="{9BB24AA9-A789-40E3-A201-5F6BF8F26911}"/>
              </a:ext>
            </a:extLst>
          </p:cNvPr>
          <p:cNvCxnSpPr/>
          <p:nvPr/>
        </p:nvCxnSpPr>
        <p:spPr>
          <a:xfrm xmlns:a="http://schemas.openxmlformats.org/drawingml/2006/main">
            <a:off x="777240" y="4654080"/>
            <a:ext cx="10533960" cy="360"/>
          </a:xfrm>
          <a:prstGeom xmlns:a="http://schemas.openxmlformats.org/drawingml/2006/main" prst="straightConnector1">
            <a:avLst/>
          </a:prstGeom>
          <a:ln xmlns:a="http://schemas.openxmlformats.org/drawingml/2006/main" w="11425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" name="Google Shape;342;p9">
            <a:extLst xmlns:a="http://schemas.openxmlformats.org/drawingml/2006/main">
              <a:ext uri="{FF2B5EF4-FFF2-40B4-BE49-F238E27FC236}">
                <a16:creationId xmlns:a16="http://schemas.microsoft.com/office/drawing/2014/main" id="{229C7CE1-CDE1-4306-837F-94D26648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4800600"/>
            <a:ext cx="282528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05   No impact evaluation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3" name="Google Shape;343;p9">
            <a:extLst xmlns:a="http://schemas.openxmlformats.org/drawingml/2006/main">
              <a:ext uri="{FF2B5EF4-FFF2-40B4-BE49-F238E27FC236}">
                <a16:creationId xmlns:a16="http://schemas.microsoft.com/office/drawing/2014/main" id="{511F70A0-1B34-4F5B-ABB2-D5354359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200" y="4791600"/>
            <a:ext cx="722340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 observed proof of avoided admissions or cost savings.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Google Shape;344;p9">
            <a:extLst xmlns:a="http://schemas.openxmlformats.org/drawingml/2006/main">
              <a:ext uri="{FF2B5EF4-FFF2-40B4-BE49-F238E27FC236}">
                <a16:creationId xmlns:a16="http://schemas.microsoft.com/office/drawing/2014/main" id="{ECA029EF-AE37-4881-BA2E-676918E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79520"/>
            <a:ext cx="1089936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5" name="Google Shape;345;p9">
            <a:extLst xmlns:a="http://schemas.openxmlformats.org/drawingml/2006/main">
              <a:ext uri="{FF2B5EF4-FFF2-40B4-BE49-F238E27FC236}">
                <a16:creationId xmlns:a16="http://schemas.microsoft.com/office/drawing/2014/main" id="{B1482F0C-67D9-4382-8BAA-92D3DAB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5879520"/>
            <a:ext cx="5004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6" name="Google Shape;346;p9">
            <a:extLst xmlns:a="http://schemas.openxmlformats.org/drawingml/2006/main">
              <a:ext uri="{FF2B5EF4-FFF2-40B4-BE49-F238E27FC236}">
                <a16:creationId xmlns:a16="http://schemas.microsoft.com/office/drawing/2014/main" id="{BE72FBE5-942F-42CE-AF7A-0BB89326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52600"/>
            <a:ext cx="1047852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Use as a retrospective decision-support prototype—not for active treatment or discharge decisions.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22002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2" name="Google Shape;352;p10">
            <a:extLst xmlns:a="http://schemas.openxmlformats.org/drawingml/2006/main">
              <a:ext uri="{FF2B5EF4-FFF2-40B4-BE49-F238E27FC236}">
                <a16:creationId xmlns:a16="http://schemas.microsoft.com/office/drawing/2014/main" id="{8B96EFB2-9C4B-45DD-B58F-A9854774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5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3" name="Google Shape;353;p10">
            <a:extLst xmlns:a="http://schemas.openxmlformats.org/drawingml/2006/main">
              <a:ext uri="{FF2B5EF4-FFF2-40B4-BE49-F238E27FC236}">
                <a16:creationId xmlns:a16="http://schemas.microsoft.com/office/drawing/2014/main" id="{65887081-FBD8-4AC3-AB37-A7163E25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65760"/>
            <a:ext cx="109440" cy="10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32750" rIns="90000" bIns="327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4" name="Google Shape;354;p10">
            <a:extLst xmlns:a="http://schemas.openxmlformats.org/drawingml/2006/main">
              <a:ext uri="{FF2B5EF4-FFF2-40B4-BE49-F238E27FC236}">
                <a16:creationId xmlns:a16="http://schemas.microsoft.com/office/drawing/2014/main" id="{E30C74A5-827F-406C-9F09-B5EC5F26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00" y="311040"/>
            <a:ext cx="4151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PROPOSED NEXT STEPS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Google Shape;355;p10">
            <a:extLst xmlns:a="http://schemas.openxmlformats.org/drawingml/2006/main">
              <a:ext uri="{FF2B5EF4-FFF2-40B4-BE49-F238E27FC236}">
                <a16:creationId xmlns:a16="http://schemas.microsoft.com/office/drawing/2014/main" id="{65C8B68E-5260-4C12-8DBA-F5DA7170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713160"/>
            <a:ext cx="10972440" cy="63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Validate the ranking before testing an intervention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6" name="Google Shape;356;p10">
            <a:extLst xmlns:a="http://schemas.openxmlformats.org/drawingml/2006/main">
              <a:ext uri="{FF2B5EF4-FFF2-40B4-BE49-F238E27FC236}">
                <a16:creationId xmlns:a16="http://schemas.microsoft.com/office/drawing/2014/main" id="{49BB0F89-DE92-4A7C-BF50-4A9A8215F3F1}"/>
              </a:ext>
            </a:extLst>
          </p:cNvPr>
          <p:cNvCxnSpPr/>
          <p:nvPr/>
        </p:nvCxnSpPr>
        <p:spPr>
          <a:xfrm xmlns:a="http://schemas.openxmlformats.org/drawingml/2006/main">
            <a:off x="640080" y="1453680"/>
            <a:ext cx="10918080" cy="36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1C31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7" name="Google Shape;357;p10">
            <a:extLst xmlns:a="http://schemas.openxmlformats.org/drawingml/2006/main">
              <a:ext uri="{FF2B5EF4-FFF2-40B4-BE49-F238E27FC236}">
                <a16:creationId xmlns:a16="http://schemas.microsoft.com/office/drawing/2014/main" id="{F8187471-416E-4116-8A96-A6D76BC37877}"/>
              </a:ext>
            </a:extLst>
          </p:cNvPr>
          <p:cNvCxnSpPr/>
          <p:nvPr/>
        </p:nvCxnSpPr>
        <p:spPr>
          <a:xfrm xmlns:a="http://schemas.openxmlformats.org/drawingml/2006/main">
            <a:off x="630720" y="6464520"/>
            <a:ext cx="10927440" cy="36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D6DED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8" name="Google Shape;358;p10">
            <a:extLst xmlns:a="http://schemas.openxmlformats.org/drawingml/2006/main">
              <a:ext uri="{FF2B5EF4-FFF2-40B4-BE49-F238E27FC236}">
                <a16:creationId xmlns:a16="http://schemas.microsoft.com/office/drawing/2014/main" id="{10CC1CBA-6206-4B1D-BA03-23077D8C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80" y="6519600"/>
            <a:ext cx="1049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Notebook 06 · Final conclusion and practical recommendations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9" name="Google Shape;359;p10">
            <a:extLst xmlns:a="http://schemas.openxmlformats.org/drawingml/2006/main">
              <a:ext uri="{FF2B5EF4-FFF2-40B4-BE49-F238E27FC236}">
                <a16:creationId xmlns:a16="http://schemas.microsoft.com/office/drawing/2014/main" id="{1F785B21-1834-4597-A344-369EB0C5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20" y="6501240"/>
            <a:ext cx="438480" cy="18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trike="noStrike" cap="none">
                <a:solidFill>
                  <a:srgbClr val="1C3138"/>
                </a:solidFill>
                <a:latin typeface="Arial"/>
                <a:ea typeface="Arial"/>
                <a:cs typeface="Arial"/>
              </a:rPr>
              <a:t>11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0" name="Google Shape;360;p10">
            <a:extLst xmlns:a="http://schemas.openxmlformats.org/drawingml/2006/main">
              <a:ext uri="{FF2B5EF4-FFF2-40B4-BE49-F238E27FC236}">
                <a16:creationId xmlns:a16="http://schemas.microsoft.com/office/drawing/2014/main" id="{72189E51-D57A-4CE0-97F6-F00FF63B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63720" cy="987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7C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1" name="Google Shape;361;p10">
            <a:extLst xmlns:a="http://schemas.openxmlformats.org/drawingml/2006/main">
              <a:ext uri="{FF2B5EF4-FFF2-40B4-BE49-F238E27FC236}">
                <a16:creationId xmlns:a16="http://schemas.microsoft.com/office/drawing/2014/main" id="{BF114DA4-D88F-40CA-9383-1A2EA11E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00" y="1911240"/>
            <a:ext cx="19566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01  /  DEFINE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2" name="Google Shape;362;p10">
            <a:extLst xmlns:a="http://schemas.openxmlformats.org/drawingml/2006/main">
              <a:ext uri="{FF2B5EF4-FFF2-40B4-BE49-F238E27FC236}">
                <a16:creationId xmlns:a16="http://schemas.microsoft.com/office/drawing/2014/main" id="{78BA1C9D-3167-46B8-8AB5-7F525100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520" y="1892880"/>
            <a:ext cx="298044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Capacity and policy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Google Shape;363;p10">
            <a:extLst xmlns:a="http://schemas.openxmlformats.org/drawingml/2006/main">
              <a:ext uri="{FF2B5EF4-FFF2-40B4-BE49-F238E27FC236}">
                <a16:creationId xmlns:a16="http://schemas.microsoft.com/office/drawing/2014/main" id="{7ADB162D-F1F6-498E-A2F0-A4345414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1911240"/>
            <a:ext cx="5074560" cy="8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Set feasible contact volumes and thresholds for misses and follow-up effort.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Google Shape;364;p10">
            <a:extLst xmlns:a="http://schemas.openxmlformats.org/drawingml/2006/main">
              <a:ext uri="{FF2B5EF4-FFF2-40B4-BE49-F238E27FC236}">
                <a16:creationId xmlns:a16="http://schemas.microsoft.com/office/drawing/2014/main" id="{224B6419-10DB-466A-B25B-BB7557CA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26520"/>
            <a:ext cx="63720" cy="987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69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Google Shape;365;p10">
            <a:extLst xmlns:a="http://schemas.openxmlformats.org/drawingml/2006/main">
              <a:ext uri="{FF2B5EF4-FFF2-40B4-BE49-F238E27FC236}">
                <a16:creationId xmlns:a16="http://schemas.microsoft.com/office/drawing/2014/main" id="{11EA6314-35D5-49F3-AD6D-6261A703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00" y="3063240"/>
            <a:ext cx="19566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02  /  VALIDATE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Google Shape;366;p10">
            <a:extLst xmlns:a="http://schemas.openxmlformats.org/drawingml/2006/main">
              <a:ext uri="{FF2B5EF4-FFF2-40B4-BE49-F238E27FC236}">
                <a16:creationId xmlns:a16="http://schemas.microsoft.com/office/drawing/2014/main" id="{85B04698-7A98-4678-9345-B8CFD10E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520" y="3044880"/>
            <a:ext cx="298044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Generalizability and equity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7" name="Google Shape;367;p10">
            <a:extLst xmlns:a="http://schemas.openxmlformats.org/drawingml/2006/main">
              <a:ext uri="{FF2B5EF4-FFF2-40B4-BE49-F238E27FC236}">
                <a16:creationId xmlns:a16="http://schemas.microsoft.com/office/drawing/2014/main" id="{1DBA99C0-3483-4EC4-A3B0-0DDE6974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3063240"/>
            <a:ext cx="5074560" cy="8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Test contemporary independent hospitals; audit subgroup recall and calibration.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8" name="Google Shape;368;p10">
            <a:extLst xmlns:a="http://schemas.openxmlformats.org/drawingml/2006/main">
              <a:ext uri="{FF2B5EF4-FFF2-40B4-BE49-F238E27FC236}">
                <a16:creationId xmlns:a16="http://schemas.microsoft.com/office/drawing/2014/main" id="{CDBD7882-E66A-4350-872D-D029FD99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80"/>
            <a:ext cx="63720" cy="987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E5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9" name="Google Shape;369;p10">
            <a:extLst xmlns:a="http://schemas.openxmlformats.org/drawingml/2006/main">
              <a:ext uri="{FF2B5EF4-FFF2-40B4-BE49-F238E27FC236}">
                <a16:creationId xmlns:a16="http://schemas.microsoft.com/office/drawing/2014/main" id="{BE2802E4-77C8-476A-AA12-4CCAD897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00" y="4215240"/>
            <a:ext cx="19566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66757B"/>
                </a:solidFill>
                <a:latin typeface="Arial"/>
                <a:ea typeface="Arial"/>
                <a:cs typeface="Arial"/>
              </a:rPr>
              <a:t>03  /  TEST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" name="Google Shape;370;p10">
            <a:extLst xmlns:a="http://schemas.openxmlformats.org/drawingml/2006/main">
              <a:ext uri="{FF2B5EF4-FFF2-40B4-BE49-F238E27FC236}">
                <a16:creationId xmlns:a16="http://schemas.microsoft.com/office/drawing/2014/main" id="{5854AF5E-4C33-46BD-947F-8DE92A45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520" y="4197240"/>
            <a:ext cx="298044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 strike="noStrike" cap="none">
                <a:solidFill>
                  <a:srgbClr val="1C3138"/>
                </a:solidFill>
                <a:latin typeface="Georgia"/>
                <a:ea typeface="Georgia"/>
                <a:cs typeface="Georgia"/>
              </a:rPr>
              <a:t>Measured patient benefit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" name="Google Shape;371;p10">
            <a:extLst xmlns:a="http://schemas.openxmlformats.org/drawingml/2006/main">
              <a:ext uri="{FF2B5EF4-FFF2-40B4-BE49-F238E27FC236}">
                <a16:creationId xmlns:a16="http://schemas.microsoft.com/office/drawing/2014/main" id="{92812913-E924-4CB8-9422-8482E36A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215240"/>
            <a:ext cx="5074560" cy="8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4343B"/>
                </a:solidFill>
                <a:latin typeface="Arial"/>
                <a:ea typeface="Arial"/>
                <a:cs typeface="Arial"/>
              </a:rPr>
              <a:t>Evaluate whether additional follow-up actually reduces readmissions or costs.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2" name="Google Shape;372;p10">
            <a:extLst xmlns:a="http://schemas.openxmlformats.org/drawingml/2006/main">
              <a:ext uri="{FF2B5EF4-FFF2-40B4-BE49-F238E27FC236}">
                <a16:creationId xmlns:a16="http://schemas.microsoft.com/office/drawing/2014/main" id="{D7AD0919-C4F8-41E6-89E6-A77E7498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240" y="5568840"/>
            <a:ext cx="10569960" cy="621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38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3" name="Google Shape;373;p10">
            <a:extLst xmlns:a="http://schemas.openxmlformats.org/drawingml/2006/main">
              <a:ext uri="{FF2B5EF4-FFF2-40B4-BE49-F238E27FC236}">
                <a16:creationId xmlns:a16="http://schemas.microsoft.com/office/drawing/2014/main" id="{A6074168-4209-4DDB-A725-72BA0E70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40" y="5724000"/>
            <a:ext cx="10003320" cy="33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" tIns="18350" rIns="9000" bIns="183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Bottom line: useful prioritization signal. Further validation and impact testing required.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26096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2026-10-15T10:19:18.3940000Z</dcterms:created>
  <dcterms:modified xsi:type="dcterms:W3CDTF">2026-10-15T10:19:18.3940000Z</dcterms:modified>
</coreProperties>
</file>