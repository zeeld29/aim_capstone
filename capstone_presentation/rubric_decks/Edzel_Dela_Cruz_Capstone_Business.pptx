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2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37714615ec04d01" /><Relationship Type="http://schemas.openxmlformats.org/officeDocument/2006/relationships/extended-properties" Target="/docProps/app.xml" Id="R01bed46b41b94939" /><Relationship Type="http://schemas.openxmlformats.org/officeDocument/2006/relationships/officeDocument" Target="/ppt/presentation.xml" Id="Rc0dcb7bf3b9642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b48b59a09ac4d50"/>
  </p:sldMasterIdLst>
  <p:notesMasterIdLst>
    <p:notesMasterId xmlns:r="http://schemas.openxmlformats.org/officeDocument/2006/relationships" r:id="R739d36dc49bf43ec"/>
  </p:notesMasterIdLst>
  <p:sldIdLst>
    <p:sldId xmlns:r="http://schemas.openxmlformats.org/officeDocument/2006/relationships" id="256" r:id="Rc3cbf07da0be4d8c"/>
    <p:sldId xmlns:r="http://schemas.openxmlformats.org/officeDocument/2006/relationships" id="257" r:id="R3f17988b5b61445e"/>
    <p:sldId xmlns:r="http://schemas.openxmlformats.org/officeDocument/2006/relationships" id="258" r:id="R03634694e6584f57"/>
    <p:sldId xmlns:r="http://schemas.openxmlformats.org/officeDocument/2006/relationships" id="259" r:id="R278a210a85cd4f37"/>
    <p:sldId xmlns:r="http://schemas.openxmlformats.org/officeDocument/2006/relationships" id="260" r:id="Rabcf14a812ad4744"/>
    <p:sldId xmlns:r="http://schemas.openxmlformats.org/officeDocument/2006/relationships" id="261" r:id="R6876e352f67c40a1"/>
    <p:sldId xmlns:r="http://schemas.openxmlformats.org/officeDocument/2006/relationships" id="262" r:id="R391843e090254e3a"/>
    <p:sldId xmlns:r="http://schemas.openxmlformats.org/officeDocument/2006/relationships" id="263" r:id="Rec1444980a8a411c"/>
    <p:sldId xmlns:r="http://schemas.openxmlformats.org/officeDocument/2006/relationships" id="264" r:id="R8bc7c992c7ca4f21"/>
    <p:sldId xmlns:r="http://schemas.openxmlformats.org/officeDocument/2006/relationships" id="265" r:id="R30ea27e03fac4bdf"/>
    <p:sldId xmlns:r="http://schemas.openxmlformats.org/officeDocument/2006/relationships" id="266" r:id="R64d888dacb6f486f"/>
    <p:sldId xmlns:r="http://schemas.openxmlformats.org/officeDocument/2006/relationships" id="267" r:id="Rd37e031dee10470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8274ae31d9492f" /><Relationship Type="http://schemas.openxmlformats.org/officeDocument/2006/relationships/slideMaster" Target="/ppt/slideMasters/slideMaster1.xml" Id="R4b48b59a09ac4d50" /><Relationship Type="http://schemas.openxmlformats.org/officeDocument/2006/relationships/notesMaster" Target="/ppt/notesMasters/notesMaster1.xml" Id="R739d36dc49bf43ec" /><Relationship Type="http://schemas.openxmlformats.org/officeDocument/2006/relationships/presProps" Target="/ppt/presProps.xml" Id="R316b337062b44e51" /><Relationship Type="http://schemas.openxmlformats.org/officeDocument/2006/relationships/tableStyles" Target="/ppt/tableStyles.xml" Id="R3b7d6324389d4ee7" /><Relationship Type="http://schemas.openxmlformats.org/officeDocument/2006/relationships/slide" Target="/ppt/slides/slide1.xml" Id="Rc3cbf07da0be4d8c" /><Relationship Type="http://schemas.openxmlformats.org/officeDocument/2006/relationships/slide" Target="/ppt/slides/slide2.xml" Id="R3f17988b5b61445e" /><Relationship Type="http://schemas.openxmlformats.org/officeDocument/2006/relationships/slide" Target="/ppt/slides/slide3.xml" Id="R03634694e6584f57" /><Relationship Type="http://schemas.openxmlformats.org/officeDocument/2006/relationships/slide" Target="/ppt/slides/slide4.xml" Id="R278a210a85cd4f37" /><Relationship Type="http://schemas.openxmlformats.org/officeDocument/2006/relationships/slide" Target="/ppt/slides/slide5.xml" Id="Rabcf14a812ad4744" /><Relationship Type="http://schemas.openxmlformats.org/officeDocument/2006/relationships/slide" Target="/ppt/slides/slide6.xml" Id="R6876e352f67c40a1" /><Relationship Type="http://schemas.openxmlformats.org/officeDocument/2006/relationships/slide" Target="/ppt/slides/slide7.xml" Id="R391843e090254e3a" /><Relationship Type="http://schemas.openxmlformats.org/officeDocument/2006/relationships/slide" Target="/ppt/slides/slide8.xml" Id="Rec1444980a8a411c" /><Relationship Type="http://schemas.openxmlformats.org/officeDocument/2006/relationships/slide" Target="/ppt/slides/slide9.xml" Id="R8bc7c992c7ca4f21" /><Relationship Type="http://schemas.openxmlformats.org/officeDocument/2006/relationships/slide" Target="/ppt/slides/slide10.xml" Id="R30ea27e03fac4bdf" /><Relationship Type="http://schemas.openxmlformats.org/officeDocument/2006/relationships/slide" Target="/ppt/slides/slide11.xml" Id="R64d888dacb6f486f" /><Relationship Type="http://schemas.openxmlformats.org/officeDocument/2006/relationships/slide" Target="/ppt/slides/slide12.xml" Id="Rd37e031dee10470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66c33cbb2244b6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5c90b79a6ee4748" /><Relationship Type="http://schemas.openxmlformats.org/officeDocument/2006/relationships/notesMaster" Target="/ppt/notesMasters/notesMaster1.xml" Id="R5318ed8ed8c344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e1e4022583d48df" /><Relationship Type="http://schemas.openxmlformats.org/officeDocument/2006/relationships/notesMaster" Target="/ppt/notesMasters/notesMaster1.xml" Id="R6a9ede032d394ca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4f86a77bb94417d" /><Relationship Type="http://schemas.openxmlformats.org/officeDocument/2006/relationships/notesMaster" Target="/ppt/notesMasters/notesMaster1.xml" Id="R31011275a55048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e514fd689c4a93" /><Relationship Type="http://schemas.openxmlformats.org/officeDocument/2006/relationships/notesMaster" Target="/ppt/notesMasters/notesMaster1.xml" Id="R4293fc791b894b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0257d4929654646" /><Relationship Type="http://schemas.openxmlformats.org/officeDocument/2006/relationships/notesMaster" Target="/ppt/notesMasters/notesMaster1.xml" Id="R8d6767cf33e246d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e02332979cd4f8a" /><Relationship Type="http://schemas.openxmlformats.org/officeDocument/2006/relationships/notesMaster" Target="/ppt/notesMasters/notesMaster1.xml" Id="R651ff31527ec4c6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c87537984b04b1f" /><Relationship Type="http://schemas.openxmlformats.org/officeDocument/2006/relationships/notesMaster" Target="/ppt/notesMasters/notesMaster1.xml" Id="R05f7753c6237419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db675a54c744833" /><Relationship Type="http://schemas.openxmlformats.org/officeDocument/2006/relationships/notesMaster" Target="/ppt/notesMasters/notesMaster1.xml" Id="R4aa0da318b3e48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f394636f5e4f4e" /><Relationship Type="http://schemas.openxmlformats.org/officeDocument/2006/relationships/notesMaster" Target="/ppt/notesMasters/notesMaster1.xml" Id="Rdbc790bff18a40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a4cbd39c86946bc" /><Relationship Type="http://schemas.openxmlformats.org/officeDocument/2006/relationships/notesMaster" Target="/ppt/notesMasters/notesMaster1.xml" Id="Red32031677ae47c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4da9182a1a34689" /><Relationship Type="http://schemas.openxmlformats.org/officeDocument/2006/relationships/notesMaster" Target="/ppt/notesMasters/notesMaster1.xml" Id="R2170b315c52645b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cba4e945dfa4845" /><Relationship Type="http://schemas.openxmlformats.org/officeDocument/2006/relationships/notesMaster" Target="/ppt/notesMasters/notesMaster1.xml" Id="R9e700ebe81854c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Clore et al. (2014), UCI Diabetes 130-US Hospitals (1999–2008). https://doi.org/10.24432/C5230J</a:t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Clore et al. (2014), UCI Diabetes 130-US Hospitals (1999–2008). https://doi.org/10.24432/C5230J</a:t>
            </a:r>
          </a:p>
          <a:p xmlns:a="http://schemas.openxmlformats.org/drawingml/2006/main">
            <a:r>
              <a:t>The business problem is capstone framing, not a quantified claim about any particular hospital staffing.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Dataset: Clore et al. (2014), UCI Diabetes 130-US Hospitals (1999–2008). https://doi.org/10.24432/C5230J</a:t>
            </a:r>
          </a:p>
          <a:p xmlns:a="http://schemas.openxmlformats.org/drawingml/2006/main">
            <a:r>
              <a:t>69,970 unique retained patients. 6,277 positives. Not a present-day hospital population.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policy_comparison.csv and test_bootstrap_intervals.csv. Random expectation equals actual selectedfraction20.0076%. Predefined target30%.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test policy_comparison.csv. Threshold0.10 captures450,top20 captures369. Positive predictions are no guarantee of outcome or intervention need.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final test metrics and policy comparisons. Top20 selected2100,TP369,FP1731,FN573. ROC-AUC.6523; AP.1866. Useful modest discrimination.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fairness contrast and group tables. Race gap−14.21pp bootstrap CI−21.90to−6.06. Gender−6.19CI−12.37to+.24. Unadjusted descriptive. Cause of gap unknown.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workflow, not an implemented or validated system. Human review required before outreach. Clinical approval and data governance prerequisites.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Illustrative assumptions, not measured findings. USD units arbitrary. Contacts2100,cost10/contact,fixedcost5000,total26000. Reached recorded events369. Preventionq is conditional avoidedfraction among these events, not population effectiveness. Benefit3000/avoidedevent assumes hospital realizes net savings. Costs and benefits may differ or not accrue to same entity. No causal estimate. Break-evenq=26000/(369*3000)=.0234869. Baseline alternative not modeled.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Same assumptions as previousslide. q=.02,.05,.10. Avoided369q=7.38,18.45,36.9. Net benefit22140−26000=−3860,55350−26000=29350,110700−26000=84700. Fractional avoidedcounts are expected values. No measured ROI.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Proposed governance and mitigation plan. No actual pilot, approvals, deadlines or resource commitment. Cost inputs unknown. Fixed policy changes require training/validation then independent evaluation.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Recommendation based on retrospective findings. No deployment-ready claim. Stakeholders choose capacity,errorcosts and interventions. External validation necessary. Sources: notebook06 and full final_audit outputs.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notebooks 01–06 and saved reports in AIM_Capstone. Results verified 13 October 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d4468f04db426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1e8f99913d4d7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55fb1c6be7463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e8e05ff7d12463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b80ee0a844487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1c52c15fc3445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E420CC4-092D-4F29-AFF5-88ABB7BFE2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FA3ECE5-B2BA-47E9-9898-DDFBB71F728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1D2A888A-3281-4EE9-8892-6BC851CBC6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983EE27-727B-4864-8D60-B074567FD5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01823A5-8ACA-45A4-B02E-77B9705FF65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8B869E4-9850-44B7-8D4F-DEFE5AC9EF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713B78D-C6C5-4AD5-934E-7EE9F7DD6D9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0124452B-7150-41DF-B7D1-0E3F7194356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38D4C74-E0CD-473B-B944-F3BA698F1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DCA552E2-0F5C-4A71-9CD6-7179DA0B091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7854b080c84ba9" /><Relationship Type="http://schemas.openxmlformats.org/officeDocument/2006/relationships/slideLayout" Target="/ppt/slideLayouts/slideLayout1.xml" Id="R99e2dea5d7e14506" /><Relationship Type="http://schemas.openxmlformats.org/officeDocument/2006/relationships/slideLayout" Target="/ppt/slideLayouts/slideLayout2.xml" Id="Rb617b0f9cf8b4173" /><Relationship Type="http://schemas.openxmlformats.org/officeDocument/2006/relationships/slideLayout" Target="/ppt/slideLayouts/slideLayout3.xml" Id="R5e13069b5a574a9a" /><Relationship Type="http://schemas.openxmlformats.org/officeDocument/2006/relationships/slideLayout" Target="/ppt/slideLayouts/slideLayout4.xml" Id="R2cf2a5943dd0403b" /><Relationship Type="http://schemas.openxmlformats.org/officeDocument/2006/relationships/slideLayout" Target="/ppt/slideLayouts/slideLayout5.xml" Id="R5ccd3878ef154e15" /><Relationship Type="http://schemas.openxmlformats.org/officeDocument/2006/relationships/slideLayout" Target="/ppt/slideLayouts/slideLayout6.xml" Id="R9f3e89f4de634d1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9e2dea5d7e14506"/>
    <p:sldLayoutId xmlns:r="http://schemas.openxmlformats.org/officeDocument/2006/relationships" id="2147483650" r:id="Rb617b0f9cf8b4173"/>
    <p:sldLayoutId xmlns:r="http://schemas.openxmlformats.org/officeDocument/2006/relationships" id="2147483651" r:id="R5e13069b5a574a9a"/>
    <p:sldLayoutId xmlns:r="http://schemas.openxmlformats.org/officeDocument/2006/relationships" id="2147483652" r:id="R2cf2a5943dd0403b"/>
    <p:sldLayoutId xmlns:r="http://schemas.openxmlformats.org/officeDocument/2006/relationships" id="2147483653" r:id="R5ccd3878ef154e15"/>
    <p:sldLayoutId xmlns:r="http://schemas.openxmlformats.org/officeDocument/2006/relationships" id="2147483654" r:id="R9f3e89f4de634d1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7a572057ba444d6" /><Relationship Type="http://schemas.openxmlformats.org/officeDocument/2006/relationships/notesSlide" Target="/ppt/notesSlides/notesSlide1.xml" Id="R26755181870941c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8be89d2f2e84d40" /><Relationship Type="http://schemas.openxmlformats.org/officeDocument/2006/relationships/notesSlide" Target="/ppt/notesSlides/notesSlide2.xml" Id="Rc36ac5ee27e342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2ffb56df045cf" /><Relationship Type="http://schemas.openxmlformats.org/officeDocument/2006/relationships/notesSlide" Target="/ppt/notesSlides/notesSlide3.xml" Id="R40f54a24cd444d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4505d1ccbd49cd" /><Relationship Type="http://schemas.openxmlformats.org/officeDocument/2006/relationships/chart" Target="/ppt/slides/charts/chart1.xml" Id="R45ba7a77edb44b85" /><Relationship Type="http://schemas.openxmlformats.org/officeDocument/2006/relationships/notesSlide" Target="/ppt/notesSlides/notesSlide4.xml" Id="R9a5ee994db2343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015a87d27c442b" /><Relationship Type="http://schemas.openxmlformats.org/officeDocument/2006/relationships/notesSlide" Target="/ppt/notesSlides/notesSlide5.xml" Id="R67ac56e8dc9c439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1dfa42d4494066" /><Relationship Type="http://schemas.openxmlformats.org/officeDocument/2006/relationships/notesSlide" Target="/ppt/notesSlides/notesSlide6.xml" Id="R92258e15457f43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2afd672fb425e" /><Relationship Type="http://schemas.openxmlformats.org/officeDocument/2006/relationships/chart" Target="/ppt/slides/charts/chart2.xml" Id="R635f9dbbead4465b" /><Relationship Type="http://schemas.openxmlformats.org/officeDocument/2006/relationships/notesSlide" Target="/ppt/notesSlides/notesSlide7.xml" Id="Rc5022e9ebc4742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58c01bd4295423a" /><Relationship Type="http://schemas.openxmlformats.org/officeDocument/2006/relationships/notesSlide" Target="/ppt/notesSlides/notesSlide8.xml" Id="R6cbc320c5d6841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ed0c5f737d4d83" /><Relationship Type="http://schemas.openxmlformats.org/officeDocument/2006/relationships/notesSlide" Target="/ppt/notesSlides/notesSlide9.xml" Id="R18a34493bd8c49ac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3818ecae0ea488e" /><Relationship Type="http://schemas.openxmlformats.org/officeDocument/2006/relationships/notesSlide" Target="/ppt/notesSlides/notesSlide10.xml" Id="R8965600e5934400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293c532ec134df0" /><Relationship Type="http://schemas.openxmlformats.org/officeDocument/2006/relationships/notesSlide" Target="/ppt/notesSlides/notesSlide11.xml" Id="R5bd2264753cc46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424f6300054f28" /><Relationship Type="http://schemas.openxmlformats.org/officeDocument/2006/relationships/notesSlide" Target="/ppt/notesSlides/notesSlide12.xml" Id="R11ef49c0986f477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Readmission capture</c:v>
          </c:tx>
          <c:spPr>
            <a:solidFill xmlns:a="http://schemas.openxmlformats.org/drawingml/2006/main">
              <a:srgbClr val="147D83"/>
            </a:solidFill>
            <a:ln xmlns:a="http://schemas.openxmlformats.org/drawingml/2006/main" w="28575">
              <a:solidFill>
                <a:srgbClr val="147D83"/>
              </a:solidFill>
              <a:prstDash val="solid"/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Random selection</c:v>
                </c:pt>
                <c:pt idx="1">
                  <c:v>Project target</c:v>
                </c:pt>
                <c:pt idx="2">
                  <c:v>Model ranking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0.20007622</c:v>
                </c:pt>
                <c:pt idx="1">
                  <c:v>0.3</c:v>
                </c:pt>
                <c:pt idx="2">
                  <c:v>0.39171975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2025" b="1">
                  <a:solidFill>
                    <a:srgbClr val="17384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Readmissions reached</c:v>
          </c:tx>
          <c:spPr>
            <a:solidFill xmlns:a="http://schemas.openxmlformats.org/drawingml/2006/main">
              <a:srgbClr val="147D83"/>
            </a:solidFill>
            <a:ln xmlns:a="http://schemas.openxmlformats.org/drawingml/2006/main" w="28575">
              <a:solidFill>
                <a:srgbClr val="147D83"/>
              </a:solidFill>
              <a:prstDash val="solid"/>
            </a:ln>
          </c:spPr>
          <c:invertIfNegative val="0"/>
          <c:cat>
            <c:strRef>
              <c:f>'Chart Data'!$A$2:$A$5</c:f>
              <c:strCache>
                <c:ptCount val="4"/>
                <c:pt idx="0">
                  <c:v>AfricanAmerican</c:v>
                </c:pt>
                <c:pt idx="1">
                  <c:v>Caucasian</c:v>
                </c:pt>
                <c:pt idx="2">
                  <c:v>Male</c:v>
                </c:pt>
                <c:pt idx="3">
                  <c:v>Female</c:v>
                </c:pt>
              </c:strCache>
            </c:strRef>
          </c:cat>
          <c:val>
            <c:numRef>
              <c:f>'Chart Data'!$B$2:$B$5</c:f>
              <c:numCache>
                <c:formatCode>0%</c:formatCode>
                <c:ptCount val="4"/>
                <c:pt idx="0">
                  <c:v>0.27710843</c:v>
                </c:pt>
                <c:pt idx="1">
                  <c:v>0.41922006</c:v>
                </c:pt>
                <c:pt idx="2">
                  <c:v>0.35891648</c:v>
                </c:pt>
                <c:pt idx="3">
                  <c:v>0.42084168</c:v>
                </c:pt>
              </c:numCache>
            </c:numRef>
          </c:val>
        </c:ser>
        <c:dLbls>
          <c:numFmt formatCode="0.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875" b="1">
                  <a:solidFill>
                    <a:srgbClr val="173843"/>
                  </a:solidFill>
                  <a:latin typeface="Helvetica Neue"/>
                  <a:ea typeface="Helvetica Neue"/>
                  <a:cs typeface="Helvetica Neue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  <c:max val="0.55"/>
          <c:min val="0"/>
        </c:scaling>
        <c:delete val="0"/>
        <c:axPos val="l"/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8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6E8EF-1CCB-4C89-9D87-BCCA5AF84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09700"/>
            <a:ext cx="1019175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Prioritizing follow-up</a:t>
            </a:r>
          </a:p>
          <a:p xmlns:a="http://schemas.openxmlformats.org/drawingml/2006/main">
            <a:pPr>
              <a:def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after hospital discharge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560DD9-CED8-45F5-A7ED-F409E7B3B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10096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BFE4E2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BFE4E2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BFE4E2"/>
                </a:solidFill>
                <a:latin typeface="Helvetica Neue"/>
                <a:ea typeface="Helvetica Neue"/>
                <a:cs typeface="Helvetica Neue"/>
              </a:rPr>
              <a:t>Business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430D1E-DA94-422C-B10C-240FA5DF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10200"/>
            <a:ext cx="1000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Edzel Dela Cruz</a:t>
            </a:r>
          </a:p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AIM Diploma Course in AI and 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5253844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AEAD16-7A2C-4584-ABD2-7E35FCB88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The decision is how to allocate follow-up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77B7F-67D8-4B6A-8852-46801717F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Care teams have limited capacity to contact discharged patients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A86C95-0321-4854-8667-D6FBDBAA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6BE0D4-0E76-4A73-86FF-00B7E0DD9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05000"/>
            <a:ext cx="381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57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57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20%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018BDF-0473-43CF-9004-C2E393BEA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00375"/>
            <a:ext cx="4191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4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Illustrative capacity</a:t>
            </a:r>
          </a:p>
          <a:p xmlns:a="http://schemas.openxmlformats.org/drawingml/2006/main">
            <a:pPr>
              <a:defRPr sz="24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One patient in five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6BE79F-0B1E-4D3B-ABD4-380AD46B1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952625"/>
            <a:ext cx="5429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A ranked list can focus outreach on patients with higher recorded risk.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01EA2-7F70-4FC7-AA38-197D0585A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162300"/>
            <a:ext cx="5429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Care teams still choose the intervention and apply clinical judgment.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4E63D5-F3B0-4B4D-A398-CADF5F57A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71975"/>
            <a:ext cx="54292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The project measures whom the list reaches. Prevention needs separate evidence.</a:t>
            </a:r>
          </a:p>
        </p:txBody>
      </p:sp>
    </p:spTree>
    <p:extLst>
      <p:ext uri="{BB962C8B-B14F-4D97-AF65-F5344CB8AC3E}">
        <p14:creationId xmlns:p14="http://schemas.microsoft.com/office/powerpoint/2010/main" val="33787242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E92766-BA4A-4616-A644-B69FF286F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The evidence comes from a historical cohort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A3E298-44F2-442D-9C05-28510714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69,970 patients with diabetes recorded across 130 US hospitals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142E77-9219-483D-B7CE-4F1534770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7EAA6-A1A7-45D8-82B5-29FE55B1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Data period: 1999–2008. Current workflows may differ.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A93921-9094-45A6-B3C9-AE77B7A65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1462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Inputs: discharge details, prior visits, diagnoses and encounter information.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2796ED-7734-4807-AFB9-2ADCA645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7187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Outcome: recorded readmission within 30 days.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EB9C8D-6005-410F-9048-EE6CF25D4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29125"/>
            <a:ext cx="108108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New-hospital performance and follow-up effectiveness remain untested.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AD4073-3913-41C9-8B8F-E21D690BB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The final test cohort contains 10,496 patients and 942 recorded readmissions.</a:t>
            </a:r>
          </a:p>
        </p:txBody>
      </p:sp>
    </p:spTree>
    <p:extLst>
      <p:ext uri="{BB962C8B-B14F-4D97-AF65-F5344CB8AC3E}">
        <p14:creationId xmlns:p14="http://schemas.microsoft.com/office/powerpoint/2010/main" val="12295575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857784-1364-4B74-90EB-69A534EAB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The highest-risk fifth captures 39% of readmissions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476F41-ED7A-4BBC-B72B-B0A729684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2,100 contacts reach 369 of 942 recorded readmissions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783BFC-EC3E-43E4-8B39-951EBF7F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553A3A20-882C-49B5-A9B4-9F9BC839865E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6762750" cy="33813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5ba7a77edb44b85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35E9B4-A41D-4775-9573-A6956AFAB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2047875"/>
            <a:ext cx="314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9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9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9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1.96×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AE92E3-516F-4F69-9912-08790E07D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95625"/>
            <a:ext cx="3333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Lift at the same</a:t>
            </a:r>
          </a:p>
          <a:p xmlns:a="http://schemas.openxmlformats.org/drawingml/2006/main">
            <a: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contact volume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C4FE36-120F-4D0F-AB61-735A69521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524375"/>
            <a:ext cx="3333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Approximate 95% capture interval</a:t>
            </a:r>
          </a:p>
          <a:p xmlns:a="http://schemas.openxmlformats.org/drawingml/2006/main">
            <a:pPr>
              <a:def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35.93%–41.60%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529F65-90D2-48BC-9196-27074C12A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Historical prioritization result. Follow-up benefit and cost savings have not been measured.</a:t>
            </a:r>
          </a:p>
        </p:txBody>
      </p:sp>
    </p:spTree>
    <p:extLst>
      <p:ext uri="{BB962C8B-B14F-4D97-AF65-F5344CB8AC3E}">
        <p14:creationId xmlns:p14="http://schemas.microsoft.com/office/powerpoint/2010/main" val="1223903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98F5F1-7002-4E66-A957-D3071ACE9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More coverage requires more contacts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270AF3-C594-4AE2-9802-28EB383DB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Two fixed policies demonstrate the workload tradeoff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4D4B86-47DF-4742-8098-7BFCDC085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AF56CC-C2F4-4439-B5CD-18D4792C1AD8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10875" cy="1857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1809750"/>
                <a:gridCol w="3571875"/>
                <a:gridCol w="2190750"/>
              </a:tblGrid>
              <a:tr h="6191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Policy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Contacts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Readmissions reached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Share reached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Highest-risk 20%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39.17%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 score ≥0.10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2,932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47.77%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C693D8-49B8-44B4-AC4E-C831FA8CC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33875"/>
            <a:ext cx="1066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8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832 extra contacts reach 81 additional recorded readmissions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628A40-28FE-4C33-A54A-EF72445B1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The larger workload adds 8.60 percentage points of capture. Stakeholders must agree on capacity.</a:t>
            </a:r>
          </a:p>
        </p:txBody>
      </p:sp>
    </p:spTree>
    <p:extLst>
      <p:ext uri="{BB962C8B-B14F-4D97-AF65-F5344CB8AC3E}">
        <p14:creationId xmlns:p14="http://schemas.microsoft.com/office/powerpoint/2010/main" val="10858120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8731EE-7FCB-453E-AB62-B5C3E7830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The ranking provides a useful but incomplete signal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8B79A-838B-4F58-857D-50CAB79C2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Most contacted patients had no recorded readmission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521A0E-AD5E-4D83-80CF-891C960F4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FB6FA4-838A-4E2D-B9B1-17C07923CC7C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6191250" cy="2428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667250"/>
                <a:gridCol w="1524000"/>
              </a:tblGrid>
              <a:tr h="607219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Top-20% result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Patients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with recorded readmission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Selected without recorded readmission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1,731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607219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Readmissions outside the selected group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573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4663B-61D7-41AA-8D88-82FD42901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00250"/>
            <a:ext cx="4000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48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48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48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17.57%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DB8F87-82D5-4725-A196-A41399922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95625"/>
            <a:ext cx="3905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Recorded readmission</a:t>
            </a:r>
          </a:p>
          <a:p xmlns:a="http://schemas.openxmlformats.org/drawingml/2006/main">
            <a: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among contacted patients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4A7D48-E989-47C9-8802-B04D7E7A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Patients without a recorded readmission may still benefit from support. That benefit is unmeasured.</a:t>
            </a:r>
          </a:p>
        </p:txBody>
      </p:sp>
    </p:spTree>
    <p:extLst>
      <p:ext uri="{BB962C8B-B14F-4D97-AF65-F5344CB8AC3E}">
        <p14:creationId xmlns:p14="http://schemas.microsoft.com/office/powerpoint/2010/main" val="20738930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1818EA-06A3-40D1-93DC-2FAEB1478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Coverage differs across patient groups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8748FF-245A-497A-9306-94EBF2DFC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Test highest-risk 20% policy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547E7-4BE8-40FA-A5DE-250005EB7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353E3406-AFB4-4A7F-B60E-55A3A663C9F9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676275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35f9dbbead4465b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37DEB6-7CCE-493F-B082-0868699AC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00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000" b="1">
                <a:solidFill>
                  <a:srgbClr val="AC4339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000" b="1">
                <a:solidFill>
                  <a:srgbClr val="AC4339"/>
                </a:solidFill>
                <a:latin typeface="Helvetica Neue"/>
                <a:ea typeface="Helvetica Neue"/>
                <a:cs typeface="Helvetica Neue"/>
              </a:defRPr>
            </a:pPr>
            <a:r>
              <a:rPr sz="3000" b="1">
                <a:solidFill>
                  <a:srgbClr val="AC4339"/>
                </a:solidFill>
                <a:latin typeface="Helvetica Neue"/>
                <a:ea typeface="Helvetica Neue"/>
                <a:cs typeface="Helvetica Neue"/>
              </a:rPr>
              <a:t>14.21-point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5B13D6-3267-49E6-B551-7B1057D85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762250"/>
            <a:ext cx="333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race coverage gap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9069CF-8952-4520-AFF2-7F4F77CC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57625"/>
            <a:ext cx="3333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02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The audit also covers age, insurance proxies and race × gender groups.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291857-B575-429D-8769-6B42D978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The race-gap interval excludes zero. The gender-gap interval includes zero. Causes require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177853097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DB6C51-4ADD-408E-9326-12D0A441D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A pilot would fit the discharge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AAE331-F4BC-417E-82BA-E16214749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The care team retains responsibility for each outreach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09AE22-30ED-47BC-9AD0-AE2828C0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9C96B-6CB4-49CB-90A1-CE68F409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81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01   Generate scores from information available at discharge.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78F339-77CA-4A05-834D-F089E9D8B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81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02   Create a contact list within the agreed capacity.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A2CD4C-8701-4C6F-8C5B-366E733DB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1081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03   Review the list and deliver the defined follow-up program.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3D24AF-DE73-4F7C-994B-55499C591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81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250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04   Record outreach completion, outcomes and subgroup coverage.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4EFFB6-34AE-4D65-97B0-042655A85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A pilot needs a recent cohort, reliable outcome linkage and a defined intervention.</a:t>
            </a:r>
          </a:p>
        </p:txBody>
      </p:sp>
    </p:spTree>
    <p:extLst>
      <p:ext uri="{BB962C8B-B14F-4D97-AF65-F5344CB8AC3E}">
        <p14:creationId xmlns:p14="http://schemas.microsoft.com/office/powerpoint/2010/main" val="14128585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3303B-CA18-489B-9F9D-B620F4394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Financial value depends on intervention effectiveness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D003AA-9B18-48E8-842B-296012644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Illustration only, using hypothetical USD costs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BF8892-BB01-4CCF-8C18-54B82D55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09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6DA6DE-3424-43F5-805F-C8DA5A6A80DB}"/>
              </a:ext>
            </a:extLst>
          </p:cNvPr>
          <p:cNvGraphicFramePr/>
          <p:nvPr/>
        </p:nvGraphicFramePr>
        <p:xfrm>
          <a:off xmlns:a="http://schemas.openxmlformats.org/drawingml/2006/main" x="666750" y="1876425"/>
          <a:ext xmlns:a="http://schemas.openxmlformats.org/drawingml/2006/main" cx="6096000" cy="2714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714750"/>
                <a:gridCol w="2381250"/>
              </a:tblGrid>
              <a:tr h="54292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Assumption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Illustrative value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Contact cost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USD 10 × 2,100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Program setup cost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USD 5,000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Net value per avoided readmission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USD 3,000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Total program cost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USD 26,000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9AACAC-5BF4-4A5A-A268-793B8220C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1952625"/>
            <a:ext cx="4048125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Net value =</a:t>
            </a:r>
          </a:p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369 × prevention fraction</a:t>
            </a:r>
          </a:p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× value per event</a:t>
            </a:r>
          </a:p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− program cost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97C61-282E-471D-8F91-BC55D3FFD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4552950"/>
            <a:ext cx="404812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Illustrative break-even</a:t>
            </a:r>
          </a:p>
          <a:p xmlns:a="http://schemas.openxmlformats.org/drawingml/2006/main">
            <a:pPr>
              <a:def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2.35% prevention among</a:t>
            </a:r>
          </a:p>
          <a:p xmlns:a="http://schemas.openxmlformats.org/drawingml/2006/main">
            <a:pPr>
              <a:def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the 369 reached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A5B462-1200-479E-86C6-292EFFFCD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The study estimates none of these financial or prevention inputs. A pilot must measure them.</a:t>
            </a:r>
          </a:p>
        </p:txBody>
      </p:sp>
    </p:spTree>
    <p:extLst>
      <p:ext uri="{BB962C8B-B14F-4D97-AF65-F5344CB8AC3E}">
        <p14:creationId xmlns:p14="http://schemas.microsoft.com/office/powerpoint/2010/main" val="89731995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21A1EE-E121-4494-8670-DAD49655B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ROI scenarios show why a pilot must measure benefit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1964BE-109F-4DB4-A59A-9130A6FE1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Hypothetical outcomes under the financial assumptions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F8083D-77F9-4E9D-A859-C803F7066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10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137072-0316-442E-BC0A-8D86A6FF3555}"/>
              </a:ext>
            </a:extLst>
          </p:cNvPr>
          <p:cNvGraphicFramePr/>
          <p:nvPr/>
        </p:nvGraphicFramePr>
        <p:xfrm>
          <a:off xmlns:a="http://schemas.openxmlformats.org/drawingml/2006/main" x="666750" y="2047875"/>
          <a:ext xmlns:a="http://schemas.openxmlformats.org/drawingml/2006/main" cx="10810875" cy="2333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953000"/>
                <a:gridCol w="3000375"/>
                <a:gridCol w="2857500"/>
              </a:tblGrid>
              <a:tr h="583406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Prevention among reached events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Expected avoided events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Net value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2%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7.38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−USD 3,860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18.45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USD 29,350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583406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10%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36.90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USD 84,700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83DD2E-4574-4FD9-8C33-F412BC283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57750"/>
            <a:ext cx="10763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7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7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700" b="1">
                <a:solidFill>
                  <a:srgbClr val="147D83"/>
                </a:solidFill>
                <a:latin typeface="Helvetica Neue"/>
                <a:ea typeface="Helvetica Neue"/>
                <a:cs typeface="Helvetica Neue"/>
              </a:rPr>
              <a:t>An effective intervention and realized savings determine value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7251ED-7380-49AD-B557-7BDC4A6E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These scenarios are assumptions, not forecasts. Compare the pilot against the current follow-up policy.</a:t>
            </a:r>
          </a:p>
        </p:txBody>
      </p:sp>
    </p:spTree>
    <p:extLst>
      <p:ext uri="{BB962C8B-B14F-4D97-AF65-F5344CB8AC3E}">
        <p14:creationId xmlns:p14="http://schemas.microsoft.com/office/powerpoint/2010/main" val="3980781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07AD67-49A7-402F-B1D5-C128071D0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Pilot risks and decision gates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093B71-C0A1-415F-960A-1E0EE497A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Each gate needs evidence before broader use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AEED5-CEF8-4CE0-AC5C-D32B4B7D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11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B06D74-164F-466B-B1BF-605CB4C0BB9A}"/>
              </a:ext>
            </a:extLst>
          </p:cNvPr>
          <p:cNvGraphicFramePr/>
          <p:nvPr/>
        </p:nvGraphicFramePr>
        <p:xfrm>
          <a:off xmlns:a="http://schemas.openxmlformats.org/drawingml/2006/main" x="666750" y="1952625"/>
          <a:ext xmlns:a="http://schemas.openxmlformats.org/drawingml/2006/main" cx="10810875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5048250"/>
                <a:gridCol w="2809875"/>
              </a:tblGrid>
              <a:tr h="5715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Risk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Evidence needed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Suggested owner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T w="9525">
                      <a:solidFill>
                        <a:srgbClr val="DDE7E8"/>
                      </a:solidFill>
                      <a:prstDash val="solid"/>
                    </a:lnT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17384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Historical data and missing outcomes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Recent cohort and linked readmissions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Clinical data team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Uneven group coverage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Calibration and error rates by group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Quality and equity team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Unproven intervention benefit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Comparison with current follow-up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Care management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Uncertain workload and savings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DE7E8"/>
                      </a:solidFill>
                      <a:prstDash val="solid"/>
                    </a:lnL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Measured contact time and net costs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73843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Operations and finance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DE7E8"/>
                      </a:solidFill>
                      <a:prstDash val="solid"/>
                    </a:lnR>
                    <a:lnB w="9525">
                      <a:solidFill>
                        <a:srgbClr val="DDE7E8"/>
                      </a:solidFill>
                      <a:prstDash val="solid"/>
                    </a:lnB>
                    <a:solidFill>
                      <a:srgbClr val="EFF5F5"/>
                    </a:solidFill>
                  </a:tcPr>
                </a:tc>
              </a:tr>
            </a:tbl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A6C062-D954-44CF-83F1-9146D5D35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Mitigation options include data-quality checks and training/validation reweighting or policy experiments.</a:t>
            </a:r>
          </a:p>
        </p:txBody>
      </p:sp>
    </p:spTree>
    <p:extLst>
      <p:ext uri="{BB962C8B-B14F-4D97-AF65-F5344CB8AC3E}">
        <p14:creationId xmlns:p14="http://schemas.microsoft.com/office/powerpoint/2010/main" val="65676929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C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A491F-E915-490A-B274-1BF70FEB9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109728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3300" b="1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Recommendation: evaluate a monitored pilot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68238D-251C-42A6-AB26-6E4223F6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109347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The current evidence supports further evaluation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51730A-22D6-4B9E-8DA5-1FC8C15A5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391275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D6C280-6E94-45D9-B8F8-46B47333C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1081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Agree on follow-up capacity and the intervention with clinical leadership.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94D5ED-8339-461D-A733-E8570391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05100"/>
            <a:ext cx="1081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Validate the fixed ranking on a recent independent cohort.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A4C7E-3A97-428F-868C-8E547E385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52825"/>
            <a:ext cx="1081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Compare follow-up outcomes, workload and equity with current practice.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D3EA9A-2DFA-4228-BB4E-4DB81A9E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00550"/>
            <a:ext cx="10810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75" b="0">
                <a:solidFill>
                  <a:srgbClr val="173843"/>
                </a:solidFill>
                <a:latin typeface="Helvetica Neue"/>
                <a:ea typeface="Helvetica Neue"/>
                <a:cs typeface="Helvetica Neue"/>
              </a:rPr>
              <a:t>Expand only if measured benefit and acceptable coverage justify the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B0069A-28D0-47A9-A9B8-A6DD25879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763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/>
          <a:lstStyle xmlns:a="http://schemas.openxmlformats.org/drawingml/2006/main">
            <a:def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0">
                <a:solidFill>
                  <a:srgbClr val="52646B"/>
                </a:solidFill>
                <a:latin typeface="Helvetica Neue"/>
                <a:ea typeface="Helvetica Neue"/>
                <a:cs typeface="Helvetica Neue"/>
              </a:rPr>
              <a:t>The demonstrated result is 39.17% capture at about 20% workload. Prevention and ROI remain open questions.</a:t>
            </a:r>
          </a:p>
        </p:txBody>
      </p:sp>
    </p:spTree>
    <p:extLst>
      <p:ext uri="{BB962C8B-B14F-4D97-AF65-F5344CB8AC3E}">
        <p14:creationId xmlns:p14="http://schemas.microsoft.com/office/powerpoint/2010/main" val="134994835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2026-10-13T12:20:49.0250000Z</dcterms:created>
  <dcterms:modified xsi:type="dcterms:W3CDTF">2026-10-13T12:20:49.0250000Z</dcterms:modified>
</coreProperties>
</file>