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6e865a357484f85" /><Relationship Type="http://schemas.openxmlformats.org/officeDocument/2006/relationships/extended-properties" Target="/docProps/app.xml" Id="R9b77a847c91946cb" /><Relationship Type="http://schemas.openxmlformats.org/officeDocument/2006/relationships/officeDocument" Target="/ppt/presentation.xml" Id="R1715a401d43b400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faa4f044617445c"/>
  </p:sldMasterIdLst>
  <p:notesMasterIdLst>
    <p:notesMasterId xmlns:r="http://schemas.openxmlformats.org/officeDocument/2006/relationships" r:id="Rac5d80f4cbb445c1"/>
  </p:notesMasterIdLst>
  <p:sldIdLst>
    <p:sldId xmlns:r="http://schemas.openxmlformats.org/officeDocument/2006/relationships" id="256" r:id="Rd88c4f1833334bf8"/>
    <p:sldId xmlns:r="http://schemas.openxmlformats.org/officeDocument/2006/relationships" id="257" r:id="R005321583c4747a1"/>
    <p:sldId xmlns:r="http://schemas.openxmlformats.org/officeDocument/2006/relationships" id="258" r:id="Ra36e513ed9d84ea7"/>
    <p:sldId xmlns:r="http://schemas.openxmlformats.org/officeDocument/2006/relationships" id="259" r:id="Rdff5687e77cf4bf0"/>
    <p:sldId xmlns:r="http://schemas.openxmlformats.org/officeDocument/2006/relationships" id="260" r:id="R9a7d3e858a074e40"/>
    <p:sldId xmlns:r="http://schemas.openxmlformats.org/officeDocument/2006/relationships" id="261" r:id="Ra7b828298e484b4e"/>
    <p:sldId xmlns:r="http://schemas.openxmlformats.org/officeDocument/2006/relationships" id="262" r:id="R4ef5789159094eac"/>
    <p:sldId xmlns:r="http://schemas.openxmlformats.org/officeDocument/2006/relationships" id="263" r:id="Ra07249767e57412e"/>
    <p:sldId xmlns:r="http://schemas.openxmlformats.org/officeDocument/2006/relationships" id="264" r:id="R84bc8fbeb9ce4945"/>
    <p:sldId xmlns:r="http://schemas.openxmlformats.org/officeDocument/2006/relationships" id="265" r:id="R0c9e203c0083482c"/>
    <p:sldId xmlns:r="http://schemas.openxmlformats.org/officeDocument/2006/relationships" id="266" r:id="R4129f5e38be74f3e"/>
    <p:sldId xmlns:r="http://schemas.openxmlformats.org/officeDocument/2006/relationships" id="267" r:id="R4fc3e64a915843f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872063e12b648bf" /><Relationship Type="http://schemas.openxmlformats.org/officeDocument/2006/relationships/slideMaster" Target="/ppt/slideMasters/slideMaster1.xml" Id="R5faa4f044617445c" /><Relationship Type="http://schemas.openxmlformats.org/officeDocument/2006/relationships/notesMaster" Target="/ppt/notesMasters/notesMaster1.xml" Id="Rac5d80f4cbb445c1" /><Relationship Type="http://schemas.openxmlformats.org/officeDocument/2006/relationships/presProps" Target="/ppt/presProps.xml" Id="R49be553467af474a" /><Relationship Type="http://schemas.openxmlformats.org/officeDocument/2006/relationships/tableStyles" Target="/ppt/tableStyles.xml" Id="Re9fae2e0dca141dc" /><Relationship Type="http://schemas.openxmlformats.org/officeDocument/2006/relationships/slide" Target="/ppt/slides/slide1.xml" Id="Rd88c4f1833334bf8" /><Relationship Type="http://schemas.openxmlformats.org/officeDocument/2006/relationships/slide" Target="/ppt/slides/slide2.xml" Id="R005321583c4747a1" /><Relationship Type="http://schemas.openxmlformats.org/officeDocument/2006/relationships/slide" Target="/ppt/slides/slide3.xml" Id="Ra36e513ed9d84ea7" /><Relationship Type="http://schemas.openxmlformats.org/officeDocument/2006/relationships/slide" Target="/ppt/slides/slide4.xml" Id="Rdff5687e77cf4bf0" /><Relationship Type="http://schemas.openxmlformats.org/officeDocument/2006/relationships/slide" Target="/ppt/slides/slide5.xml" Id="R9a7d3e858a074e40" /><Relationship Type="http://schemas.openxmlformats.org/officeDocument/2006/relationships/slide" Target="/ppt/slides/slide6.xml" Id="Ra7b828298e484b4e" /><Relationship Type="http://schemas.openxmlformats.org/officeDocument/2006/relationships/slide" Target="/ppt/slides/slide7.xml" Id="R4ef5789159094eac" /><Relationship Type="http://schemas.openxmlformats.org/officeDocument/2006/relationships/slide" Target="/ppt/slides/slide8.xml" Id="Ra07249767e57412e" /><Relationship Type="http://schemas.openxmlformats.org/officeDocument/2006/relationships/slide" Target="/ppt/slides/slide9.xml" Id="R84bc8fbeb9ce4945" /><Relationship Type="http://schemas.openxmlformats.org/officeDocument/2006/relationships/slide" Target="/ppt/slides/slide10.xml" Id="R0c9e203c0083482c" /><Relationship Type="http://schemas.openxmlformats.org/officeDocument/2006/relationships/slide" Target="/ppt/slides/slide11.xml" Id="R4129f5e38be74f3e" /><Relationship Type="http://schemas.openxmlformats.org/officeDocument/2006/relationships/slide" Target="/ppt/slides/slide12.xml" Id="R4fc3e64a915843f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75e79e6c2764d6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71ab25673684ca5" /><Relationship Type="http://schemas.openxmlformats.org/officeDocument/2006/relationships/notesMaster" Target="/ppt/notesMasters/notesMaster1.xml" Id="Re6d9b44b4d39401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2e7a420b1d74308" /><Relationship Type="http://schemas.openxmlformats.org/officeDocument/2006/relationships/notesMaster" Target="/ppt/notesMasters/notesMaster1.xml" Id="Rae3124f555984a7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6c19ebc391f4f49" /><Relationship Type="http://schemas.openxmlformats.org/officeDocument/2006/relationships/notesMaster" Target="/ppt/notesMasters/notesMaster1.xml" Id="R2f893e9a7fe84f4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f9aa2b4aeee493f" /><Relationship Type="http://schemas.openxmlformats.org/officeDocument/2006/relationships/notesMaster" Target="/ppt/notesMasters/notesMaster1.xml" Id="R6f032f720e104a9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e2b59e0b7eb485c" /><Relationship Type="http://schemas.openxmlformats.org/officeDocument/2006/relationships/notesMaster" Target="/ppt/notesMasters/notesMaster1.xml" Id="Rc475871adf9c41d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b688a0901234226" /><Relationship Type="http://schemas.openxmlformats.org/officeDocument/2006/relationships/notesMaster" Target="/ppt/notesMasters/notesMaster1.xml" Id="R892128e57c424c3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e727864f6ac4702" /><Relationship Type="http://schemas.openxmlformats.org/officeDocument/2006/relationships/notesMaster" Target="/ppt/notesMasters/notesMaster1.xml" Id="Rdf27745fe065485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afa145d56724d85" /><Relationship Type="http://schemas.openxmlformats.org/officeDocument/2006/relationships/notesMaster" Target="/ppt/notesMasters/notesMaster1.xml" Id="R4a203aa093a74d9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1dd9c28a3d249b1" /><Relationship Type="http://schemas.openxmlformats.org/officeDocument/2006/relationships/notesMaster" Target="/ppt/notesMasters/notesMaster1.xml" Id="Rb8040ee7a2d243a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e078c1696894531" /><Relationship Type="http://schemas.openxmlformats.org/officeDocument/2006/relationships/notesMaster" Target="/ppt/notesMasters/notesMaster1.xml" Id="R4413e3336ddc4d7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be078219725481f" /><Relationship Type="http://schemas.openxmlformats.org/officeDocument/2006/relationships/notesMaster" Target="/ppt/notesMasters/notesMaster1.xml" Id="Rc3dfbf35fc98458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042576019274a3f" /><Relationship Type="http://schemas.openxmlformats.org/officeDocument/2006/relationships/notesMaster" Target="/ppt/notesMasters/notesMaster1.xml" Id="R4f44a6392eb14d0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Dataset: Clore et al. (2014), UCI Diabetes 130-US Hospitals (1999–2008). https://doi.org/10.24432/C5230J</a:t>
            </a:r>
          </a:p>
          <a:p xmlns:a="http://schemas.openxmlformats.org/drawingml/2006/main">
            <a:r>
              <a:t>Source: notebooks 01–06 and saved reports in AIM_Capstone. Results verified 13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Dataset: Clore et al. (2014), UCI Diabetes 130-US Hospitals (1999–2008). https://doi.org/10.24432/C5230J</a:t>
            </a:r>
          </a:p>
          <a:p xmlns:a="http://schemas.openxmlformats.org/drawingml/2006/main">
            <a:r>
              <a:t>Classification target: readmitted == &lt;30. Discharge-time predictors. AP is sklearn average_precision_score, not trapezoidal PR-AUC.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notebooks 01–06 and saved reports in AIM_Capstone. Results verified 13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Dataset: Clore et al. (2014), UCI Diabetes 130-US Hospitals (1999–2008). https://doi.org/10.24432/C5230J</a:t>
            </a:r>
          </a:p>
          <a:p xmlns:a="http://schemas.openxmlformats.org/drawingml/2006/main">
            <a:r>
              <a:t>Cohort order: one encounter by lowest encounter_id, excluded codes 11,13,14,19,20,21, then invalid gender. IDs approximate chronology.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notebooks 01–06 and saved reports in AIM_Capstone. Results verified 13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02_data_cleaning_split.ipynb, 03_eda.ipynb, 04_feature_engineering.ipynb, Data_Dictionary.md. Rare-medication exclusions used full-cohort frequencies and remain a limitation.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notebooks 01–06 and saved reports in AIM_Capstone. Results verified 13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05_model_evaluation.ipynb and reports/significance_analysis/validation_metrics.csv. AP is primary. Three-fold stratified training CV tunes tree models. RF winner depth12, minimum leaf10. Boosting winner leaf7, L2=1.0.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notebooks 01–06 and saved reports in AIM_Capstone. Results verified 13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reports/significance_analysis/pairwise_tests.csv and notebook05. 5,000 paired stratified AP bootstrap samples, percentile individual CIs, approximate two-sided normal bootstrap-SE tests. Paired DeLong AUC tests (https://pubmed.ncbi.nlm.nih.gov/3203132/). Holm correction across 15 learned-model pairs ×2 metrics. Exploratory post-selection comparisons.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notebooks 01–06 and saved reports in AIM_Capstone. Results verified 13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notebook05 train AP 0.2802 original,0.2375 tuned. Tuned learning curve CSV. Final settings: max_leaf_nodes7,l2_regularization1.0,learning_rate0.1,max_iter200,min_samples_leaf25,early_stoppingTrue,random_state42. CV3.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notebooks 01–06 and saved reports in AIM_Capstone. Results verified 13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final_gradient_boosting_test_metrics.csv, policy_comparison.csv,test_bootstrap_intervals.csv. 300 fixed-model test bootstrap samples. Top20 ranking reranked in each sample.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notebooks 01–06 and saved reports in AIM_Capstone. Results verified 13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validation_calibration_bins.csv, validation_calibration_metrics.csv, validation_permutation_importance.csv. Five permutations per input column. SD measures shuffle variability, not CI.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notebooks 01–06 and saved reports in AIM_Capstone. Results verified 13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numeric_dependence.csv and representative_ice.csv. Background about1000 validation patients,60 ICE traces. Below: mean age PDP and coherent prior-inpatient scenario with representative profiles. Updating inpatient count also updates prior_inpatient and prior_utilization. Profiles nearest median score in each outcome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notebooks 01–06 and saved reports in AIM_Capstone. Results verified 13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group_confusion_rates.csv,reference_contrasts.csv,parity_summary.csv. Fixed top20 test policy. Reported contrasts individual unadjusted2,000 bootstrap CIs. Supported groupsN&gt;=100 positives&gt;=30 negatives&gt;=30; all groups retained in CSV. Payer insurance proxy not income.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notebooks 01–06 and saved reports in AIM_Capstone. Results verified 13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notebook06, README,requirements.txt,reports/reproducibility/verification_checks.json. Six notebooks157 code cells verified with fresh IPython processes. Eight identity matches ambiguous. No public GitHub URL verified. Mitigations proposed not implemented.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notebooks 01–06 and saved reports in AIM_Capstone. Results verified 13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68ddf9b5b645b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a4c8fe4c7e421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09812494bc48a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a15781919e4d7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5fba5b990946b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5790a05f99418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D809CE7-700C-49A8-BAFC-C76A167C94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DE38AA6-0636-4A7F-B4F6-F7280254A19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9F78892-CADB-4554-848E-4A24C0677F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277B6D1-4186-4421-8A50-1A4633DEF9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45F9A06-336D-4E6A-9F47-9F1595A2AC8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B5007CC-AF20-4BEF-838A-6B7452305B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09B09ED-F960-4669-8398-66A0A8DF860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0E2CFEE-981A-4712-90F0-8D6E4910333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4194416-B413-4CA1-9FAF-FE8D05638E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17AC19A-4C18-4F43-9472-E312F0B8CDE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ca22c79f0304f4f" /><Relationship Type="http://schemas.openxmlformats.org/officeDocument/2006/relationships/slideLayout" Target="/ppt/slideLayouts/slideLayout1.xml" Id="R3262e148652b4044" /><Relationship Type="http://schemas.openxmlformats.org/officeDocument/2006/relationships/slideLayout" Target="/ppt/slideLayouts/slideLayout2.xml" Id="R0fbaf86dba9d4b98" /><Relationship Type="http://schemas.openxmlformats.org/officeDocument/2006/relationships/slideLayout" Target="/ppt/slideLayouts/slideLayout3.xml" Id="R98514da44ab7400f" /><Relationship Type="http://schemas.openxmlformats.org/officeDocument/2006/relationships/slideLayout" Target="/ppt/slideLayouts/slideLayout4.xml" Id="R71341add27234baf" /><Relationship Type="http://schemas.openxmlformats.org/officeDocument/2006/relationships/slideLayout" Target="/ppt/slideLayouts/slideLayout5.xml" Id="R329c5cc96b024932" /><Relationship Type="http://schemas.openxmlformats.org/officeDocument/2006/relationships/slideLayout" Target="/ppt/slideLayouts/slideLayout6.xml" Id="Rf3161ccdaaec4f2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262e148652b4044"/>
    <p:sldLayoutId xmlns:r="http://schemas.openxmlformats.org/officeDocument/2006/relationships" id="2147483650" r:id="R0fbaf86dba9d4b98"/>
    <p:sldLayoutId xmlns:r="http://schemas.openxmlformats.org/officeDocument/2006/relationships" id="2147483651" r:id="R98514da44ab7400f"/>
    <p:sldLayoutId xmlns:r="http://schemas.openxmlformats.org/officeDocument/2006/relationships" id="2147483652" r:id="R71341add27234baf"/>
    <p:sldLayoutId xmlns:r="http://schemas.openxmlformats.org/officeDocument/2006/relationships" id="2147483653" r:id="R329c5cc96b024932"/>
    <p:sldLayoutId xmlns:r="http://schemas.openxmlformats.org/officeDocument/2006/relationships" id="2147483654" r:id="Rf3161ccdaaec4f2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86ba48055d4f4f" /><Relationship Type="http://schemas.openxmlformats.org/officeDocument/2006/relationships/notesSlide" Target="/ppt/notesSlides/notesSlide1.xml" Id="Rcc795ee8f8244e1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f4f37828084b43" /><Relationship Type="http://schemas.openxmlformats.org/officeDocument/2006/relationships/notesSlide" Target="/ppt/notesSlides/notesSlide2.xml" Id="R825d120ce5284db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73083ac5194597" /><Relationship Type="http://schemas.openxmlformats.org/officeDocument/2006/relationships/notesSlide" Target="/ppt/notesSlides/notesSlide3.xml" Id="Rad968ed34520453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a5c03265dd4442" /><Relationship Type="http://schemas.openxmlformats.org/officeDocument/2006/relationships/notesSlide" Target="/ppt/notesSlides/notesSlide4.xml" Id="R721171af4d8645e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494be2ec164d43" /><Relationship Type="http://schemas.openxmlformats.org/officeDocument/2006/relationships/notesSlide" Target="/ppt/notesSlides/notesSlide5.xml" Id="R13a3c04f31844eb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00e50bb8ee46a5" /><Relationship Type="http://schemas.openxmlformats.org/officeDocument/2006/relationships/notesSlide" Target="/ppt/notesSlides/notesSlide6.xml" Id="R817fd098f6c749f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4e27b58c1f405c" /><Relationship Type="http://schemas.openxmlformats.org/officeDocument/2006/relationships/chart" Target="/ppt/slides/charts/chart1.xml" Id="Rab69adfef26940f6" /><Relationship Type="http://schemas.openxmlformats.org/officeDocument/2006/relationships/notesSlide" Target="/ppt/notesSlides/notesSlide7.xml" Id="R10c8f16a7d3f44c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6b46302daf44aa" /><Relationship Type="http://schemas.openxmlformats.org/officeDocument/2006/relationships/notesSlide" Target="/ppt/notesSlides/notesSlide8.xml" Id="R409b048b5954406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4655fa9af144f5" /><Relationship Type="http://schemas.openxmlformats.org/officeDocument/2006/relationships/chart" Target="/ppt/slides/charts/chart2.xml" Id="R4ebcb4d5d28d4c6f" /><Relationship Type="http://schemas.openxmlformats.org/officeDocument/2006/relationships/chart" Target="/ppt/slides/charts/chart3.xml" Id="R38aaa247377c4560" /><Relationship Type="http://schemas.openxmlformats.org/officeDocument/2006/relationships/notesSlide" Target="/ppt/notesSlides/notesSlide9.xml" Id="R2f2f294240af4fa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fba08ea737484c" /><Relationship Type="http://schemas.openxmlformats.org/officeDocument/2006/relationships/chart" Target="/ppt/slides/charts/chart4.xml" Id="Rd1d530a5d61d45b8" /><Relationship Type="http://schemas.openxmlformats.org/officeDocument/2006/relationships/chart" Target="/ppt/slides/charts/chart5.xml" Id="R4a3eb57c41274fde" /><Relationship Type="http://schemas.openxmlformats.org/officeDocument/2006/relationships/notesSlide" Target="/ppt/notesSlides/notesSlide10.xml" Id="R10d5405b0cbf4dd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4e3a4e7aa24d3b" /><Relationship Type="http://schemas.openxmlformats.org/officeDocument/2006/relationships/notesSlide" Target="/ppt/notesSlides/notesSlide11.xml" Id="R1893d9c681d346b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30fdd8c62f4dfb" /><Relationship Type="http://schemas.openxmlformats.org/officeDocument/2006/relationships/notesSlide" Target="/ppt/notesSlides/notesSlide12.xml" Id="Rb9cd9b3016f3461e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Training AP</c:v>
          </c:tx>
          <c:spPr>
            <a:solidFill xmlns:a="http://schemas.openxmlformats.org/drawingml/2006/main">
              <a:srgbClr val="147D83"/>
            </a:solidFill>
            <a:ln xmlns:a="http://schemas.openxmlformats.org/drawingml/2006/main" w="28575">
              <a:solidFill>
                <a:srgbClr val="147D83"/>
              </a:solidFill>
              <a:prstDash val="solid"/>
            </a:ln>
          </c:spPr>
          <c:invertIfNegative val="0"/>
          <c:cat>
            <c:strRef>
              <c:f>'Chart Data'!$A$2:$A$3</c:f>
              <c:strCache>
                <c:ptCount val="2"/>
                <c:pt idx="0">
                  <c:v>Original boosting</c:v>
                </c:pt>
                <c:pt idx="1">
                  <c:v>Tuned boosting</c:v>
                </c:pt>
              </c:strCache>
            </c:strRef>
          </c:cat>
          <c:val>
            <c:numRef>
              <c:f>'Chart Data'!$B$2:$B$3</c:f>
              <c:numCache>
                <c:formatCode>0.00</c:formatCode>
                <c:ptCount val="2"/>
                <c:pt idx="0">
                  <c:v>0.2802</c:v>
                </c:pt>
                <c:pt idx="1">
                  <c:v>0.2375</c:v>
                </c:pt>
              </c:numCache>
            </c:numRef>
          </c:val>
        </c:ser>
        <c:ser>
          <c:idx val="1"/>
          <c:order val="1"/>
          <c:tx>
            <c:v>Validation AP</c:v>
          </c:tx>
          <c:spPr>
            <a:solidFill xmlns:a="http://schemas.openxmlformats.org/drawingml/2006/main">
              <a:srgbClr val="AC7B29"/>
            </a:solidFill>
            <a:ln xmlns:a="http://schemas.openxmlformats.org/drawingml/2006/main" w="28575">
              <a:solidFill>
                <a:srgbClr val="AC7B29"/>
              </a:solidFill>
              <a:prstDash val="solid"/>
            </a:ln>
          </c:spPr>
          <c:invertIfNegative val="0"/>
          <c:cat>
            <c:strRef>
              <c:f>'Chart Data'!$C$2:$C$3</c:f>
              <c:strCache>
                <c:ptCount val="2"/>
                <c:pt idx="0">
                  <c:v>Original boosting</c:v>
                </c:pt>
                <c:pt idx="1">
                  <c:v>Tuned boosting</c:v>
                </c:pt>
              </c:strCache>
            </c:strRef>
          </c:cat>
          <c:val>
            <c:numRef>
              <c:f>'Chart Data'!$D$2:$D$3</c:f>
              <c:numCache>
                <c:formatCode>0.00</c:formatCode>
                <c:ptCount val="2"/>
                <c:pt idx="0">
                  <c:v>0.1713</c:v>
                </c:pt>
                <c:pt idx="1">
                  <c:v>0.1696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173843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0.32"/>
          <c:min val="0"/>
        </c:scaling>
        <c:delete val="0"/>
        <c:axPos val="l"/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52646B"/>
              </a:solidFill>
              <a:latin typeface="Helvetica Neue"/>
              <a:ea typeface="Helvetica Neue"/>
              <a:cs typeface="Helvetica Neue"/>
            </a:defRPr>
          </a:pPr>
        </a:p>
      </c:txPr>
    </c:legend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Mean score</c:v>
          </c:tx>
          <c:spPr>
            <a:solidFill xmlns:a="http://schemas.openxmlformats.org/drawingml/2006/main">
              <a:srgbClr val="147D83"/>
            </a:solidFill>
            <a:ln xmlns:a="http://schemas.openxmlformats.org/drawingml/2006/main" w="28575">
              <a:solidFill>
                <a:srgbClr val="147D83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147D83"/>
              </a:solidFill>
            </c:spPr>
          </c:marker>
          <c:cat>
            <c:numRef>
              <c:f>'Chart Data'!$A$2:$A$11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cat>
          <c:val>
            <c:numRef>
              <c:f>'Chart Data'!$B$2:$B$11</c:f>
              <c:numCache>
                <c:formatCode>0%</c:formatCode>
                <c:ptCount val="10"/>
                <c:pt idx="0">
                  <c:v>0.04083674</c:v>
                </c:pt>
                <c:pt idx="1">
                  <c:v>0.05150061</c:v>
                </c:pt>
                <c:pt idx="2">
                  <c:v>0.05860692</c:v>
                </c:pt>
                <c:pt idx="3">
                  <c:v>0.06509139</c:v>
                </c:pt>
                <c:pt idx="4">
                  <c:v>0.07190889</c:v>
                </c:pt>
                <c:pt idx="5">
                  <c:v>0.08018488</c:v>
                </c:pt>
                <c:pt idx="6">
                  <c:v>0.09147585</c:v>
                </c:pt>
                <c:pt idx="7">
                  <c:v>0.10510457</c:v>
                </c:pt>
                <c:pt idx="8">
                  <c:v>0.12535737</c:v>
                </c:pt>
                <c:pt idx="9">
                  <c:v>0.20202026</c:v>
                </c:pt>
              </c:numCache>
            </c:numRef>
          </c:val>
        </c:ser>
        <c:ser>
          <c:idx val="1"/>
          <c:order val="1"/>
          <c:tx>
            <c:v>Observed rate</c:v>
          </c:tx>
          <c:spPr>
            <a:solidFill xmlns:a="http://schemas.openxmlformats.org/drawingml/2006/main">
              <a:srgbClr val="AC7B29"/>
            </a:solidFill>
            <a:ln xmlns:a="http://schemas.openxmlformats.org/drawingml/2006/main" w="28575">
              <a:solidFill>
                <a:srgbClr val="AC7B29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AC7B29"/>
              </a:solidFill>
            </c:spPr>
          </c:marker>
          <c:cat>
            <c:numRef>
              <c:f>'Chart Data'!$C$2:$C$11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cat>
          <c:val>
            <c:numRef>
              <c:f>'Chart Data'!$D$2:$D$11</c:f>
              <c:numCache>
                <c:formatCode>0%</c:formatCode>
                <c:ptCount val="10"/>
                <c:pt idx="0">
                  <c:v>0.03619048</c:v>
                </c:pt>
                <c:pt idx="1">
                  <c:v>0.06285714</c:v>
                </c:pt>
                <c:pt idx="2">
                  <c:v>0.05243089</c:v>
                </c:pt>
                <c:pt idx="3">
                  <c:v>0.06666667</c:v>
                </c:pt>
                <c:pt idx="4">
                  <c:v>0.07626311</c:v>
                </c:pt>
                <c:pt idx="5">
                  <c:v>0.07904762</c:v>
                </c:pt>
                <c:pt idx="6">
                  <c:v>0.09532888</c:v>
                </c:pt>
                <c:pt idx="7">
                  <c:v>0.08571429</c:v>
                </c:pt>
                <c:pt idx="8">
                  <c:v>0.12488084</c:v>
                </c:pt>
                <c:pt idx="9">
                  <c:v>0.21809524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173843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0.25"/>
          <c:min val="0"/>
        </c:scaling>
        <c:delete val="0"/>
        <c:axPos val="l"/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52646B"/>
              </a:solidFill>
              <a:latin typeface="Helvetica Neue"/>
              <a:ea typeface="Helvetica Neue"/>
              <a:cs typeface="Helvetica Neue"/>
            </a:defRPr>
          </a:pPr>
        </a:p>
      </c:txPr>
    </c:legend>
    <c:plotVisOnly val="1"/>
  </c:chart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AP decrease</c:v>
          </c:tx>
          <c:spPr>
            <a:solidFill xmlns:a="http://schemas.openxmlformats.org/drawingml/2006/main">
              <a:srgbClr val="147D83"/>
            </a:solidFill>
            <a:ln xmlns:a="http://schemas.openxmlformats.org/drawingml/2006/main" w="28575">
              <a:solidFill>
                <a:srgbClr val="147D83"/>
              </a:solidFill>
              <a:prstDash val="solid"/>
            </a:ln>
          </c:spPr>
          <c:invertIfNegative val="0"/>
          <c:cat>
            <c:strRef>
              <c:f>'Chart Data'!$A$2:$A$6</c:f>
              <c:strCache>
                <c:ptCount val="5"/>
                <c:pt idx="0">
                  <c:v>Discharge</c:v>
                </c:pt>
                <c:pt idx="1">
                  <c:v>Inpatient</c:v>
                </c:pt>
                <c:pt idx="2">
                  <c:v>Payer</c:v>
                </c:pt>
                <c:pt idx="3">
                  <c:v>Diagnoses</c:v>
                </c:pt>
                <c:pt idx="4">
                  <c:v>Age</c:v>
                </c:pt>
              </c:strCache>
            </c:strRef>
          </c:cat>
          <c:val>
            <c:numRef>
              <c:f>'Chart Data'!$B$2:$B$6</c:f>
              <c:numCache>
                <c:formatCode>0.00</c:formatCode>
                <c:ptCount val="5"/>
                <c:pt idx="0">
                  <c:v>0.05616473</c:v>
                </c:pt>
                <c:pt idx="1">
                  <c:v>0.01861178</c:v>
                </c:pt>
                <c:pt idx="2">
                  <c:v>0.00732473</c:v>
                </c:pt>
                <c:pt idx="3">
                  <c:v>0.00527396</c:v>
                </c:pt>
                <c:pt idx="4">
                  <c:v>0.00249981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173843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0.065"/>
          <c:min val="0"/>
        </c:scaling>
        <c:delete val="0"/>
        <c:axPos val="l"/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Mean age response</c:v>
          </c:tx>
          <c:spPr>
            <a:solidFill xmlns:a="http://schemas.openxmlformats.org/drawingml/2006/main">
              <a:srgbClr val="147D83"/>
            </a:solidFill>
            <a:ln xmlns:a="http://schemas.openxmlformats.org/drawingml/2006/main" w="28575">
              <a:solidFill>
                <a:srgbClr val="147D83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147D83"/>
              </a:solidFill>
            </c:spPr>
          </c:marker>
          <c:cat>
            <c:numRef>
              <c:f>'Chart Data'!$A$2:$A$11</c:f>
              <c:numCache>
                <c:formatCode>General</c:formatCode>
                <c:ptCount val="10"/>
                <c:pt idx="0">
                  <c:v>5</c:v>
                </c:pt>
                <c:pt idx="1">
                  <c:v>15</c:v>
                </c:pt>
                <c:pt idx="2">
                  <c:v>25</c:v>
                </c:pt>
                <c:pt idx="3">
                  <c:v>35</c:v>
                </c:pt>
                <c:pt idx="4">
                  <c:v>45</c:v>
                </c:pt>
                <c:pt idx="5">
                  <c:v>55</c:v>
                </c:pt>
                <c:pt idx="6">
                  <c:v>65</c:v>
                </c:pt>
                <c:pt idx="7">
                  <c:v>75</c:v>
                </c:pt>
                <c:pt idx="8">
                  <c:v>85</c:v>
                </c:pt>
                <c:pt idx="9">
                  <c:v>95</c:v>
                </c:pt>
              </c:numCache>
            </c:numRef>
          </c:cat>
          <c:val>
            <c:numRef>
              <c:f>'Chart Data'!$B$2:$B$11</c:f>
              <c:numCache>
                <c:formatCode>0.0%</c:formatCode>
                <c:ptCount val="10"/>
                <c:pt idx="0">
                  <c:v>0.08453808</c:v>
                </c:pt>
                <c:pt idx="1">
                  <c:v>0.08453808</c:v>
                </c:pt>
                <c:pt idx="2">
                  <c:v>0.08453808</c:v>
                </c:pt>
                <c:pt idx="3">
                  <c:v>0.08453808</c:v>
                </c:pt>
                <c:pt idx="4">
                  <c:v>0.08448998</c:v>
                </c:pt>
                <c:pt idx="5">
                  <c:v>0.08444702</c:v>
                </c:pt>
                <c:pt idx="6">
                  <c:v>0.09482782</c:v>
                </c:pt>
                <c:pt idx="7">
                  <c:v>0.09465596</c:v>
                </c:pt>
                <c:pt idx="8">
                  <c:v>0.09287224</c:v>
                </c:pt>
                <c:pt idx="9">
                  <c:v>0.09037592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173843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0.105"/>
          <c:min val="0.075"/>
        </c:scaling>
        <c:delete val="0"/>
        <c:axPos val="l"/>
        <c:numFmt formatCode="0.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True positive</c:v>
          </c:tx>
          <c:spPr>
            <a:solidFill xmlns:a="http://schemas.openxmlformats.org/drawingml/2006/main">
              <a:srgbClr val="147D83"/>
            </a:solidFill>
            <a:ln xmlns:a="http://schemas.openxmlformats.org/drawingml/2006/main" w="28575">
              <a:solidFill>
                <a:srgbClr val="147D83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147D83"/>
              </a:solidFill>
            </c:spPr>
          </c:marker>
          <c:cat>
            <c:numRef>
              <c:f>'Chart Data'!$A$2:$A$3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cat>
          <c:val>
            <c:numRef>
              <c:f>'Chart Data'!$B$2:$B$3</c:f>
              <c:numCache>
                <c:formatCode>0%</c:formatCode>
                <c:ptCount val="2"/>
                <c:pt idx="0">
                  <c:v>0.06959505</c:v>
                </c:pt>
                <c:pt idx="1">
                  <c:v>0.10436866</c:v>
                </c:pt>
              </c:numCache>
            </c:numRef>
          </c:val>
        </c:ser>
        <c:ser>
          <c:idx val="1"/>
          <c:order val="1"/>
          <c:tx>
            <c:v>False positive</c:v>
          </c:tx>
          <c:spPr>
            <a:solidFill xmlns:a="http://schemas.openxmlformats.org/drawingml/2006/main">
              <a:srgbClr val="AC7B29"/>
            </a:solidFill>
            <a:ln xmlns:a="http://schemas.openxmlformats.org/drawingml/2006/main" w="28575">
              <a:solidFill>
                <a:srgbClr val="AC7B29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AC7B29"/>
              </a:solidFill>
            </c:spPr>
          </c:marker>
          <c:cat>
            <c:numRef>
              <c:f>'Chart Data'!$C$2:$C$3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cat>
          <c:val>
            <c:numRef>
              <c:f>'Chart Data'!$D$2:$D$3</c:f>
              <c:numCache>
                <c:formatCode>0%</c:formatCode>
                <c:ptCount val="2"/>
                <c:pt idx="0">
                  <c:v>0.10523172</c:v>
                </c:pt>
                <c:pt idx="1">
                  <c:v>0.1240613</c:v>
                </c:pt>
              </c:numCache>
            </c:numRef>
          </c:val>
        </c:ser>
        <c:ser>
          <c:idx val="2"/>
          <c:order val="2"/>
          <c:tx>
            <c:v>False negative</c:v>
          </c:tx>
          <c:spPr>
            <a:solidFill xmlns:a="http://schemas.openxmlformats.org/drawingml/2006/main">
              <a:srgbClr val="AC4339"/>
            </a:solidFill>
            <a:ln xmlns:a="http://schemas.openxmlformats.org/drawingml/2006/main" w="28575">
              <a:solidFill>
                <a:srgbClr val="AC4339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AC4339"/>
              </a:solidFill>
            </c:spPr>
          </c:marker>
          <c:cat>
            <c:numRef>
              <c:f>'Chart Data'!$E$2:$E$3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cat>
          <c:val>
            <c:numRef>
              <c:f>'Chart Data'!$F$2:$F$3</c:f>
              <c:numCache>
                <c:formatCode>0%</c:formatCode>
                <c:ptCount val="2"/>
                <c:pt idx="0">
                  <c:v>0.07032226</c:v>
                </c:pt>
                <c:pt idx="1">
                  <c:v>0.11088887</c:v>
                </c:pt>
              </c:numCache>
            </c:numRef>
          </c:val>
        </c:ser>
        <c:ser>
          <c:idx val="3"/>
          <c:order val="3"/>
          <c:tx>
            <c:v>True negative</c:v>
          </c:tx>
          <c:spPr>
            <a:solidFill xmlns:a="http://schemas.openxmlformats.org/drawingml/2006/main">
              <a:srgbClr val="718FA1"/>
            </a:solidFill>
            <a:ln xmlns:a="http://schemas.openxmlformats.org/drawingml/2006/main" w="28575">
              <a:solidFill>
                <a:srgbClr val="718FA1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718FA1"/>
              </a:solidFill>
            </c:spPr>
          </c:marker>
          <c:cat>
            <c:numRef>
              <c:f>'Chart Data'!$G$2:$G$3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cat>
          <c:val>
            <c:numRef>
              <c:f>'Chart Data'!$H$2:$H$3</c:f>
              <c:numCache>
                <c:formatCode>0%</c:formatCode>
                <c:ptCount val="2"/>
                <c:pt idx="0">
                  <c:v>0.06521225</c:v>
                </c:pt>
                <c:pt idx="1">
                  <c:v>0.09099832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173843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0.14"/>
          <c:min val="0.05"/>
        </c:scaling>
        <c:delete val="0"/>
        <c:axPos val="l"/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52646B"/>
              </a:solidFill>
              <a:latin typeface="Helvetica Neue"/>
              <a:ea typeface="Helvetica Neue"/>
              <a:cs typeface="Helvetica Neue"/>
            </a:defRPr>
          </a:pPr>
        </a:p>
      </c:txPr>
    </c:legend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8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C7AB1E-B18F-4070-A78C-2E6453917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09700"/>
            <a:ext cx="10191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4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4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Predicting 30-day</a:t>
            </a:r>
          </a:p>
          <a:p xmlns:a="http://schemas.openxmlformats.org/drawingml/2006/main">
            <a:pPr>
              <a:defRPr sz="4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hospital readmission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D06832-5106-4164-850E-0C7D80727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57625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0">
                <a:solidFill>
                  <a:srgbClr val="BFE4E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BFE4E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BFE4E2"/>
                </a:solidFill>
                <a:latin typeface="Helvetica Neue"/>
                <a:ea typeface="Helvetica Neue"/>
                <a:cs typeface="Helvetica Neue"/>
              </a:rPr>
              <a:t>Technical presentation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229BED-9EDB-40BB-8FB9-01B0C3649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10200"/>
            <a:ext cx="1000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Edzel Dela Cruz</a:t>
            </a:r>
          </a:p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AIM Diploma Course in AI and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19240521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5ED81F-6304-489C-ABBC-18A3832CE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300" b="1">
                <a:solidFill>
                  <a:srgbClr val="17384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8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73843"/>
                </a:solidFill>
                <a:latin typeface="Helvetica Neue"/>
                <a:ea typeface="Helvetica Neue"/>
                <a:cs typeface="Helvetica Neue"/>
              </a:rPr>
              <a:t>Problem framing and success criteria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DEC885-48D1-4C76-B457-EA6EE96E8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rPr>
              <a:t>A discharge-time binary classification task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2E5715-1F40-41B0-AAA6-70D2DDB1A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91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170A61-F2E1-4C79-92F3-929B0846F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rPr>
              <a:t>Business decision: which patients receive additional follow-up?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BC52B6-E86F-4D16-8854-12084E6D9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6025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rPr>
              <a:t>Primary metric: average precision (AP) for imbalanced outcomes.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FB980C-3A00-4553-B930-26629D06B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09925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rPr>
              <a:t>Business target: capture at least 30% of readmissions in the top 20%.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5D125B-031C-4A34-95A0-DB014393E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33825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rPr>
              <a:t>Outcome measured: recorded readmission within 30 days.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9471A7-AEAA-4348-80E0-E01DFF5EF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rPr>
              <a:t>Prediction supports prioritization. The project does not estimate intervention benefit.</a:t>
            </a:r>
          </a:p>
        </p:txBody>
      </p:sp>
    </p:spTree>
    <p:extLst>
      <p:ext uri="{BB962C8B-B14F-4D97-AF65-F5344CB8AC3E}">
        <p14:creationId xmlns:p14="http://schemas.microsoft.com/office/powerpoint/2010/main" val="5793981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CD266E-D62B-480C-8410-C444EA77D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300" b="1">
                <a:solidFill>
                  <a:srgbClr val="17384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8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73843"/>
                </a:solidFill>
                <a:latin typeface="Helvetica Neue"/>
                <a:ea typeface="Helvetica Neue"/>
                <a:cs typeface="Helvetica Neue"/>
              </a:rPr>
              <a:t>Dataset and analysis cohort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2E5889-7764-4AF7-8E8B-E11076DC4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rPr>
              <a:t>Historical records across 130 US hospitals, 1999–2008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89B715-0A54-4A04-95C4-4759AE63B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91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5389EB-C444-4942-ADA8-E5F111C93AE7}"/>
              </a:ext>
            </a:extLst>
          </p:cNvPr>
          <p:cNvGraphicFramePr/>
          <p:nvPr/>
        </p:nvGraphicFramePr>
        <p:xfrm>
          <a:off xmlns:a="http://schemas.openxmlformats.org/drawingml/2006/main" x="666750" y="1828800"/>
          <a:ext xmlns:a="http://schemas.openxmlformats.org/drawingml/2006/main" cx="57150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95750"/>
                <a:gridCol w="1619250"/>
              </a:tblGrid>
              <a:tr h="6286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Cohort step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DE7E8"/>
                      </a:solidFill>
                      <a:prstDash val="solid"/>
                    </a:lnL>
                    <a:lnR w="9525">
                      <a:solidFill>
                        <a:srgbClr val="DDE7E8"/>
                      </a:solidFill>
                      <a:prstDash val="solid"/>
                    </a:lnR>
                    <a:lnT w="9525">
                      <a:solidFill>
                        <a:srgbClr val="DDE7E8"/>
                      </a:solidFill>
                      <a:prstDash val="solid"/>
                    </a:lnT>
                    <a:lnB w="9525">
                      <a:solidFill>
                        <a:srgbClr val="DDE7E8"/>
                      </a:solidFill>
                      <a:prstDash val="solid"/>
                    </a:lnB>
                    <a:solidFill>
                      <a:srgbClr val="1738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Records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7E8"/>
                      </a:solidFill>
                      <a:prstDash val="solid"/>
                    </a:lnR>
                    <a:lnT w="9525">
                      <a:solidFill>
                        <a:srgbClr val="DDE7E8"/>
                      </a:solidFill>
                      <a:prstDash val="solid"/>
                    </a:lnT>
                    <a:lnB w="9525">
                      <a:solidFill>
                        <a:srgbClr val="DDE7E8"/>
                      </a:solidFill>
                      <a:prstDash val="solid"/>
                    </a:lnB>
                    <a:solidFill>
                      <a:srgbClr val="173843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Raw encounters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DE7E8"/>
                      </a:solidFill>
                      <a:prstDash val="solid"/>
                    </a:lnL>
                    <a:lnR w="9525">
                      <a:solidFill>
                        <a:srgbClr val="DDE7E8"/>
                      </a:solidFill>
                      <a:prstDash val="solid"/>
                    </a:lnR>
                    <a:lnB w="9525">
                      <a:solidFill>
                        <a:srgbClr val="DDE7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101,766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7E8"/>
                      </a:solidFill>
                      <a:prstDash val="solid"/>
                    </a:lnR>
                    <a:lnB w="9525">
                      <a:solidFill>
                        <a:srgbClr val="DDE7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One encounter per patient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DE7E8"/>
                      </a:solidFill>
                      <a:prstDash val="solid"/>
                    </a:lnL>
                    <a:lnR w="9525">
                      <a:solidFill>
                        <a:srgbClr val="DDE7E8"/>
                      </a:solidFill>
                      <a:prstDash val="solid"/>
                    </a:lnR>
                    <a:lnB w="9525">
                      <a:solidFill>
                        <a:srgbClr val="DDE7E8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71,518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7E8"/>
                      </a:solidFill>
                      <a:prstDash val="solid"/>
                    </a:lnR>
                    <a:lnB w="9525">
                      <a:solidFill>
                        <a:srgbClr val="DDE7E8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After discharge exclusions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DE7E8"/>
                      </a:solidFill>
                      <a:prstDash val="solid"/>
                    </a:lnL>
                    <a:lnR w="9525">
                      <a:solidFill>
                        <a:srgbClr val="DDE7E8"/>
                      </a:solidFill>
                      <a:prstDash val="solid"/>
                    </a:lnR>
                    <a:lnB w="9525">
                      <a:solidFill>
                        <a:srgbClr val="DDE7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69,973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7E8"/>
                      </a:solidFill>
                      <a:prstDash val="solid"/>
                    </a:lnR>
                    <a:lnB w="9525">
                      <a:solidFill>
                        <a:srgbClr val="DDE7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Final patients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DE7E8"/>
                      </a:solidFill>
                      <a:prstDash val="solid"/>
                    </a:lnL>
                    <a:lnR w="9525">
                      <a:solidFill>
                        <a:srgbClr val="DDE7E8"/>
                      </a:solidFill>
                      <a:prstDash val="solid"/>
                    </a:lnR>
                    <a:lnB w="9525">
                      <a:solidFill>
                        <a:srgbClr val="DDE7E8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69,970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7E8"/>
                      </a:solidFill>
                      <a:prstDash val="solid"/>
                    </a:lnR>
                    <a:lnB w="9525">
                      <a:solidFill>
                        <a:srgbClr val="DDE7E8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8865E9-491E-4457-8A3F-0B02C5B8F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952625"/>
            <a:ext cx="4095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4950" b="1">
                <a:solidFill>
                  <a:srgbClr val="147D8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4950" b="1">
                <a:solidFill>
                  <a:srgbClr val="147D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4950" b="1">
                <a:solidFill>
                  <a:srgbClr val="147D83"/>
                </a:solidFill>
                <a:latin typeface="Helvetica Neue"/>
                <a:ea typeface="Helvetica Neue"/>
                <a:cs typeface="Helvetica Neue"/>
              </a:rPr>
              <a:t>8.97%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DEBAF1-9272-4645-8418-78807D7BD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857500"/>
            <a:ext cx="4191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rPr>
              <a:t>6,277 recorded readmissions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3E90A8-686B-4EE8-82DB-479265FAE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829050"/>
            <a:ext cx="4191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rPr>
              <a:t>48,978 training</a:t>
            </a:r>
          </a:p>
          <a:p xmlns:a="http://schemas.openxmlformats.org/drawingml/2006/main">
            <a:pPr>
              <a:defRPr sz="2025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rPr>
              <a:t>10,496 validation</a:t>
            </a:r>
          </a:p>
          <a:p xmlns:a="http://schemas.openxmlformats.org/drawingml/2006/main">
            <a:pPr>
              <a:defRPr sz="2025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rPr>
              <a:t>10,496 test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D32CE2-A7EF-4E40-8DC1-5B9A599BF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rPr>
              <a:t>Stratified 70% / 15% / 15% split, seed 42. One retained encounter per patient.</a:t>
            </a:r>
          </a:p>
        </p:txBody>
      </p:sp>
    </p:spTree>
    <p:extLst>
      <p:ext uri="{BB962C8B-B14F-4D97-AF65-F5344CB8AC3E}">
        <p14:creationId xmlns:p14="http://schemas.microsoft.com/office/powerpoint/2010/main" val="72715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CD930A-4605-4355-A752-8FAF083F3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300" b="1">
                <a:solidFill>
                  <a:srgbClr val="17384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8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73843"/>
                </a:solidFill>
                <a:latin typeface="Helvetica Neue"/>
                <a:ea typeface="Helvetica Neue"/>
                <a:cs typeface="Helvetica Neue"/>
              </a:rPr>
              <a:t>Preprocessing and feature engineering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B349E8-1D56-49A4-9B3D-49C392A02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rPr>
              <a:t>Fixed row formulas precede training-fitted transformations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074E1E-2EDB-4719-A0FB-F23EA42FA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91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0D27B5-1198-4FC9-ADD2-1BB58CC23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1">
                <a:solidFill>
                  <a:srgbClr val="147D8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47D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7D83"/>
                </a:solidFill>
                <a:latin typeface="Helvetica Neue"/>
                <a:ea typeface="Helvetica Neue"/>
                <a:cs typeface="Helvetica Neue"/>
              </a:rPr>
              <a:t>Data preparation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7C5AAC-3C17-42B8-B35C-DA4C20BD0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24125"/>
            <a:ext cx="4953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950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rPr>
              <a:t>Missing category labels and numeric imputation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0D4672-099A-439E-8B01-697CE6ED9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57575"/>
            <a:ext cx="4953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950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rPr>
              <a:t>One patient row and target/ID exclusions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768FA6-4218-4F4F-9BE9-642856597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91025"/>
            <a:ext cx="4953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950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rPr>
              <a:t>Retain valid high utilization counts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5D598D-FD7B-499C-A346-21D4B9671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57375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1">
                <a:solidFill>
                  <a:srgbClr val="147D8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47D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7D83"/>
                </a:solidFill>
                <a:latin typeface="Helvetica Neue"/>
                <a:ea typeface="Helvetica Neue"/>
                <a:cs typeface="Helvetica Neue"/>
              </a:rPr>
              <a:t>Feature representation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2B30D1-FBC1-4BCE-B160-6D6A7EC5A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24125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950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rPr>
              <a:t>Six domain features, including prior utilization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13CBAB-A24D-48D6-A729-C6CE2F57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05175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950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rPr>
              <a:t>Scaling and one-hot encoding within pipelines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343A03-CBD7-4DFB-ADC6-D0593A5AF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86225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950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rPr>
              <a:t>L1 selection: 280 encoded features to 82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D49FEC-3404-4E8A-84FC-69729510E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67275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950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rPr>
              <a:t>SVD: 40 components, with lower validation AP</a:t>
            </a:r>
          </a:p>
        </p:txBody>
      </p:sp>
    </p:spTree>
    <p:extLst>
      <p:ext uri="{BB962C8B-B14F-4D97-AF65-F5344CB8AC3E}">
        <p14:creationId xmlns:p14="http://schemas.microsoft.com/office/powerpoint/2010/main" val="17225724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BCB010-B331-4F46-BD77-DC4600894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300" b="1">
                <a:solidFill>
                  <a:srgbClr val="17384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8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73843"/>
                </a:solidFill>
                <a:latin typeface="Helvetica Neue"/>
                <a:ea typeface="Helvetica Neue"/>
                <a:cs typeface="Helvetica Neue"/>
              </a:rPr>
              <a:t>Validation model comparison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896246-017C-4745-A83E-08A09F68C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rPr>
              <a:t>All candidates use the same 10,496 validation patients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159C43-1840-4865-8AB4-67C29C2D7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91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BDB2C0-BCB1-4EBC-AD10-896A3BAAC777}"/>
              </a:ext>
            </a:extLst>
          </p:cNvPr>
          <p:cNvGraphicFramePr/>
          <p:nvPr/>
        </p:nvGraphicFramePr>
        <p:xfrm>
          <a:off xmlns:a="http://schemas.openxmlformats.org/drawingml/2006/main" x="666750" y="1828800"/>
          <a:ext xmlns:a="http://schemas.openxmlformats.org/drawingml/2006/main" cx="10810875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477000"/>
                <a:gridCol w="2095500"/>
                <a:gridCol w="2238375"/>
              </a:tblGrid>
              <a:tr h="428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DE7E8"/>
                      </a:solidFill>
                      <a:prstDash val="solid"/>
                    </a:lnL>
                    <a:lnR w="9525">
                      <a:solidFill>
                        <a:srgbClr val="DDE7E8"/>
                      </a:solidFill>
                      <a:prstDash val="solid"/>
                    </a:lnR>
                    <a:lnT w="9525">
                      <a:solidFill>
                        <a:srgbClr val="DDE7E8"/>
                      </a:solidFill>
                      <a:prstDash val="solid"/>
                    </a:lnT>
                    <a:lnB w="9525">
                      <a:solidFill>
                        <a:srgbClr val="DDE7E8"/>
                      </a:solidFill>
                      <a:prstDash val="solid"/>
                    </a:lnB>
                    <a:solidFill>
                      <a:srgbClr val="1738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AP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7E8"/>
                      </a:solidFill>
                      <a:prstDash val="solid"/>
                    </a:lnR>
                    <a:lnT w="9525">
                      <a:solidFill>
                        <a:srgbClr val="DDE7E8"/>
                      </a:solidFill>
                      <a:prstDash val="solid"/>
                    </a:lnT>
                    <a:lnB w="9525">
                      <a:solidFill>
                        <a:srgbClr val="DDE7E8"/>
                      </a:solidFill>
                      <a:prstDash val="solid"/>
                    </a:lnB>
                    <a:solidFill>
                      <a:srgbClr val="1738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ROC-AUC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7E8"/>
                      </a:solidFill>
                      <a:prstDash val="solid"/>
                    </a:lnR>
                    <a:lnT w="9525">
                      <a:solidFill>
                        <a:srgbClr val="DDE7E8"/>
                      </a:solidFill>
                      <a:prstDash val="solid"/>
                    </a:lnT>
                    <a:lnB w="9525">
                      <a:solidFill>
                        <a:srgbClr val="DDE7E8"/>
                      </a:solidFill>
                      <a:prstDash val="solid"/>
                    </a:lnB>
                    <a:solidFill>
                      <a:srgbClr val="173843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Dummy prior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DE7E8"/>
                      </a:solidFill>
                      <a:prstDash val="solid"/>
                    </a:lnL>
                    <a:lnR w="9525">
                      <a:solidFill>
                        <a:srgbClr val="DDE7E8"/>
                      </a:solidFill>
                      <a:prstDash val="solid"/>
                    </a:lnR>
                    <a:lnB w="9525">
                      <a:solidFill>
                        <a:srgbClr val="DDE7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0.0897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7E8"/>
                      </a:solidFill>
                      <a:prstDash val="solid"/>
                    </a:lnR>
                    <a:lnB w="9525">
                      <a:solidFill>
                        <a:srgbClr val="DDE7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0.5000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7E8"/>
                      </a:solidFill>
                      <a:prstDash val="solid"/>
                    </a:lnR>
                    <a:lnB w="9525">
                      <a:solidFill>
                        <a:srgbClr val="DDE7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Logistic, full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DE7E8"/>
                      </a:solidFill>
                      <a:prstDash val="solid"/>
                    </a:lnL>
                    <a:lnR w="9525">
                      <a:solidFill>
                        <a:srgbClr val="DDE7E8"/>
                      </a:solidFill>
                      <a:prstDash val="solid"/>
                    </a:lnR>
                    <a:lnB w="9525">
                      <a:solidFill>
                        <a:srgbClr val="DDE7E8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0.1603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7E8"/>
                      </a:solidFill>
                      <a:prstDash val="solid"/>
                    </a:lnR>
                    <a:lnB w="9525">
                      <a:solidFill>
                        <a:srgbClr val="DDE7E8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0.6384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7E8"/>
                      </a:solidFill>
                      <a:prstDash val="solid"/>
                    </a:lnR>
                    <a:lnB w="9525">
                      <a:solidFill>
                        <a:srgbClr val="DDE7E8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Logistic, L1 selected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DE7E8"/>
                      </a:solidFill>
                      <a:prstDash val="solid"/>
                    </a:lnL>
                    <a:lnR w="9525">
                      <a:solidFill>
                        <a:srgbClr val="DDE7E8"/>
                      </a:solidFill>
                      <a:prstDash val="solid"/>
                    </a:lnR>
                    <a:lnB w="9525">
                      <a:solidFill>
                        <a:srgbClr val="DDE7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0.1569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7E8"/>
                      </a:solidFill>
                      <a:prstDash val="solid"/>
                    </a:lnR>
                    <a:lnB w="9525">
                      <a:solidFill>
                        <a:srgbClr val="DDE7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0.6345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7E8"/>
                      </a:solidFill>
                      <a:prstDash val="solid"/>
                    </a:lnR>
                    <a:lnB w="9525">
                      <a:solidFill>
                        <a:srgbClr val="DDE7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Logistic, 40 SVD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DE7E8"/>
                      </a:solidFill>
                      <a:prstDash val="solid"/>
                    </a:lnL>
                    <a:lnR w="9525">
                      <a:solidFill>
                        <a:srgbClr val="DDE7E8"/>
                      </a:solidFill>
                      <a:prstDash val="solid"/>
                    </a:lnR>
                    <a:lnB w="9525">
                      <a:solidFill>
                        <a:srgbClr val="DDE7E8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0.1437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7E8"/>
                      </a:solidFill>
                      <a:prstDash val="solid"/>
                    </a:lnR>
                    <a:lnB w="9525">
                      <a:solidFill>
                        <a:srgbClr val="DDE7E8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0.6227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7E8"/>
                      </a:solidFill>
                      <a:prstDash val="solid"/>
                    </a:lnR>
                    <a:lnB w="9525">
                      <a:solidFill>
                        <a:srgbClr val="DDE7E8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Tuned random forest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DE7E8"/>
                      </a:solidFill>
                      <a:prstDash val="solid"/>
                    </a:lnL>
                    <a:lnR w="9525">
                      <a:solidFill>
                        <a:srgbClr val="DDE7E8"/>
                      </a:solidFill>
                      <a:prstDash val="solid"/>
                    </a:lnR>
                    <a:lnB w="9525">
                      <a:solidFill>
                        <a:srgbClr val="DDE7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0.1662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7E8"/>
                      </a:solidFill>
                      <a:prstDash val="solid"/>
                    </a:lnR>
                    <a:lnB w="9525">
                      <a:solidFill>
                        <a:srgbClr val="DDE7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0.6457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7E8"/>
                      </a:solidFill>
                      <a:prstDash val="solid"/>
                    </a:lnR>
                    <a:lnB w="9525">
                      <a:solidFill>
                        <a:srgbClr val="DDE7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Original boosting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DE7E8"/>
                      </a:solidFill>
                      <a:prstDash val="solid"/>
                    </a:lnL>
                    <a:lnR w="9525">
                      <a:solidFill>
                        <a:srgbClr val="DDE7E8"/>
                      </a:solidFill>
                      <a:prstDash val="solid"/>
                    </a:lnR>
                    <a:lnB w="9525">
                      <a:solidFill>
                        <a:srgbClr val="DDE7E8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0.1713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7E8"/>
                      </a:solidFill>
                      <a:prstDash val="solid"/>
                    </a:lnR>
                    <a:lnB w="9525">
                      <a:solidFill>
                        <a:srgbClr val="DDE7E8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0.6440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7E8"/>
                      </a:solidFill>
                      <a:prstDash val="solid"/>
                    </a:lnR>
                    <a:lnB w="9525">
                      <a:solidFill>
                        <a:srgbClr val="DDE7E8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Tuned boosting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DE7E8"/>
                      </a:solidFill>
                      <a:prstDash val="solid"/>
                    </a:lnL>
                    <a:lnR w="9525">
                      <a:solidFill>
                        <a:srgbClr val="DDE7E8"/>
                      </a:solidFill>
                      <a:prstDash val="solid"/>
                    </a:lnR>
                    <a:lnB w="9525">
                      <a:solidFill>
                        <a:srgbClr val="DDE7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0.1696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7E8"/>
                      </a:solidFill>
                      <a:prstDash val="solid"/>
                    </a:lnR>
                    <a:lnB w="9525">
                      <a:solidFill>
                        <a:srgbClr val="DDE7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0.6454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7E8"/>
                      </a:solidFill>
                      <a:prstDash val="solid"/>
                    </a:lnR>
                    <a:lnB w="9525">
                      <a:solidFill>
                        <a:srgbClr val="DDE7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757344-46CC-4553-BEBD-C317FD966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rPr>
              <a:t>Original boosting leads AP. Tuned boosting trades a small AP decrease for a smaller train–validation gap.</a:t>
            </a:r>
          </a:p>
        </p:txBody>
      </p:sp>
    </p:spTree>
    <p:extLst>
      <p:ext uri="{BB962C8B-B14F-4D97-AF65-F5344CB8AC3E}">
        <p14:creationId xmlns:p14="http://schemas.microsoft.com/office/powerpoint/2010/main" val="28502167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22FFD4-F3A6-484F-AF29-8FFAEB9A4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300" b="1">
                <a:solidFill>
                  <a:srgbClr val="17384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8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73843"/>
                </a:solidFill>
                <a:latin typeface="Helvetica Neue"/>
                <a:ea typeface="Helvetica Neue"/>
                <a:cs typeface="Helvetica Neue"/>
              </a:rPr>
              <a:t>Significance supports an advantage over SVD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6EE7C8-3503-4682-8978-936C18C45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rPr>
              <a:t>Tuned boosting minus each comparator, average precision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5418CB-EE5E-4ECB-B5D3-C8C9C8BEF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91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6EC45E-6FCA-4C9C-84E9-20FEBEE99B0B}"/>
              </a:ext>
            </a:extLst>
          </p:cNvPr>
          <p:cNvGraphicFramePr/>
          <p:nvPr/>
        </p:nvGraphicFramePr>
        <p:xfrm>
          <a:off xmlns:a="http://schemas.openxmlformats.org/drawingml/2006/main" x="666750" y="1828800"/>
          <a:ext xmlns:a="http://schemas.openxmlformats.org/drawingml/2006/main" cx="10810875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00500"/>
                <a:gridCol w="1476375"/>
                <a:gridCol w="3714750"/>
                <a:gridCol w="1619250"/>
              </a:tblGrid>
              <a:tr h="4921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Comparator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DE7E8"/>
                      </a:solidFill>
                      <a:prstDash val="solid"/>
                    </a:lnL>
                    <a:lnR w="9525">
                      <a:solidFill>
                        <a:srgbClr val="DDE7E8"/>
                      </a:solidFill>
                      <a:prstDash val="solid"/>
                    </a:lnR>
                    <a:lnT w="9525">
                      <a:solidFill>
                        <a:srgbClr val="DDE7E8"/>
                      </a:solidFill>
                      <a:prstDash val="solid"/>
                    </a:lnT>
                    <a:lnB w="9525">
                      <a:solidFill>
                        <a:srgbClr val="DDE7E8"/>
                      </a:solidFill>
                      <a:prstDash val="solid"/>
                    </a:lnB>
                    <a:solidFill>
                      <a:srgbClr val="1738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AP gain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7E8"/>
                      </a:solidFill>
                      <a:prstDash val="solid"/>
                    </a:lnR>
                    <a:lnT w="9525">
                      <a:solidFill>
                        <a:srgbClr val="DDE7E8"/>
                      </a:solidFill>
                      <a:prstDash val="solid"/>
                    </a:lnT>
                    <a:lnB w="9525">
                      <a:solidFill>
                        <a:srgbClr val="DDE7E8"/>
                      </a:solidFill>
                      <a:prstDash val="solid"/>
                    </a:lnB>
                    <a:solidFill>
                      <a:srgbClr val="1738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95% interval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7E8"/>
                      </a:solidFill>
                      <a:prstDash val="solid"/>
                    </a:lnR>
                    <a:lnT w="9525">
                      <a:solidFill>
                        <a:srgbClr val="DDE7E8"/>
                      </a:solidFill>
                      <a:prstDash val="solid"/>
                    </a:lnT>
                    <a:lnB w="9525">
                      <a:solidFill>
                        <a:srgbClr val="DDE7E8"/>
                      </a:solidFill>
                      <a:prstDash val="solid"/>
                    </a:lnB>
                    <a:solidFill>
                      <a:srgbClr val="1738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Holm p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7E8"/>
                      </a:solidFill>
                      <a:prstDash val="solid"/>
                    </a:lnR>
                    <a:lnT w="9525">
                      <a:solidFill>
                        <a:srgbClr val="DDE7E8"/>
                      </a:solidFill>
                      <a:prstDash val="solid"/>
                    </a:lnT>
                    <a:lnB w="9525">
                      <a:solidFill>
                        <a:srgbClr val="DDE7E8"/>
                      </a:solidFill>
                      <a:prstDash val="solid"/>
                    </a:lnB>
                    <a:solidFill>
                      <a:srgbClr val="173843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Logistic full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DE7E8"/>
                      </a:solidFill>
                      <a:prstDash val="solid"/>
                    </a:lnL>
                    <a:lnR w="9525">
                      <a:solidFill>
                        <a:srgbClr val="DDE7E8"/>
                      </a:solidFill>
                      <a:prstDash val="solid"/>
                    </a:lnR>
                    <a:lnB w="9525">
                      <a:solidFill>
                        <a:srgbClr val="DDE7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0.0093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7E8"/>
                      </a:solidFill>
                      <a:prstDash val="solid"/>
                    </a:lnR>
                    <a:lnB w="9525">
                      <a:solidFill>
                        <a:srgbClr val="DDE7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-0.0003 to 0.0186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7E8"/>
                      </a:solidFill>
                      <a:prstDash val="solid"/>
                    </a:lnR>
                    <a:lnB w="9525">
                      <a:solidFill>
                        <a:srgbClr val="DDE7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0.853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7E8"/>
                      </a:solidFill>
                      <a:prstDash val="solid"/>
                    </a:lnR>
                    <a:lnB w="9525">
                      <a:solidFill>
                        <a:srgbClr val="DDE7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Logistic, selected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DE7E8"/>
                      </a:solidFill>
                      <a:prstDash val="solid"/>
                    </a:lnL>
                    <a:lnR w="9525">
                      <a:solidFill>
                        <a:srgbClr val="DDE7E8"/>
                      </a:solidFill>
                      <a:prstDash val="solid"/>
                    </a:lnR>
                    <a:lnB w="9525">
                      <a:solidFill>
                        <a:srgbClr val="DDE7E8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0.0126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7E8"/>
                      </a:solidFill>
                      <a:prstDash val="solid"/>
                    </a:lnR>
                    <a:lnB w="9525">
                      <a:solidFill>
                        <a:srgbClr val="DDE7E8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0.0024 to 0.0228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7E8"/>
                      </a:solidFill>
                      <a:prstDash val="solid"/>
                    </a:lnR>
                    <a:lnB w="9525">
                      <a:solidFill>
                        <a:srgbClr val="DDE7E8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0.328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7E8"/>
                      </a:solidFill>
                      <a:prstDash val="solid"/>
                    </a:lnR>
                    <a:lnB w="9525">
                      <a:solidFill>
                        <a:srgbClr val="DDE7E8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Logistic SVD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DE7E8"/>
                      </a:solidFill>
                      <a:prstDash val="solid"/>
                    </a:lnL>
                    <a:lnR w="9525">
                      <a:solidFill>
                        <a:srgbClr val="DDE7E8"/>
                      </a:solidFill>
                      <a:prstDash val="solid"/>
                    </a:lnR>
                    <a:lnB w="9525">
                      <a:solidFill>
                        <a:srgbClr val="DDE7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0.0259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7E8"/>
                      </a:solidFill>
                      <a:prstDash val="solid"/>
                    </a:lnR>
                    <a:lnB w="9525">
                      <a:solidFill>
                        <a:srgbClr val="DDE7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0.0127 to 0.0403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7E8"/>
                      </a:solidFill>
                      <a:prstDash val="solid"/>
                    </a:lnR>
                    <a:lnB w="9525">
                      <a:solidFill>
                        <a:srgbClr val="DDE7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7E8"/>
                      </a:solidFill>
                      <a:prstDash val="solid"/>
                    </a:lnR>
                    <a:lnB w="9525">
                      <a:solidFill>
                        <a:srgbClr val="DDE7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Random forest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DE7E8"/>
                      </a:solidFill>
                      <a:prstDash val="solid"/>
                    </a:lnL>
                    <a:lnR w="9525">
                      <a:solidFill>
                        <a:srgbClr val="DDE7E8"/>
                      </a:solidFill>
                      <a:prstDash val="solid"/>
                    </a:lnR>
                    <a:lnB w="9525">
                      <a:solidFill>
                        <a:srgbClr val="DDE7E8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0.0034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7E8"/>
                      </a:solidFill>
                      <a:prstDash val="solid"/>
                    </a:lnR>
                    <a:lnB w="9525">
                      <a:solidFill>
                        <a:srgbClr val="DDE7E8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-0.0041 to 0.0120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7E8"/>
                      </a:solidFill>
                      <a:prstDash val="solid"/>
                    </a:lnR>
                    <a:lnB w="9525">
                      <a:solidFill>
                        <a:srgbClr val="DDE7E8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1.000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7E8"/>
                      </a:solidFill>
                      <a:prstDash val="solid"/>
                    </a:lnR>
                    <a:lnB w="9525">
                      <a:solidFill>
                        <a:srgbClr val="DDE7E8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Original boosting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DE7E8"/>
                      </a:solidFill>
                      <a:prstDash val="solid"/>
                    </a:lnL>
                    <a:lnR w="9525">
                      <a:solidFill>
                        <a:srgbClr val="DDE7E8"/>
                      </a:solidFill>
                      <a:prstDash val="solid"/>
                    </a:lnR>
                    <a:lnB w="9525">
                      <a:solidFill>
                        <a:srgbClr val="DDE7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-0.0017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7E8"/>
                      </a:solidFill>
                      <a:prstDash val="solid"/>
                    </a:lnR>
                    <a:lnB w="9525">
                      <a:solidFill>
                        <a:srgbClr val="DDE7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-0.0081 to 0.0041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7E8"/>
                      </a:solidFill>
                      <a:prstDash val="solid"/>
                    </a:lnR>
                    <a:lnB w="9525">
                      <a:solidFill>
                        <a:srgbClr val="DDE7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1.000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7E8"/>
                      </a:solidFill>
                      <a:prstDash val="solid"/>
                    </a:lnR>
                    <a:lnB w="9525">
                      <a:solidFill>
                        <a:srgbClr val="DDE7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2B4A2F-6B58-460E-A959-ED17B90DF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95875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rPr>
              <a:t>Only the SVD comparison survives correction for tuned boosting on both AP and ROC-AUC.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DDCC93-968F-4132-B5E4-1D841AE18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650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rPr>
              <a:t>Individual intervals are unadjusted. Nonsignificance does not establish equivalence.</a:t>
            </a:r>
          </a:p>
        </p:txBody>
      </p:sp>
    </p:spTree>
    <p:extLst>
      <p:ext uri="{BB962C8B-B14F-4D97-AF65-F5344CB8AC3E}">
        <p14:creationId xmlns:p14="http://schemas.microsoft.com/office/powerpoint/2010/main" val="170571293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84E744-9549-4EC4-905B-D18705698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300" b="1">
                <a:solidFill>
                  <a:srgbClr val="17384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8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73843"/>
                </a:solidFill>
                <a:latin typeface="Helvetica Neue"/>
                <a:ea typeface="Helvetica Neue"/>
                <a:cs typeface="Helvetica Neue"/>
              </a:rPr>
              <a:t>Tuning reduces the gap, but overfitting remains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FD396A-5484-459E-B048-3D4E1233D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rPr>
              <a:t>The final configuration uses seven leaves and L2 regularization 1.0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DC18C3-08A8-454C-B83E-447CA9CD0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91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447C4ADF-5B6A-402A-A93D-49FEC23FD146}"/>
              </a:ext>
            </a:extLst>
          </p:cNvPr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66675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b69adfef26940f6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0AE66D-8160-4202-891B-FCF5C75AA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905000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00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rPr>
              <a:t>AP gap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ACDA21-B6EA-4813-8C92-83C5A1965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524125"/>
            <a:ext cx="3333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750" b="1">
                <a:solidFill>
                  <a:srgbClr val="147D8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750" b="1">
                <a:solidFill>
                  <a:srgbClr val="147D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147D83"/>
                </a:solidFill>
                <a:latin typeface="Helvetica Neue"/>
                <a:ea typeface="Helvetica Neue"/>
                <a:cs typeface="Helvetica Neue"/>
              </a:rPr>
              <a:t>0.1089</a:t>
            </a:r>
          </a:p>
          <a:p xmlns:a="http://schemas.openxmlformats.org/drawingml/2006/main">
            <a:pPr>
              <a:defRPr sz="3750" b="1">
                <a:solidFill>
                  <a:srgbClr val="147D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147D83"/>
                </a:solidFill>
                <a:latin typeface="Helvetica Neue"/>
                <a:ea typeface="Helvetica Neue"/>
                <a:cs typeface="Helvetica Neue"/>
              </a:rPr>
              <a:t>to 0.0679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6BC8B2-8D91-406B-ADDC-A6CF00E89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95750"/>
            <a:ext cx="3429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rPr>
              <a:t>Learning-curve CV AP</a:t>
            </a:r>
          </a:p>
          <a:p xmlns:a="http://schemas.openxmlformats.org/drawingml/2006/main">
            <a:pPr>
              <a:defRPr sz="1875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rPr>
              <a:t>0.1542 to 0.1792</a:t>
            </a:r>
          </a:p>
          <a:p xmlns:a="http://schemas.openxmlformats.org/drawingml/2006/main">
            <a:pPr>
              <a:defRPr sz="1875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rPr>
              <a:t>with more training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51D60A-76B5-4204-BB8A-D41144D63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rPr>
              <a:t>Learning curves reuse training folds. They diagnose behavior rather than provide independent confirmation.</a:t>
            </a:r>
          </a:p>
        </p:txBody>
      </p:sp>
    </p:spTree>
    <p:extLst>
      <p:ext uri="{BB962C8B-B14F-4D97-AF65-F5344CB8AC3E}">
        <p14:creationId xmlns:p14="http://schemas.microsoft.com/office/powerpoint/2010/main" val="129714955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8F0F0A-3A8A-4678-9AD1-F61A26CB2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300" b="1">
                <a:solidFill>
                  <a:srgbClr val="17384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8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73843"/>
                </a:solidFill>
                <a:latin typeface="Helvetica Neue"/>
                <a:ea typeface="Helvetica Neue"/>
                <a:cs typeface="Helvetica Neue"/>
              </a:rPr>
              <a:t>Final test performance and policy tradeoffs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2682D8-FD24-4E4C-88D4-DAA99C42F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rPr>
              <a:t>Test AP 0.1866 and ROC-AUC 0.6523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9A71BE-C68D-4661-A88E-D181A506A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91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5AFA80-CD5B-4241-A661-8A8D9E353184}"/>
              </a:ext>
            </a:extLst>
          </p:cNvPr>
          <p:cNvGraphicFramePr/>
          <p:nvPr/>
        </p:nvGraphicFramePr>
        <p:xfrm>
          <a:off xmlns:a="http://schemas.openxmlformats.org/drawingml/2006/main" x="666750" y="1905000"/>
          <a:ext xmlns:a="http://schemas.openxmlformats.org/drawingml/2006/main" cx="10810875" cy="1857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2857500"/>
                <a:gridCol w="2000250"/>
                <a:gridCol w="2238375"/>
              </a:tblGrid>
              <a:tr h="6191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Fixed policy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DE7E8"/>
                      </a:solidFill>
                      <a:prstDash val="solid"/>
                    </a:lnL>
                    <a:lnR w="9525">
                      <a:solidFill>
                        <a:srgbClr val="DDE7E8"/>
                      </a:solidFill>
                      <a:prstDash val="solid"/>
                    </a:lnR>
                    <a:lnT w="9525">
                      <a:solidFill>
                        <a:srgbClr val="DDE7E8"/>
                      </a:solidFill>
                      <a:prstDash val="solid"/>
                    </a:lnT>
                    <a:lnB w="9525">
                      <a:solidFill>
                        <a:srgbClr val="DDE7E8"/>
                      </a:solidFill>
                      <a:prstDash val="solid"/>
                    </a:lnB>
                    <a:solidFill>
                      <a:srgbClr val="1738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Patients flagged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7E8"/>
                      </a:solidFill>
                      <a:prstDash val="solid"/>
                    </a:lnR>
                    <a:lnT w="9525">
                      <a:solidFill>
                        <a:srgbClr val="DDE7E8"/>
                      </a:solidFill>
                      <a:prstDash val="solid"/>
                    </a:lnT>
                    <a:lnB w="9525">
                      <a:solidFill>
                        <a:srgbClr val="DDE7E8"/>
                      </a:solidFill>
                      <a:prstDash val="solid"/>
                    </a:lnB>
                    <a:solidFill>
                      <a:srgbClr val="1738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Recall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7E8"/>
                      </a:solidFill>
                      <a:prstDash val="solid"/>
                    </a:lnR>
                    <a:lnT w="9525">
                      <a:solidFill>
                        <a:srgbClr val="DDE7E8"/>
                      </a:solidFill>
                      <a:prstDash val="solid"/>
                    </a:lnT>
                    <a:lnB w="9525">
                      <a:solidFill>
                        <a:srgbClr val="DDE7E8"/>
                      </a:solidFill>
                      <a:prstDash val="solid"/>
                    </a:lnB>
                    <a:solidFill>
                      <a:srgbClr val="1738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Precision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7E8"/>
                      </a:solidFill>
                      <a:prstDash val="solid"/>
                    </a:lnR>
                    <a:lnT w="9525">
                      <a:solidFill>
                        <a:srgbClr val="DDE7E8"/>
                      </a:solidFill>
                      <a:prstDash val="solid"/>
                    </a:lnT>
                    <a:lnB w="9525">
                      <a:solidFill>
                        <a:srgbClr val="DDE7E8"/>
                      </a:solidFill>
                      <a:prstDash val="solid"/>
                    </a:lnB>
                    <a:solidFill>
                      <a:srgbClr val="173843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Threshold 0.10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DE7E8"/>
                      </a:solidFill>
                      <a:prstDash val="solid"/>
                    </a:lnL>
                    <a:lnR w="9525">
                      <a:solidFill>
                        <a:srgbClr val="DDE7E8"/>
                      </a:solidFill>
                      <a:prstDash val="solid"/>
                    </a:lnR>
                    <a:lnB w="9525">
                      <a:solidFill>
                        <a:srgbClr val="DDE7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2,932 (27.93%)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7E8"/>
                      </a:solidFill>
                      <a:prstDash val="solid"/>
                    </a:lnR>
                    <a:lnB w="9525">
                      <a:solidFill>
                        <a:srgbClr val="DDE7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47.77%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7E8"/>
                      </a:solidFill>
                      <a:prstDash val="solid"/>
                    </a:lnR>
                    <a:lnB w="9525">
                      <a:solidFill>
                        <a:srgbClr val="DDE7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15.35%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7E8"/>
                      </a:solidFill>
                      <a:prstDash val="solid"/>
                    </a:lnR>
                    <a:lnB w="9525">
                      <a:solidFill>
                        <a:srgbClr val="DDE7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Top 20% by rank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DE7E8"/>
                      </a:solidFill>
                      <a:prstDash val="solid"/>
                    </a:lnL>
                    <a:lnR w="9525">
                      <a:solidFill>
                        <a:srgbClr val="DDE7E8"/>
                      </a:solidFill>
                      <a:prstDash val="solid"/>
                    </a:lnR>
                    <a:lnB w="9525">
                      <a:solidFill>
                        <a:srgbClr val="DDE7E8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2,100 (20.01%)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7E8"/>
                      </a:solidFill>
                      <a:prstDash val="solid"/>
                    </a:lnR>
                    <a:lnB w="9525">
                      <a:solidFill>
                        <a:srgbClr val="DDE7E8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39.17%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7E8"/>
                      </a:solidFill>
                      <a:prstDash val="solid"/>
                    </a:lnR>
                    <a:lnB w="9525">
                      <a:solidFill>
                        <a:srgbClr val="DDE7E8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17.57%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7E8"/>
                      </a:solidFill>
                      <a:prstDash val="solid"/>
                    </a:lnR>
                    <a:lnB w="9525">
                      <a:solidFill>
                        <a:srgbClr val="DDE7E8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C5FA76-EDAB-42F3-AB2F-9BF51FC17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0"/>
            <a:ext cx="3905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4950" b="1">
                <a:solidFill>
                  <a:srgbClr val="147D8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4950" b="1">
                <a:solidFill>
                  <a:srgbClr val="147D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4950" b="1">
                <a:solidFill>
                  <a:srgbClr val="147D83"/>
                </a:solidFill>
                <a:latin typeface="Helvetica Neue"/>
                <a:ea typeface="Helvetica Neue"/>
                <a:cs typeface="Helvetica Neue"/>
              </a:rPr>
              <a:t>39.17%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90C5DE-E44B-4E04-85B6-77E529A34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314825"/>
            <a:ext cx="657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75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rPr>
              <a:t>Top-20% capture</a:t>
            </a:r>
          </a:p>
          <a:p xmlns:a="http://schemas.openxmlformats.org/drawingml/2006/main">
            <a:pPr>
              <a:defRPr sz="2175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rPr>
              <a:t>Approximate 95% interval 35.93%–41.60%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557382-82CE-4351-BD14-F07A616B1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rPr>
              <a:t>The 30% capture target is met. Missed readmissions and substantial false-positive workload remain.</a:t>
            </a:r>
          </a:p>
        </p:txBody>
      </p:sp>
    </p:spTree>
    <p:extLst>
      <p:ext uri="{BB962C8B-B14F-4D97-AF65-F5344CB8AC3E}">
        <p14:creationId xmlns:p14="http://schemas.microsoft.com/office/powerpoint/2010/main" val="127049056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48D848-D6E2-49ED-9832-01BAC61DD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300" b="1">
                <a:solidFill>
                  <a:srgbClr val="17384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8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73843"/>
                </a:solidFill>
                <a:latin typeface="Helvetica Neue"/>
                <a:ea typeface="Helvetica Neue"/>
                <a:cs typeface="Helvetica Neue"/>
              </a:rPr>
              <a:t>Calibration and predictive reliance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CCF33D-AB69-49C1-B9D5-F00F6C721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rPr>
              <a:t>Brier score 0.07918 versus 0.08169 for the prevalence baseline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334C98-AB49-4A8F-A52C-C04340CBB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91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AF6129B9-E728-47BF-B4DA-B01B6564DC63}"/>
              </a:ext>
            </a:extLst>
          </p:cNvPr>
          <p:cNvGraphicFramePr/>
          <p:nvPr/>
        </p:nvGraphicFramePr>
        <p:xfrm>
          <a:off xmlns:a="http://schemas.openxmlformats.org/drawingml/2006/main" x="619125" y="1952625"/>
          <a:ext xmlns:a="http://schemas.openxmlformats.org/drawingml/2006/main" cx="542925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ebcb4d5d28d4c6f"/>
          </a:graphicData>
        </a:graphic>
      </p:graphicFrame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95AE9722-7468-4018-89BD-ABE6A7E6D318}"/>
              </a:ext>
            </a:extLst>
          </p:cNvPr>
          <p:cNvGraphicFramePr/>
          <p:nvPr/>
        </p:nvGraphicFramePr>
        <p:xfrm>
          <a:off xmlns:a="http://schemas.openxmlformats.org/drawingml/2006/main" x="6286500" y="1952625"/>
          <a:ext xmlns:a="http://schemas.openxmlformats.org/drawingml/2006/main" cx="523875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8aaa247377c4560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D69F16-CF4B-4DBC-9BD9-F9DB4A7CA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191125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650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rPr>
              <a:t>Validation score decile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80C9F3-B12C-4B23-9144-B37BB3665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191125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650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rPr>
              <a:t>Permutation importance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1794DB-548B-45F5-8D1A-350B4BBA9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rPr>
              <a:t>Aggregate calibration does not establish accurate individual risks. Predictive reliance is associative.</a:t>
            </a:r>
          </a:p>
        </p:txBody>
      </p:sp>
    </p:spTree>
    <p:extLst>
      <p:ext uri="{BB962C8B-B14F-4D97-AF65-F5344CB8AC3E}">
        <p14:creationId xmlns:p14="http://schemas.microsoft.com/office/powerpoint/2010/main" val="177100566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BAA474-5AF3-41E8-8445-51C984E37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300" b="1">
                <a:solidFill>
                  <a:srgbClr val="17384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8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73843"/>
                </a:solidFill>
                <a:latin typeface="Helvetica Neue"/>
                <a:ea typeface="Helvetica Neue"/>
                <a:cs typeface="Helvetica Neue"/>
              </a:rPr>
              <a:t>Model responses vary across patient profiles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CD20C2-6C88-441B-B416-EB9399E24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rPr>
              <a:t>Validation PDP and ICE inspect the saved pipeline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404DCE-DFA0-41D2-8B4C-F3900D9CB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91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F2000F4F-ABB8-43C1-9C59-9E03C59A0180}"/>
              </a:ext>
            </a:extLst>
          </p:cNvPr>
          <p:cNvGraphicFramePr/>
          <p:nvPr/>
        </p:nvGraphicFramePr>
        <p:xfrm>
          <a:off xmlns:a="http://schemas.openxmlformats.org/drawingml/2006/main" x="619125" y="2000250"/>
          <a:ext xmlns:a="http://schemas.openxmlformats.org/drawingml/2006/main" cx="5381625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1d530a5d61d45b8"/>
          </a:graphicData>
        </a:graphic>
      </p:graphicFrame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E1AD738F-AE66-469F-81A8-6DEBD80AD982}"/>
              </a:ext>
            </a:extLst>
          </p:cNvPr>
          <p:cNvGraphicFramePr/>
          <p:nvPr/>
        </p:nvGraphicFramePr>
        <p:xfrm>
          <a:off xmlns:a="http://schemas.openxmlformats.org/drawingml/2006/main" x="6286500" y="2000250"/>
          <a:ext xmlns:a="http://schemas.openxmlformats.org/drawingml/2006/main" cx="523875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a3eb57c41274fde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B01536-A2B2-4000-80F6-0D68E12FB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2387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650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rPr>
              <a:t>Age midpoint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24EBD1-4DA0-4887-A899-0DA9283BC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286375"/>
            <a:ext cx="5000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650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rPr>
              <a:t>Previous inpatient visits with derived features updated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41F1FC-B8E6-4BAF-820E-8621A55B6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67425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rPr>
              <a:t>Scenario combinations can be unrealistic. Score sensitivity does not establish causal effects.</a:t>
            </a:r>
          </a:p>
        </p:txBody>
      </p:sp>
    </p:spTree>
    <p:extLst>
      <p:ext uri="{BB962C8B-B14F-4D97-AF65-F5344CB8AC3E}">
        <p14:creationId xmlns:p14="http://schemas.microsoft.com/office/powerpoint/2010/main" val="73505691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71C358-007B-4AA2-A935-48B61CEC0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300" b="1">
                <a:solidFill>
                  <a:srgbClr val="17384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8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73843"/>
                </a:solidFill>
                <a:latin typeface="Helvetica Neue"/>
                <a:ea typeface="Helvetica Neue"/>
                <a:cs typeface="Helvetica Neue"/>
              </a:rPr>
              <a:t>Fairness audit identifies uneven coverage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F6AEB9-C856-49AC-9D0D-F13AA9CA5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rPr>
              <a:t>Fixed top-20% test policy, with all-group evidence retained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32F30A-FA09-499D-A214-795CE0D64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91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12F18D-D4D4-4725-AE9C-71F7C7955659}"/>
              </a:ext>
            </a:extLst>
          </p:cNvPr>
          <p:cNvGraphicFramePr/>
          <p:nvPr/>
        </p:nvGraphicFramePr>
        <p:xfrm>
          <a:off xmlns:a="http://schemas.openxmlformats.org/drawingml/2006/main" x="666750" y="1857375"/>
          <a:ext xmlns:a="http://schemas.openxmlformats.org/drawingml/2006/main" cx="10810875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2952750"/>
                <a:gridCol w="2190750"/>
                <a:gridCol w="2238375"/>
              </a:tblGrid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Group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DE7E8"/>
                      </a:solidFill>
                      <a:prstDash val="solid"/>
                    </a:lnL>
                    <a:lnR w="9525">
                      <a:solidFill>
                        <a:srgbClr val="DDE7E8"/>
                      </a:solidFill>
                      <a:prstDash val="solid"/>
                    </a:lnR>
                    <a:lnT w="9525">
                      <a:solidFill>
                        <a:srgbClr val="DDE7E8"/>
                      </a:solidFill>
                      <a:prstDash val="solid"/>
                    </a:lnT>
                    <a:lnB w="9525">
                      <a:solidFill>
                        <a:srgbClr val="DDE7E8"/>
                      </a:solidFill>
                      <a:prstDash val="solid"/>
                    </a:lnB>
                    <a:solidFill>
                      <a:srgbClr val="1738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Patients / positives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7E8"/>
                      </a:solidFill>
                      <a:prstDash val="solid"/>
                    </a:lnR>
                    <a:lnT w="9525">
                      <a:solidFill>
                        <a:srgbClr val="DDE7E8"/>
                      </a:solidFill>
                      <a:prstDash val="solid"/>
                    </a:lnT>
                    <a:lnB w="9525">
                      <a:solidFill>
                        <a:srgbClr val="DDE7E8"/>
                      </a:solidFill>
                      <a:prstDash val="solid"/>
                    </a:lnB>
                    <a:solidFill>
                      <a:srgbClr val="1738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Recall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7E8"/>
                      </a:solidFill>
                      <a:prstDash val="solid"/>
                    </a:lnR>
                    <a:lnT w="9525">
                      <a:solidFill>
                        <a:srgbClr val="DDE7E8"/>
                      </a:solidFill>
                      <a:prstDash val="solid"/>
                    </a:lnT>
                    <a:lnB w="9525">
                      <a:solidFill>
                        <a:srgbClr val="DDE7E8"/>
                      </a:solidFill>
                      <a:prstDash val="solid"/>
                    </a:lnB>
                    <a:solidFill>
                      <a:srgbClr val="1738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Selection rate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7E8"/>
                      </a:solidFill>
                      <a:prstDash val="solid"/>
                    </a:lnR>
                    <a:lnT w="9525">
                      <a:solidFill>
                        <a:srgbClr val="DDE7E8"/>
                      </a:solidFill>
                      <a:prstDash val="solid"/>
                    </a:lnT>
                    <a:lnB w="9525">
                      <a:solidFill>
                        <a:srgbClr val="DDE7E8"/>
                      </a:solidFill>
                      <a:prstDash val="solid"/>
                    </a:lnB>
                    <a:solidFill>
                      <a:srgbClr val="173843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AfricanAmerican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DE7E8"/>
                      </a:solidFill>
                      <a:prstDash val="solid"/>
                    </a:lnL>
                    <a:lnR w="9525">
                      <a:solidFill>
                        <a:srgbClr val="DDE7E8"/>
                      </a:solidFill>
                      <a:prstDash val="solid"/>
                    </a:lnR>
                    <a:lnB w="9525">
                      <a:solidFill>
                        <a:srgbClr val="DDE7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1,945 / 166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7E8"/>
                      </a:solidFill>
                      <a:prstDash val="solid"/>
                    </a:lnR>
                    <a:lnB w="9525">
                      <a:solidFill>
                        <a:srgbClr val="DDE7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27.71%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7E8"/>
                      </a:solidFill>
                      <a:prstDash val="solid"/>
                    </a:lnR>
                    <a:lnB w="9525">
                      <a:solidFill>
                        <a:srgbClr val="DDE7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16.66%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7E8"/>
                      </a:solidFill>
                      <a:prstDash val="solid"/>
                    </a:lnR>
                    <a:lnB w="9525">
                      <a:solidFill>
                        <a:srgbClr val="DDE7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Caucasian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DE7E8"/>
                      </a:solidFill>
                      <a:prstDash val="solid"/>
                    </a:lnL>
                    <a:lnR w="9525">
                      <a:solidFill>
                        <a:srgbClr val="DDE7E8"/>
                      </a:solidFill>
                      <a:prstDash val="solid"/>
                    </a:lnR>
                    <a:lnB w="9525">
                      <a:solidFill>
                        <a:srgbClr val="DDE7E8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7,771 / 718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7E8"/>
                      </a:solidFill>
                      <a:prstDash val="solid"/>
                    </a:lnR>
                    <a:lnB w="9525">
                      <a:solidFill>
                        <a:srgbClr val="DDE7E8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41.92%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7E8"/>
                      </a:solidFill>
                      <a:prstDash val="solid"/>
                    </a:lnR>
                    <a:lnB w="9525">
                      <a:solidFill>
                        <a:srgbClr val="DDE7E8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21.45%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7E8"/>
                      </a:solidFill>
                      <a:prstDash val="solid"/>
                    </a:lnR>
                    <a:lnB w="9525">
                      <a:solidFill>
                        <a:srgbClr val="DDE7E8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Male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DE7E8"/>
                      </a:solidFill>
                      <a:prstDash val="solid"/>
                    </a:lnL>
                    <a:lnR w="9525">
                      <a:solidFill>
                        <a:srgbClr val="DDE7E8"/>
                      </a:solidFill>
                      <a:prstDash val="solid"/>
                    </a:lnR>
                    <a:lnB w="9525">
                      <a:solidFill>
                        <a:srgbClr val="DDE7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4,968 / 443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7E8"/>
                      </a:solidFill>
                      <a:prstDash val="solid"/>
                    </a:lnR>
                    <a:lnB w="9525">
                      <a:solidFill>
                        <a:srgbClr val="DDE7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35.89%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7E8"/>
                      </a:solidFill>
                      <a:prstDash val="solid"/>
                    </a:lnR>
                    <a:lnB w="9525">
                      <a:solidFill>
                        <a:srgbClr val="DDE7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18.82%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7E8"/>
                      </a:solidFill>
                      <a:prstDash val="solid"/>
                    </a:lnR>
                    <a:lnB w="9525">
                      <a:solidFill>
                        <a:srgbClr val="DDE7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Female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DE7E8"/>
                      </a:solidFill>
                      <a:prstDash val="solid"/>
                    </a:lnL>
                    <a:lnR w="9525">
                      <a:solidFill>
                        <a:srgbClr val="DDE7E8"/>
                      </a:solidFill>
                      <a:prstDash val="solid"/>
                    </a:lnR>
                    <a:lnB w="9525">
                      <a:solidFill>
                        <a:srgbClr val="DDE7E8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5,528 / 499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7E8"/>
                      </a:solidFill>
                      <a:prstDash val="solid"/>
                    </a:lnR>
                    <a:lnB w="9525">
                      <a:solidFill>
                        <a:srgbClr val="DDE7E8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42.08%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7E8"/>
                      </a:solidFill>
                      <a:prstDash val="solid"/>
                    </a:lnR>
                    <a:lnB w="9525">
                      <a:solidFill>
                        <a:srgbClr val="DDE7E8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21.07%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7E8"/>
                      </a:solidFill>
                      <a:prstDash val="solid"/>
                    </a:lnR>
                    <a:lnB w="9525">
                      <a:solidFill>
                        <a:srgbClr val="DDE7E8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771FEE-8AE3-4C62-8DEB-6B945F66D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14875"/>
            <a:ext cx="10810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950" b="1">
                <a:solidFill>
                  <a:srgbClr val="AC433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AC43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AC4339"/>
                </a:solidFill>
                <a:latin typeface="Helvetica Neue"/>
                <a:ea typeface="Helvetica Neue"/>
                <a:cs typeface="Helvetica Neue"/>
              </a:rPr>
              <a:t>Race recall gap: −14.21 points (95% interval −21.90 to −6.06)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9A68AC-3649-4780-9EE8-A9584AFB7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48275"/>
            <a:ext cx="10810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950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rPr>
              <a:t>Gender recall gap: −6.19 points (−12.37 to +0.24)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4B666A-0548-48DB-A022-87AF1BF55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57875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rPr>
              <a:t>Supported race groups: parity gap 4.79 points, equalized odds gap 14.21 points. These metrics do not certify fairness.</a:t>
            </a:r>
          </a:p>
        </p:txBody>
      </p:sp>
    </p:spTree>
    <p:extLst>
      <p:ext uri="{BB962C8B-B14F-4D97-AF65-F5344CB8AC3E}">
        <p14:creationId xmlns:p14="http://schemas.microsoft.com/office/powerpoint/2010/main" val="212299045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A43A4F-B580-42EA-A595-06D773442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300" b="1">
                <a:solidFill>
                  <a:srgbClr val="17384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8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73843"/>
                </a:solidFill>
                <a:latin typeface="Helvetica Neue"/>
                <a:ea typeface="Helvetica Neue"/>
                <a:cs typeface="Helvetica Neue"/>
              </a:rPr>
              <a:t>Conclusion and research priorities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9558FA-0433-4417-881C-E42BEFDA2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rPr>
              <a:t>Useful retrospective prioritization with unresolved transfer and equity risks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8052EE-3F93-44CF-924F-A0F187C71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91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3E628B-BB7E-4CDF-BE6E-085EAA1D0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10810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rPr>
              <a:t>Evidence: 39.17% capture at about 20% workload, with 1.96× lift.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7A3D45-D7C4-4C72-97A2-E9A5CB7C9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76525"/>
            <a:ext cx="10810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rPr>
              <a:t>Model choice: smaller AP gap, without proven superiority over leading alternatives.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A72569-CCCD-4B40-96E6-1EAE98F64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95675"/>
            <a:ext cx="10810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rPr>
              <a:t>Limits: historical data, incomplete labels, residual overfitting and subgroup gaps.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949358-D96E-4E5C-A2A4-92B0837BF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14825"/>
            <a:ext cx="10810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rPr>
              <a:t>Next: recent independent cohort and training/validation mitigation experiments.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DD78F6-C1C3-4B91-9177-8ED045531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76875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rPr>
              <a:t>Reproducibility: saved pipeline/config, Python 3.13.12, scikit-learn 1.8.0 and ordered execution records.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9AC85B-8199-4C2F-9BE1-60A3D0566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48375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rPr>
              <a:t>Sources and detailed assumptions appear in speaker notes throughout the deck.</a:t>
            </a:r>
          </a:p>
        </p:txBody>
      </p:sp>
    </p:spTree>
    <p:extLst>
      <p:ext uri="{BB962C8B-B14F-4D97-AF65-F5344CB8AC3E}">
        <p14:creationId xmlns:p14="http://schemas.microsoft.com/office/powerpoint/2010/main" val="15516193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2026-10-13T12:20:46.2040000Z</dcterms:created>
  <dcterms:modified xsi:type="dcterms:W3CDTF">2026-10-13T12:20:46.2040000Z</dcterms:modified>
</coreProperties>
</file>